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9" r:id="rId3"/>
    <p:sldId id="257" r:id="rId4"/>
    <p:sldId id="261" r:id="rId5"/>
    <p:sldId id="262" r:id="rId6"/>
    <p:sldId id="263" r:id="rId7"/>
    <p:sldId id="264" r:id="rId8"/>
    <p:sldId id="265" r:id="rId9"/>
    <p:sldId id="266" r:id="rId10"/>
    <p:sldId id="269" r:id="rId11"/>
    <p:sldId id="270" r:id="rId12"/>
    <p:sldId id="271" r:id="rId13"/>
    <p:sldId id="272" r:id="rId14"/>
    <p:sldId id="273" r:id="rId15"/>
    <p:sldId id="267" r:id="rId16"/>
    <p:sldId id="268"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15" autoAdjust="0"/>
    <p:restoredTop sz="86364" autoAdjust="0"/>
  </p:normalViewPr>
  <p:slideViewPr>
    <p:cSldViewPr>
      <p:cViewPr>
        <p:scale>
          <a:sx n="107" d="100"/>
          <a:sy n="107" d="100"/>
        </p:scale>
        <p:origin x="-72" y="222"/>
      </p:cViewPr>
      <p:guideLst>
        <p:guide orient="horz" pos="2160"/>
        <p:guide pos="2880"/>
      </p:guideLst>
    </p:cSldViewPr>
  </p:slideViewPr>
  <p:outlineViewPr>
    <p:cViewPr>
      <p:scale>
        <a:sx n="33" d="100"/>
        <a:sy n="33" d="100"/>
      </p:scale>
      <p:origin x="0" y="16362"/>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422F5A0-72F2-4F06-AAB8-145D918F9FEB}" type="datetimeFigureOut">
              <a:rPr lang="en-US" smtClean="0"/>
              <a:pPr/>
              <a:t>4/27/2020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A8391D3-4502-46FB-A811-F3DC80D774C7}" type="slidenum">
              <a:rPr lang="en-US" smtClean="0"/>
              <a:pPr/>
              <a:t>‹#›</a:t>
            </a:fld>
            <a:endParaRPr lang="en-US"/>
          </a:p>
        </p:txBody>
      </p:sp>
    </p:spTree>
    <p:extLst>
      <p:ext uri="{BB962C8B-B14F-4D97-AF65-F5344CB8AC3E}">
        <p14:creationId xmlns:p14="http://schemas.microsoft.com/office/powerpoint/2010/main" val="68907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A8391D3-4502-46FB-A811-F3DC80D774C7}" type="slidenum">
              <a:rPr lang="en-US" smtClean="0"/>
              <a:pPr/>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A8391D3-4502-46FB-A811-F3DC80D774C7}" type="slidenum">
              <a:rPr lang="en-US" smtClean="0"/>
              <a:pPr/>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A8391D3-4502-46FB-A811-F3DC80D774C7}" type="slidenum">
              <a:rPr lang="en-US" smtClean="0"/>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A8391D3-4502-46FB-A811-F3DC80D774C7}" type="slidenum">
              <a:rPr lang="en-US" smtClean="0"/>
              <a:pPr/>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4CF2FDA-1BA0-489A-B466-34EB569D3B2B}" type="datetimeFigureOut">
              <a:rPr lang="en-US" smtClean="0"/>
              <a:pPr/>
              <a:t>4/27/2020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26AC7F-C211-4FEC-96A4-CE20BDA8129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4CF2FDA-1BA0-489A-B466-34EB569D3B2B}" type="datetimeFigureOut">
              <a:rPr lang="en-US" smtClean="0"/>
              <a:pPr/>
              <a:t>4/27/2020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26AC7F-C211-4FEC-96A4-CE20BDA8129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4CF2FDA-1BA0-489A-B466-34EB569D3B2B}" type="datetimeFigureOut">
              <a:rPr lang="en-US" smtClean="0"/>
              <a:pPr/>
              <a:t>4/27/2020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26AC7F-C211-4FEC-96A4-CE20BDA8129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4CF2FDA-1BA0-489A-B466-34EB569D3B2B}" type="datetimeFigureOut">
              <a:rPr lang="en-US" smtClean="0"/>
              <a:pPr/>
              <a:t>4/27/2020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26AC7F-C211-4FEC-96A4-CE20BDA8129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4CF2FDA-1BA0-489A-B466-34EB569D3B2B}" type="datetimeFigureOut">
              <a:rPr lang="en-US" smtClean="0"/>
              <a:pPr/>
              <a:t>4/27/2020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D26AC7F-C211-4FEC-96A4-CE20BDA8129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4CF2FDA-1BA0-489A-B466-34EB569D3B2B}" type="datetimeFigureOut">
              <a:rPr lang="en-US" smtClean="0"/>
              <a:pPr/>
              <a:t>4/27/2020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D26AC7F-C211-4FEC-96A4-CE20BDA8129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CF2FDA-1BA0-489A-B466-34EB569D3B2B}" type="datetimeFigureOut">
              <a:rPr lang="en-US" smtClean="0"/>
              <a:pPr/>
              <a:t>4/27/2020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D26AC7F-C211-4FEC-96A4-CE20BDA8129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4CF2FDA-1BA0-489A-B466-34EB569D3B2B}" type="datetimeFigureOut">
              <a:rPr lang="en-US" smtClean="0"/>
              <a:pPr/>
              <a:t>4/27/2020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26AC7F-C211-4FEC-96A4-CE20BDA8129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4CF2FDA-1BA0-489A-B466-34EB569D3B2B}" type="datetimeFigureOut">
              <a:rPr lang="en-US" smtClean="0"/>
              <a:pPr/>
              <a:t>4/27/2020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26AC7F-C211-4FEC-96A4-CE20BDA8129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4CF2FDA-1BA0-489A-B466-34EB569D3B2B}" type="datetimeFigureOut">
              <a:rPr lang="en-US" smtClean="0"/>
              <a:pPr/>
              <a:t>4/27/2020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26AC7F-C211-4FEC-96A4-CE20BDA8129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4CF2FDA-1BA0-489A-B466-34EB569D3B2B}" type="datetimeFigureOut">
              <a:rPr lang="en-US" smtClean="0"/>
              <a:pPr/>
              <a:t>4/27/2020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26AC7F-C211-4FEC-96A4-CE20BDA8129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CF2FDA-1BA0-489A-B466-34EB569D3B2B}" type="datetimeFigureOut">
              <a:rPr lang="en-US" smtClean="0"/>
              <a:pPr/>
              <a:t>4/27/2020</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26AC7F-C211-4FEC-96A4-CE20BDA8129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err="1" smtClean="0"/>
              <a:t>Multimetre</a:t>
            </a:r>
            <a:r>
              <a:rPr lang="en-US" dirty="0" smtClean="0"/>
              <a:t> </a:t>
            </a:r>
            <a:r>
              <a:rPr lang="en-US" dirty="0" err="1" smtClean="0"/>
              <a:t>analogice</a:t>
            </a:r>
            <a:r>
              <a:rPr lang="en-US" dirty="0" smtClean="0"/>
              <a:t> </a:t>
            </a:r>
            <a:r>
              <a:rPr lang="ro-RO" dirty="0" err="1"/>
              <a:t>ș</a:t>
            </a:r>
            <a:r>
              <a:rPr lang="en-US" dirty="0" smtClean="0"/>
              <a:t>i </a:t>
            </a:r>
            <a:r>
              <a:rPr lang="en-US" dirty="0" err="1" smtClean="0"/>
              <a:t>numerice</a:t>
            </a:r>
            <a:endParaRPr lang="en-US" dirty="0"/>
          </a:p>
        </p:txBody>
      </p:sp>
      <p:sp>
        <p:nvSpPr>
          <p:cNvPr id="3" name="Subtitle 2"/>
          <p:cNvSpPr>
            <a:spLocks noGrp="1"/>
          </p:cNvSpPr>
          <p:nvPr>
            <p:ph type="subTitle" idx="1"/>
          </p:nvPr>
        </p:nvSpPr>
        <p:spPr/>
        <p:txBody>
          <a:bodyPr/>
          <a:lstStyle/>
          <a:p>
            <a:r>
              <a:rPr lang="en-US" b="1" dirty="0" err="1" smtClean="0"/>
              <a:t>Modulul</a:t>
            </a:r>
            <a:r>
              <a:rPr lang="en-US" b="1" dirty="0" smtClean="0"/>
              <a:t> </a:t>
            </a:r>
            <a:r>
              <a:rPr lang="en-US" b="1" dirty="0" smtClean="0"/>
              <a:t>„</a:t>
            </a:r>
            <a:r>
              <a:rPr lang="en-US" b="1" dirty="0" err="1" smtClean="0"/>
              <a:t>Masurari</a:t>
            </a:r>
            <a:r>
              <a:rPr lang="en-US" b="1" dirty="0" smtClean="0"/>
              <a:t> </a:t>
            </a:r>
            <a:r>
              <a:rPr lang="en-US" b="1" dirty="0" err="1" smtClean="0"/>
              <a:t>electrice</a:t>
            </a:r>
            <a:r>
              <a:rPr lang="en-US" b="1" dirty="0" smtClean="0"/>
              <a:t>”</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9600" y="685800"/>
            <a:ext cx="7848600" cy="5247590"/>
          </a:xfrm>
          <a:prstGeom prst="rect">
            <a:avLst/>
          </a:prstGeom>
          <a:noFill/>
        </p:spPr>
        <p:txBody>
          <a:bodyPr wrap="square" rtlCol="0">
            <a:spAutoFit/>
          </a:bodyPr>
          <a:lstStyle/>
          <a:p>
            <a:pPr algn="ctr"/>
            <a:r>
              <a:rPr lang="ro-RO" sz="2000" b="1" dirty="0" smtClean="0"/>
              <a:t>Avantajele</a:t>
            </a:r>
            <a:r>
              <a:rPr lang="ro-RO" sz="2000" dirty="0" smtClean="0"/>
              <a:t> oferite de multimetre</a:t>
            </a:r>
            <a:endParaRPr lang="en-US" sz="2000" dirty="0" smtClean="0"/>
          </a:p>
          <a:p>
            <a:pPr lvl="1">
              <a:lnSpc>
                <a:spcPct val="150000"/>
              </a:lnSpc>
              <a:buFont typeface="Arial" pitchFamily="34" charset="0"/>
              <a:buChar char="•"/>
            </a:pPr>
            <a:r>
              <a:rPr lang="en-US" b="1" dirty="0" smtClean="0">
                <a:solidFill>
                  <a:srgbClr val="FF0000"/>
                </a:solidFill>
              </a:rPr>
              <a:t>Economic</a:t>
            </a:r>
            <a:r>
              <a:rPr lang="ro-RO" b="1" dirty="0" smtClean="0">
                <a:solidFill>
                  <a:srgbClr val="FF0000"/>
                </a:solidFill>
              </a:rPr>
              <a:t> - </a:t>
            </a:r>
            <a:r>
              <a:rPr lang="en-US" dirty="0" err="1" smtClean="0">
                <a:solidFill>
                  <a:srgbClr val="FF0000"/>
                </a:solidFill>
              </a:rPr>
              <a:t>instrumentul</a:t>
            </a:r>
            <a:r>
              <a:rPr lang="en-US" dirty="0" smtClean="0">
                <a:solidFill>
                  <a:srgbClr val="FF0000"/>
                </a:solidFill>
              </a:rPr>
              <a:t> indicator </a:t>
            </a:r>
            <a:r>
              <a:rPr lang="en-US" dirty="0" err="1" smtClean="0">
                <a:solidFill>
                  <a:srgbClr val="FF0000"/>
                </a:solidFill>
              </a:rPr>
              <a:t>este</a:t>
            </a:r>
            <a:r>
              <a:rPr lang="en-US" dirty="0" smtClean="0">
                <a:solidFill>
                  <a:srgbClr val="FF0000"/>
                </a:solidFill>
              </a:rPr>
              <a:t>  </a:t>
            </a:r>
            <a:r>
              <a:rPr lang="en-US" dirty="0" err="1" smtClean="0">
                <a:solidFill>
                  <a:srgbClr val="FF0000"/>
                </a:solidFill>
              </a:rPr>
              <a:t>scump</a:t>
            </a:r>
            <a:r>
              <a:rPr lang="en-US" dirty="0" smtClean="0">
                <a:solidFill>
                  <a:srgbClr val="FF0000"/>
                </a:solidFill>
              </a:rPr>
              <a:t>, </a:t>
            </a:r>
            <a:r>
              <a:rPr lang="en-US" dirty="0" err="1" smtClean="0">
                <a:solidFill>
                  <a:srgbClr val="FF0000"/>
                </a:solidFill>
              </a:rPr>
              <a:t>astfel</a:t>
            </a:r>
            <a:r>
              <a:rPr lang="en-US" dirty="0" smtClean="0">
                <a:solidFill>
                  <a:srgbClr val="FF0000"/>
                </a:solidFill>
              </a:rPr>
              <a:t> </a:t>
            </a:r>
            <a:r>
              <a:rPr lang="en-US" dirty="0" err="1" smtClean="0">
                <a:solidFill>
                  <a:srgbClr val="FF0000"/>
                </a:solidFill>
              </a:rPr>
              <a:t>toate</a:t>
            </a:r>
            <a:r>
              <a:rPr lang="en-US" dirty="0" smtClean="0">
                <a:solidFill>
                  <a:srgbClr val="FF0000"/>
                </a:solidFill>
              </a:rPr>
              <a:t> </a:t>
            </a:r>
            <a:r>
              <a:rPr lang="en-US" dirty="0" err="1" smtClean="0">
                <a:solidFill>
                  <a:srgbClr val="FF0000"/>
                </a:solidFill>
              </a:rPr>
              <a:t>tipurile</a:t>
            </a:r>
            <a:r>
              <a:rPr lang="en-US" dirty="0" smtClean="0">
                <a:solidFill>
                  <a:srgbClr val="FF0000"/>
                </a:solidFill>
              </a:rPr>
              <a:t> de </a:t>
            </a:r>
            <a:r>
              <a:rPr lang="en-US" dirty="0" err="1" smtClean="0">
                <a:solidFill>
                  <a:srgbClr val="FF0000"/>
                </a:solidFill>
              </a:rPr>
              <a:t>măsurare</a:t>
            </a:r>
            <a:r>
              <a:rPr lang="en-US" dirty="0" smtClean="0">
                <a:solidFill>
                  <a:srgbClr val="FF0000"/>
                </a:solidFill>
              </a:rPr>
              <a:t> </a:t>
            </a:r>
            <a:r>
              <a:rPr lang="en-US" dirty="0" err="1" smtClean="0">
                <a:solidFill>
                  <a:srgbClr val="FF0000"/>
                </a:solidFill>
              </a:rPr>
              <a:t>folosesc</a:t>
            </a:r>
            <a:r>
              <a:rPr lang="en-US" dirty="0" smtClean="0">
                <a:solidFill>
                  <a:srgbClr val="FF0000"/>
                </a:solidFill>
              </a:rPr>
              <a:t> UN SINGUR  instrument, cu un </a:t>
            </a:r>
            <a:r>
              <a:rPr lang="en-US" dirty="0" err="1" smtClean="0">
                <a:solidFill>
                  <a:srgbClr val="FF0000"/>
                </a:solidFill>
              </a:rPr>
              <a:t>singur</a:t>
            </a:r>
            <a:r>
              <a:rPr lang="en-US" dirty="0" smtClean="0">
                <a:solidFill>
                  <a:srgbClr val="FF0000"/>
                </a:solidFill>
              </a:rPr>
              <a:t> element indicator</a:t>
            </a:r>
            <a:endParaRPr lang="en-US" b="1" dirty="0" smtClean="0">
              <a:solidFill>
                <a:srgbClr val="FF0000"/>
              </a:solidFill>
            </a:endParaRPr>
          </a:p>
          <a:p>
            <a:pPr lvl="1">
              <a:lnSpc>
                <a:spcPct val="150000"/>
              </a:lnSpc>
              <a:buFont typeface="Arial" pitchFamily="34" charset="0"/>
              <a:buChar char="•"/>
            </a:pPr>
            <a:r>
              <a:rPr lang="en-US" dirty="0" smtClean="0"/>
              <a:t>Grad </a:t>
            </a:r>
            <a:r>
              <a:rPr lang="en-US" dirty="0"/>
              <a:t>mare de </a:t>
            </a:r>
            <a:r>
              <a:rPr lang="en-US" b="1" dirty="0" err="1"/>
              <a:t>precizie</a:t>
            </a:r>
            <a:r>
              <a:rPr lang="en-US" dirty="0"/>
              <a:t> </a:t>
            </a:r>
            <a:r>
              <a:rPr lang="en-US" dirty="0" smtClean="0"/>
              <a:t>–</a:t>
            </a:r>
            <a:r>
              <a:rPr lang="en-US" dirty="0" err="1" smtClean="0"/>
              <a:t>asigură</a:t>
            </a:r>
            <a:r>
              <a:rPr lang="en-US" dirty="0" smtClean="0"/>
              <a:t>  </a:t>
            </a:r>
            <a:r>
              <a:rPr lang="en-US" dirty="0" err="1"/>
              <a:t>indicaţii</a:t>
            </a:r>
            <a:r>
              <a:rPr lang="en-US" dirty="0"/>
              <a:t> </a:t>
            </a:r>
            <a:r>
              <a:rPr lang="en-US" dirty="0" err="1"/>
              <a:t>cât</a:t>
            </a:r>
            <a:r>
              <a:rPr lang="en-US" dirty="0"/>
              <a:t> </a:t>
            </a:r>
            <a:r>
              <a:rPr lang="en-US" dirty="0" err="1"/>
              <a:t>mai</a:t>
            </a:r>
            <a:r>
              <a:rPr lang="en-US" dirty="0"/>
              <a:t> </a:t>
            </a:r>
            <a:r>
              <a:rPr lang="en-US" dirty="0" err="1"/>
              <a:t>apropiate</a:t>
            </a:r>
            <a:r>
              <a:rPr lang="en-US" dirty="0"/>
              <a:t> de </a:t>
            </a:r>
            <a:r>
              <a:rPr lang="en-US" dirty="0" err="1"/>
              <a:t>valoarea</a:t>
            </a:r>
            <a:r>
              <a:rPr lang="en-US" dirty="0"/>
              <a:t> </a:t>
            </a:r>
            <a:r>
              <a:rPr lang="en-US" dirty="0" err="1"/>
              <a:t>adevărată</a:t>
            </a:r>
            <a:r>
              <a:rPr lang="en-US" dirty="0"/>
              <a:t> </a:t>
            </a:r>
          </a:p>
          <a:p>
            <a:pPr lvl="1">
              <a:lnSpc>
                <a:spcPct val="150000"/>
              </a:lnSpc>
              <a:buFont typeface="Arial" pitchFamily="34" charset="0"/>
              <a:buChar char="•"/>
            </a:pPr>
            <a:r>
              <a:rPr lang="en-US" dirty="0">
                <a:solidFill>
                  <a:srgbClr val="FF0000"/>
                </a:solidFill>
              </a:rPr>
              <a:t>PRECIZIE = JUSTEŢE + FIDELITATE (ERORI SISTEMATICE MICI + ERORI ÎNTĂMPLĂTOARE </a:t>
            </a:r>
            <a:r>
              <a:rPr lang="en-US" dirty="0" smtClean="0">
                <a:solidFill>
                  <a:srgbClr val="FF0000"/>
                </a:solidFill>
              </a:rPr>
              <a:t>MICI)</a:t>
            </a:r>
            <a:endParaRPr lang="en-US" dirty="0">
              <a:solidFill>
                <a:srgbClr val="FF0000"/>
              </a:solidFill>
            </a:endParaRPr>
          </a:p>
          <a:p>
            <a:pPr lvl="1">
              <a:lnSpc>
                <a:spcPct val="150000"/>
              </a:lnSpc>
              <a:buFont typeface="Arial" pitchFamily="34" charset="0"/>
              <a:buChar char="•"/>
            </a:pPr>
            <a:r>
              <a:rPr lang="en-US" b="1" dirty="0" err="1"/>
              <a:t>Fiabilitate</a:t>
            </a:r>
            <a:r>
              <a:rPr lang="en-US" dirty="0"/>
              <a:t> </a:t>
            </a:r>
            <a:r>
              <a:rPr lang="en-US" dirty="0" smtClean="0"/>
              <a:t>–</a:t>
            </a:r>
            <a:r>
              <a:rPr lang="en-US" dirty="0" err="1" smtClean="0"/>
              <a:t>capacitatea</a:t>
            </a:r>
            <a:r>
              <a:rPr lang="en-US" dirty="0" smtClean="0"/>
              <a:t> </a:t>
            </a:r>
            <a:r>
              <a:rPr lang="en-US" dirty="0" err="1" smtClean="0"/>
              <a:t>unui</a:t>
            </a:r>
            <a:r>
              <a:rPr lang="en-US" dirty="0" smtClean="0"/>
              <a:t> </a:t>
            </a:r>
            <a:r>
              <a:rPr lang="en-US" dirty="0" err="1" smtClean="0"/>
              <a:t>sistem</a:t>
            </a:r>
            <a:r>
              <a:rPr lang="en-US" dirty="0" smtClean="0"/>
              <a:t> </a:t>
            </a:r>
            <a:r>
              <a:rPr lang="en-US" dirty="0" err="1" smtClean="0"/>
              <a:t>tehnic</a:t>
            </a:r>
            <a:r>
              <a:rPr lang="en-US" dirty="0" smtClean="0"/>
              <a:t> de </a:t>
            </a:r>
            <a:r>
              <a:rPr lang="en-US" dirty="0"/>
              <a:t>a </a:t>
            </a:r>
            <a:r>
              <a:rPr lang="en-US" dirty="0" err="1"/>
              <a:t>funcționa</a:t>
            </a:r>
            <a:r>
              <a:rPr lang="en-US" dirty="0"/>
              <a:t> </a:t>
            </a:r>
            <a:r>
              <a:rPr lang="en-US" dirty="0" err="1"/>
              <a:t>fără</a:t>
            </a:r>
            <a:r>
              <a:rPr lang="en-US" dirty="0"/>
              <a:t> </a:t>
            </a:r>
            <a:r>
              <a:rPr lang="en-US" dirty="0" err="1"/>
              <a:t>defecțiuni</a:t>
            </a:r>
            <a:r>
              <a:rPr lang="en-US" dirty="0"/>
              <a:t> </a:t>
            </a:r>
            <a:r>
              <a:rPr lang="en-US" dirty="0" err="1"/>
              <a:t>într</a:t>
            </a:r>
            <a:r>
              <a:rPr lang="en-US" dirty="0"/>
              <a:t>-un interval de </a:t>
            </a:r>
            <a:r>
              <a:rPr lang="en-US" dirty="0" err="1" smtClean="0"/>
              <a:t>timp</a:t>
            </a:r>
            <a:r>
              <a:rPr lang="ro-RO" dirty="0" smtClean="0"/>
              <a:t>,</a:t>
            </a:r>
            <a:r>
              <a:rPr lang="en-US" dirty="0" smtClean="0"/>
              <a:t> 	</a:t>
            </a:r>
            <a:r>
              <a:rPr lang="en-US" dirty="0" err="1" smtClean="0"/>
              <a:t>în</a:t>
            </a:r>
            <a:r>
              <a:rPr lang="en-US" dirty="0" smtClean="0"/>
              <a:t> </a:t>
            </a:r>
            <a:r>
              <a:rPr lang="en-US" dirty="0" err="1"/>
              <a:t>anumite</a:t>
            </a:r>
            <a:r>
              <a:rPr lang="en-US" dirty="0"/>
              <a:t> </a:t>
            </a:r>
            <a:r>
              <a:rPr lang="en-US" dirty="0" err="1"/>
              <a:t>condiții</a:t>
            </a:r>
            <a:r>
              <a:rPr lang="en-US" dirty="0"/>
              <a:t> date.</a:t>
            </a:r>
          </a:p>
          <a:p>
            <a:pPr lvl="1">
              <a:lnSpc>
                <a:spcPct val="150000"/>
              </a:lnSpc>
              <a:buFont typeface="Arial" pitchFamily="34" charset="0"/>
              <a:buChar char="•"/>
            </a:pPr>
            <a:r>
              <a:rPr lang="en-US" b="1" dirty="0" err="1" smtClean="0">
                <a:solidFill>
                  <a:srgbClr val="FF0000"/>
                </a:solidFill>
              </a:rPr>
              <a:t>Comoditate</a:t>
            </a:r>
            <a:r>
              <a:rPr lang="en-US" dirty="0" smtClean="0">
                <a:solidFill>
                  <a:srgbClr val="FF0000"/>
                </a:solidFill>
              </a:rPr>
              <a:t> – </a:t>
            </a:r>
            <a:r>
              <a:rPr lang="en-US" dirty="0" err="1" smtClean="0">
                <a:solidFill>
                  <a:srgbClr val="FF0000"/>
                </a:solidFill>
              </a:rPr>
              <a:t>mărimile</a:t>
            </a:r>
            <a:r>
              <a:rPr lang="en-US" dirty="0" smtClean="0">
                <a:solidFill>
                  <a:srgbClr val="FF0000"/>
                </a:solidFill>
              </a:rPr>
              <a:t> </a:t>
            </a:r>
            <a:r>
              <a:rPr lang="en-US" dirty="0" err="1" smtClean="0">
                <a:solidFill>
                  <a:srgbClr val="FF0000"/>
                </a:solidFill>
              </a:rPr>
              <a:t>electrice</a:t>
            </a:r>
            <a:r>
              <a:rPr lang="en-US" dirty="0" smtClean="0">
                <a:solidFill>
                  <a:srgbClr val="FF0000"/>
                </a:solidFill>
              </a:rPr>
              <a:t> </a:t>
            </a:r>
            <a:r>
              <a:rPr lang="en-US" dirty="0" err="1" smtClean="0">
                <a:solidFill>
                  <a:srgbClr val="FF0000"/>
                </a:solidFill>
              </a:rPr>
              <a:t>şi</a:t>
            </a:r>
            <a:r>
              <a:rPr lang="en-US" dirty="0" smtClean="0">
                <a:solidFill>
                  <a:srgbClr val="FF0000"/>
                </a:solidFill>
              </a:rPr>
              <a:t> </a:t>
            </a:r>
            <a:r>
              <a:rPr lang="en-US" dirty="0" err="1" smtClean="0">
                <a:solidFill>
                  <a:srgbClr val="FF0000"/>
                </a:solidFill>
              </a:rPr>
              <a:t>valorile</a:t>
            </a:r>
            <a:r>
              <a:rPr lang="en-US" dirty="0" smtClean="0">
                <a:solidFill>
                  <a:srgbClr val="FF0000"/>
                </a:solidFill>
              </a:rPr>
              <a:t> </a:t>
            </a:r>
            <a:r>
              <a:rPr lang="en-US" dirty="0" err="1" smtClean="0">
                <a:solidFill>
                  <a:srgbClr val="FF0000"/>
                </a:solidFill>
              </a:rPr>
              <a:t>lor</a:t>
            </a:r>
            <a:r>
              <a:rPr lang="en-US" dirty="0" smtClean="0">
                <a:solidFill>
                  <a:srgbClr val="FF0000"/>
                </a:solidFill>
              </a:rPr>
              <a:t> </a:t>
            </a:r>
            <a:r>
              <a:rPr lang="en-US" dirty="0" err="1" smtClean="0">
                <a:solidFill>
                  <a:srgbClr val="FF0000"/>
                </a:solidFill>
              </a:rPr>
              <a:t>întâlnite</a:t>
            </a:r>
            <a:r>
              <a:rPr lang="en-US" dirty="0" smtClean="0">
                <a:solidFill>
                  <a:srgbClr val="FF0000"/>
                </a:solidFill>
              </a:rPr>
              <a:t> </a:t>
            </a:r>
            <a:r>
              <a:rPr lang="en-US" dirty="0" err="1" smtClean="0">
                <a:solidFill>
                  <a:srgbClr val="FF0000"/>
                </a:solidFill>
              </a:rPr>
              <a:t>în</a:t>
            </a:r>
            <a:r>
              <a:rPr lang="en-US" dirty="0" smtClean="0">
                <a:solidFill>
                  <a:srgbClr val="FF0000"/>
                </a:solidFill>
              </a:rPr>
              <a:t> </a:t>
            </a:r>
            <a:r>
              <a:rPr lang="en-US" dirty="0" err="1" smtClean="0">
                <a:solidFill>
                  <a:srgbClr val="FF0000"/>
                </a:solidFill>
              </a:rPr>
              <a:t>practică</a:t>
            </a:r>
            <a:r>
              <a:rPr lang="en-US" dirty="0" smtClean="0">
                <a:solidFill>
                  <a:srgbClr val="FF0000"/>
                </a:solidFill>
              </a:rPr>
              <a:t> </a:t>
            </a:r>
            <a:r>
              <a:rPr lang="en-US" dirty="0" err="1" smtClean="0">
                <a:solidFill>
                  <a:srgbClr val="FF0000"/>
                </a:solidFill>
              </a:rPr>
              <a:t>variază</a:t>
            </a:r>
            <a:r>
              <a:rPr lang="en-US" dirty="0" smtClean="0">
                <a:solidFill>
                  <a:srgbClr val="FF0000"/>
                </a:solidFill>
              </a:rPr>
              <a:t> </a:t>
            </a:r>
            <a:r>
              <a:rPr lang="en-US" dirty="0" err="1" smtClean="0">
                <a:solidFill>
                  <a:srgbClr val="FF0000"/>
                </a:solidFill>
              </a:rPr>
              <a:t>într</a:t>
            </a:r>
            <a:r>
              <a:rPr lang="en-US" dirty="0" smtClean="0">
                <a:solidFill>
                  <a:srgbClr val="FF0000"/>
                </a:solidFill>
              </a:rPr>
              <a:t>-un </a:t>
            </a:r>
            <a:r>
              <a:rPr lang="en-US" dirty="0" err="1" smtClean="0">
                <a:solidFill>
                  <a:srgbClr val="FF0000"/>
                </a:solidFill>
              </a:rPr>
              <a:t>domeniu</a:t>
            </a:r>
            <a:r>
              <a:rPr lang="en-US" dirty="0" smtClean="0">
                <a:solidFill>
                  <a:srgbClr val="FF0000"/>
                </a:solidFill>
              </a:rPr>
              <a:t> </a:t>
            </a:r>
            <a:r>
              <a:rPr lang="en-US" dirty="0" err="1" smtClean="0">
                <a:solidFill>
                  <a:srgbClr val="FF0000"/>
                </a:solidFill>
              </a:rPr>
              <a:t>foarte</a:t>
            </a:r>
            <a:r>
              <a:rPr lang="en-US" dirty="0" smtClean="0">
                <a:solidFill>
                  <a:srgbClr val="FF0000"/>
                </a:solidFill>
              </a:rPr>
              <a:t> </a:t>
            </a:r>
            <a:r>
              <a:rPr lang="en-US" dirty="0" err="1" smtClean="0">
                <a:solidFill>
                  <a:srgbClr val="FF0000"/>
                </a:solidFill>
              </a:rPr>
              <a:t>larg</a:t>
            </a:r>
            <a:r>
              <a:rPr lang="en-US" dirty="0" smtClean="0">
                <a:solidFill>
                  <a:srgbClr val="FF0000"/>
                </a:solidFill>
              </a:rPr>
              <a:t> </a:t>
            </a:r>
            <a:r>
              <a:rPr lang="en-US" dirty="0" err="1" smtClean="0">
                <a:solidFill>
                  <a:srgbClr val="FF0000"/>
                </a:solidFill>
              </a:rPr>
              <a:t>şi</a:t>
            </a:r>
            <a:r>
              <a:rPr lang="en-US" dirty="0" smtClean="0">
                <a:solidFill>
                  <a:srgbClr val="FF0000"/>
                </a:solidFill>
              </a:rPr>
              <a:t> </a:t>
            </a:r>
            <a:r>
              <a:rPr lang="en-US" dirty="0" err="1" smtClean="0">
                <a:solidFill>
                  <a:srgbClr val="FF0000"/>
                </a:solidFill>
              </a:rPr>
              <a:t>astfel</a:t>
            </a:r>
            <a:r>
              <a:rPr lang="en-US" dirty="0" smtClean="0">
                <a:solidFill>
                  <a:srgbClr val="FF0000"/>
                </a:solidFill>
              </a:rPr>
              <a:t> e </a:t>
            </a:r>
            <a:r>
              <a:rPr lang="en-US" dirty="0" err="1" smtClean="0">
                <a:solidFill>
                  <a:srgbClr val="FF0000"/>
                </a:solidFill>
              </a:rPr>
              <a:t>foarte</a:t>
            </a:r>
            <a:r>
              <a:rPr lang="en-US" dirty="0" smtClean="0">
                <a:solidFill>
                  <a:srgbClr val="FF0000"/>
                </a:solidFill>
              </a:rPr>
              <a:t> </a:t>
            </a:r>
            <a:r>
              <a:rPr lang="en-US" dirty="0" err="1" smtClean="0">
                <a:solidFill>
                  <a:srgbClr val="FF0000"/>
                </a:solidFill>
              </a:rPr>
              <a:t>comod</a:t>
            </a:r>
            <a:r>
              <a:rPr lang="en-US" dirty="0" smtClean="0">
                <a:solidFill>
                  <a:srgbClr val="FF0000"/>
                </a:solidFill>
              </a:rPr>
              <a:t> </a:t>
            </a:r>
            <a:r>
              <a:rPr lang="en-US" dirty="0" err="1" smtClean="0">
                <a:solidFill>
                  <a:srgbClr val="FF0000"/>
                </a:solidFill>
              </a:rPr>
              <a:t>să</a:t>
            </a:r>
            <a:r>
              <a:rPr lang="en-US" dirty="0" smtClean="0">
                <a:solidFill>
                  <a:srgbClr val="FF0000"/>
                </a:solidFill>
              </a:rPr>
              <a:t> nu se </a:t>
            </a:r>
            <a:r>
              <a:rPr lang="en-US" dirty="0" err="1" smtClean="0">
                <a:solidFill>
                  <a:srgbClr val="FF0000"/>
                </a:solidFill>
              </a:rPr>
              <a:t>folosească</a:t>
            </a:r>
            <a:r>
              <a:rPr lang="en-US" dirty="0" smtClean="0">
                <a:solidFill>
                  <a:srgbClr val="FF0000"/>
                </a:solidFill>
              </a:rPr>
              <a:t> </a:t>
            </a:r>
            <a:r>
              <a:rPr lang="en-US" dirty="0" err="1" smtClean="0">
                <a:solidFill>
                  <a:srgbClr val="FF0000"/>
                </a:solidFill>
              </a:rPr>
              <a:t>diferite</a:t>
            </a:r>
            <a:r>
              <a:rPr lang="en-US" dirty="0" smtClean="0">
                <a:solidFill>
                  <a:srgbClr val="FF0000"/>
                </a:solidFill>
              </a:rPr>
              <a:t> </a:t>
            </a:r>
            <a:r>
              <a:rPr lang="en-US" dirty="0" err="1" smtClean="0">
                <a:solidFill>
                  <a:srgbClr val="FF0000"/>
                </a:solidFill>
              </a:rPr>
              <a:t>aparate</a:t>
            </a:r>
            <a:r>
              <a:rPr lang="en-US" dirty="0" smtClean="0">
                <a:solidFill>
                  <a:srgbClr val="FF0000"/>
                </a:solidFill>
              </a:rPr>
              <a:t> p</a:t>
            </a:r>
            <a:r>
              <a:rPr lang="ro-RO" dirty="0" smtClean="0">
                <a:solidFill>
                  <a:srgbClr val="FF0000"/>
                </a:solidFill>
              </a:rPr>
              <a:t>entru</a:t>
            </a:r>
            <a:r>
              <a:rPr lang="en-US" dirty="0" smtClean="0">
                <a:solidFill>
                  <a:srgbClr val="FF0000"/>
                </a:solidFill>
              </a:rPr>
              <a:t> </a:t>
            </a:r>
            <a:r>
              <a:rPr lang="en-US" dirty="0" err="1" smtClean="0">
                <a:solidFill>
                  <a:srgbClr val="FF0000"/>
                </a:solidFill>
              </a:rPr>
              <a:t>fiecare</a:t>
            </a:r>
            <a:r>
              <a:rPr lang="en-US" dirty="0" smtClean="0">
                <a:solidFill>
                  <a:srgbClr val="FF0000"/>
                </a:solidFill>
              </a:rPr>
              <a:t> tip de </a:t>
            </a:r>
            <a:r>
              <a:rPr lang="en-US" dirty="0" err="1" smtClean="0">
                <a:solidFill>
                  <a:srgbClr val="FF0000"/>
                </a:solidFill>
              </a:rPr>
              <a:t>măsurare</a:t>
            </a:r>
            <a:endParaRPr lang="en-US" dirty="0" smtClean="0">
              <a:solidFill>
                <a:srgbClr val="FF0000"/>
              </a:solidFill>
            </a:endParaRP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685801"/>
            <a:ext cx="7772400" cy="5324535"/>
          </a:xfrm>
          <a:prstGeom prst="rect">
            <a:avLst/>
          </a:prstGeom>
          <a:noFill/>
        </p:spPr>
        <p:txBody>
          <a:bodyPr wrap="square" rtlCol="0">
            <a:spAutoFit/>
          </a:bodyPr>
          <a:lstStyle/>
          <a:p>
            <a:pPr>
              <a:spcAft>
                <a:spcPts val="1200"/>
              </a:spcAft>
            </a:pPr>
            <a:r>
              <a:rPr lang="en-US" sz="2400" dirty="0" err="1"/>
              <a:t>Calităţile</a:t>
            </a:r>
            <a:r>
              <a:rPr lang="en-US" sz="2400" dirty="0"/>
              <a:t> </a:t>
            </a:r>
            <a:r>
              <a:rPr lang="en-US" sz="2400" dirty="0" err="1"/>
              <a:t>multimetrelor</a:t>
            </a:r>
            <a:r>
              <a:rPr lang="en-US" sz="2400" dirty="0"/>
              <a:t> se </a:t>
            </a:r>
            <a:r>
              <a:rPr lang="en-US" sz="2400" dirty="0" err="1"/>
              <a:t>apreciază</a:t>
            </a:r>
            <a:r>
              <a:rPr lang="en-US" sz="2400" dirty="0"/>
              <a:t> </a:t>
            </a:r>
            <a:r>
              <a:rPr lang="en-US" sz="2400" dirty="0" err="1"/>
              <a:t>în</a:t>
            </a:r>
            <a:r>
              <a:rPr lang="en-US" sz="2400" dirty="0"/>
              <a:t> </a:t>
            </a:r>
            <a:r>
              <a:rPr lang="en-US" sz="2400" dirty="0" err="1"/>
              <a:t>funcţie</a:t>
            </a:r>
            <a:r>
              <a:rPr lang="en-US" sz="2400" dirty="0"/>
              <a:t> de:</a:t>
            </a:r>
          </a:p>
          <a:p>
            <a:pPr lvl="2">
              <a:buFont typeface="Arial" pitchFamily="34" charset="0"/>
              <a:buChar char="•"/>
            </a:pPr>
            <a:r>
              <a:rPr lang="en-US" b="1" dirty="0" err="1"/>
              <a:t>Sensibilitate</a:t>
            </a:r>
            <a:r>
              <a:rPr lang="en-US" b="1" dirty="0"/>
              <a:t> </a:t>
            </a:r>
            <a:r>
              <a:rPr lang="en-US" dirty="0"/>
              <a:t>– </a:t>
            </a:r>
            <a:r>
              <a:rPr lang="en-US" dirty="0" err="1" smtClean="0"/>
              <a:t>caract</a:t>
            </a:r>
            <a:r>
              <a:rPr lang="ro-RO" dirty="0" smtClean="0"/>
              <a:t>eristica</a:t>
            </a:r>
            <a:r>
              <a:rPr lang="en-US" dirty="0" smtClean="0"/>
              <a:t> </a:t>
            </a:r>
            <a:r>
              <a:rPr lang="en-US" dirty="0" err="1"/>
              <a:t>metrologică</a:t>
            </a:r>
            <a:r>
              <a:rPr lang="en-US" dirty="0"/>
              <a:t> a </a:t>
            </a:r>
            <a:r>
              <a:rPr lang="en-US" dirty="0" err="1"/>
              <a:t>unui</a:t>
            </a:r>
            <a:r>
              <a:rPr lang="en-US" dirty="0"/>
              <a:t> </a:t>
            </a:r>
            <a:r>
              <a:rPr lang="en-US" dirty="0" err="1"/>
              <a:t>aparat</a:t>
            </a:r>
            <a:r>
              <a:rPr lang="en-US" dirty="0"/>
              <a:t> de </a:t>
            </a:r>
            <a:r>
              <a:rPr lang="en-US" dirty="0" err="1"/>
              <a:t>măsurat</a:t>
            </a:r>
            <a:r>
              <a:rPr lang="en-US" dirty="0"/>
              <a:t> care </a:t>
            </a:r>
            <a:r>
              <a:rPr lang="en-US" dirty="0" err="1"/>
              <a:t>exprimă</a:t>
            </a:r>
            <a:r>
              <a:rPr lang="en-US" dirty="0"/>
              <a:t> </a:t>
            </a:r>
            <a:r>
              <a:rPr lang="en-US" dirty="0" err="1"/>
              <a:t>raportul</a:t>
            </a:r>
            <a:r>
              <a:rPr lang="en-US" dirty="0"/>
              <a:t> </a:t>
            </a:r>
            <a:r>
              <a:rPr lang="en-US" dirty="0" err="1"/>
              <a:t>între</a:t>
            </a:r>
            <a:r>
              <a:rPr lang="en-US" dirty="0"/>
              <a:t> </a:t>
            </a:r>
            <a:r>
              <a:rPr lang="en-US" dirty="0" err="1"/>
              <a:t>variaţia</a:t>
            </a:r>
            <a:r>
              <a:rPr lang="en-US" dirty="0"/>
              <a:t> </a:t>
            </a:r>
            <a:r>
              <a:rPr lang="en-US" dirty="0" err="1"/>
              <a:t>mărimii</a:t>
            </a:r>
            <a:r>
              <a:rPr lang="en-US" dirty="0"/>
              <a:t> de </a:t>
            </a:r>
            <a:r>
              <a:rPr lang="en-US" dirty="0" err="1"/>
              <a:t>ieşire</a:t>
            </a:r>
            <a:r>
              <a:rPr lang="en-US" dirty="0"/>
              <a:t> </a:t>
            </a:r>
            <a:r>
              <a:rPr lang="en-US" dirty="0" err="1"/>
              <a:t>şi</a:t>
            </a:r>
            <a:r>
              <a:rPr lang="en-US" dirty="0"/>
              <a:t> </a:t>
            </a:r>
            <a:r>
              <a:rPr lang="en-US" dirty="0" err="1"/>
              <a:t>variaţia</a:t>
            </a:r>
            <a:r>
              <a:rPr lang="en-US" dirty="0"/>
              <a:t> </a:t>
            </a:r>
            <a:r>
              <a:rPr lang="en-US" dirty="0" err="1"/>
              <a:t>mărimii</a:t>
            </a:r>
            <a:r>
              <a:rPr lang="en-US" dirty="0"/>
              <a:t> de </a:t>
            </a:r>
            <a:r>
              <a:rPr lang="en-US" dirty="0" err="1"/>
              <a:t>măsurat</a:t>
            </a:r>
            <a:endParaRPr lang="en-US" dirty="0"/>
          </a:p>
          <a:p>
            <a:pPr lvl="2">
              <a:buFont typeface="Arial" pitchFamily="34" charset="0"/>
              <a:buChar char="•"/>
            </a:pPr>
            <a:r>
              <a:rPr lang="en-US" b="1" dirty="0" err="1"/>
              <a:t>Rezoluţie</a:t>
            </a:r>
            <a:r>
              <a:rPr lang="en-US" dirty="0"/>
              <a:t> – </a:t>
            </a:r>
            <a:r>
              <a:rPr lang="en-US" dirty="0" err="1"/>
              <a:t>pragul</a:t>
            </a:r>
            <a:r>
              <a:rPr lang="en-US" dirty="0"/>
              <a:t> de </a:t>
            </a:r>
            <a:r>
              <a:rPr lang="en-US" dirty="0" err="1"/>
              <a:t>sensibilitate</a:t>
            </a:r>
            <a:r>
              <a:rPr lang="en-US" dirty="0"/>
              <a:t> – </a:t>
            </a:r>
            <a:r>
              <a:rPr lang="en-US" dirty="0" err="1"/>
              <a:t>cea</a:t>
            </a:r>
            <a:r>
              <a:rPr lang="en-US" dirty="0"/>
              <a:t> </a:t>
            </a:r>
            <a:r>
              <a:rPr lang="en-US" dirty="0" err="1"/>
              <a:t>mai</a:t>
            </a:r>
            <a:r>
              <a:rPr lang="en-US" dirty="0"/>
              <a:t> </a:t>
            </a:r>
            <a:r>
              <a:rPr lang="en-US" dirty="0" err="1"/>
              <a:t>mică</a:t>
            </a:r>
            <a:r>
              <a:rPr lang="en-US" dirty="0"/>
              <a:t> </a:t>
            </a:r>
            <a:r>
              <a:rPr lang="en-US" dirty="0" err="1"/>
              <a:t>variaţie</a:t>
            </a:r>
            <a:r>
              <a:rPr lang="en-US" dirty="0"/>
              <a:t> a </a:t>
            </a:r>
            <a:r>
              <a:rPr lang="en-US" dirty="0" err="1"/>
              <a:t>mărimii</a:t>
            </a:r>
            <a:r>
              <a:rPr lang="en-US" dirty="0"/>
              <a:t> de </a:t>
            </a:r>
            <a:r>
              <a:rPr lang="en-US" dirty="0" err="1"/>
              <a:t>măsurat</a:t>
            </a:r>
            <a:r>
              <a:rPr lang="en-US" dirty="0"/>
              <a:t> care </a:t>
            </a:r>
            <a:r>
              <a:rPr lang="en-US" dirty="0" err="1"/>
              <a:t>determină</a:t>
            </a:r>
            <a:r>
              <a:rPr lang="en-US" dirty="0"/>
              <a:t> o </a:t>
            </a:r>
            <a:r>
              <a:rPr lang="en-US" dirty="0" err="1"/>
              <a:t>variaţie</a:t>
            </a:r>
            <a:r>
              <a:rPr lang="en-US" dirty="0"/>
              <a:t> </a:t>
            </a:r>
            <a:r>
              <a:rPr lang="en-US" dirty="0" err="1"/>
              <a:t>perceptibilă</a:t>
            </a:r>
            <a:r>
              <a:rPr lang="en-US" dirty="0"/>
              <a:t> a </a:t>
            </a:r>
            <a:r>
              <a:rPr lang="en-US" dirty="0" err="1"/>
              <a:t>mărimii</a:t>
            </a:r>
            <a:r>
              <a:rPr lang="en-US" dirty="0"/>
              <a:t> de </a:t>
            </a:r>
            <a:r>
              <a:rPr lang="en-US" dirty="0" err="1"/>
              <a:t>ieşire</a:t>
            </a:r>
            <a:endParaRPr lang="en-US" dirty="0"/>
          </a:p>
          <a:p>
            <a:pPr lvl="2">
              <a:buFont typeface="Arial" pitchFamily="34" charset="0"/>
              <a:buChar char="•"/>
            </a:pPr>
            <a:r>
              <a:rPr lang="en-US" b="1" dirty="0" err="1"/>
              <a:t>Exactitate</a:t>
            </a:r>
            <a:r>
              <a:rPr lang="en-US" dirty="0"/>
              <a:t> – </a:t>
            </a:r>
            <a:r>
              <a:rPr lang="en-US" dirty="0" err="1"/>
              <a:t>termen</a:t>
            </a:r>
            <a:r>
              <a:rPr lang="en-US" dirty="0"/>
              <a:t> </a:t>
            </a:r>
            <a:r>
              <a:rPr lang="en-US" dirty="0" err="1"/>
              <a:t>legat</a:t>
            </a:r>
            <a:r>
              <a:rPr lang="en-US" dirty="0"/>
              <a:t> de PRECIZIE</a:t>
            </a:r>
          </a:p>
          <a:p>
            <a:pPr lvl="2">
              <a:buFont typeface="Arial" pitchFamily="34" charset="0"/>
              <a:buChar char="•"/>
            </a:pPr>
            <a:r>
              <a:rPr lang="en-US" b="1" dirty="0" err="1"/>
              <a:t>Numărul</a:t>
            </a:r>
            <a:r>
              <a:rPr lang="en-US" b="1" dirty="0"/>
              <a:t> </a:t>
            </a:r>
            <a:r>
              <a:rPr lang="en-US" b="1" dirty="0" err="1"/>
              <a:t>mărimilor</a:t>
            </a:r>
            <a:r>
              <a:rPr lang="en-US" b="1" dirty="0"/>
              <a:t> </a:t>
            </a:r>
            <a:r>
              <a:rPr lang="en-US" b="1" dirty="0" err="1"/>
              <a:t>ce</a:t>
            </a:r>
            <a:r>
              <a:rPr lang="en-US" b="1" dirty="0"/>
              <a:t> pot </a:t>
            </a:r>
            <a:r>
              <a:rPr lang="en-US" b="1" dirty="0" err="1"/>
              <a:t>fi</a:t>
            </a:r>
            <a:r>
              <a:rPr lang="en-US" b="1" dirty="0"/>
              <a:t> </a:t>
            </a:r>
            <a:r>
              <a:rPr lang="en-US" b="1" dirty="0" err="1"/>
              <a:t>măsurate</a:t>
            </a:r>
            <a:r>
              <a:rPr lang="en-US" dirty="0"/>
              <a:t> : </a:t>
            </a:r>
          </a:p>
          <a:p>
            <a:pPr lvl="4">
              <a:buFont typeface="Arial" pitchFamily="34" charset="0"/>
              <a:buChar char="•"/>
            </a:pPr>
            <a:r>
              <a:rPr lang="en-US" dirty="0" err="1" smtClean="0"/>
              <a:t>Curent</a:t>
            </a:r>
            <a:r>
              <a:rPr lang="en-US" dirty="0" smtClean="0"/>
              <a:t> </a:t>
            </a:r>
            <a:r>
              <a:rPr lang="en-US" dirty="0" err="1"/>
              <a:t>cuntinuu</a:t>
            </a:r>
            <a:r>
              <a:rPr lang="en-US" dirty="0"/>
              <a:t> </a:t>
            </a:r>
            <a:r>
              <a:rPr lang="en-US" dirty="0" err="1"/>
              <a:t>şi</a:t>
            </a:r>
            <a:r>
              <a:rPr lang="en-US" dirty="0"/>
              <a:t> </a:t>
            </a:r>
            <a:r>
              <a:rPr lang="en-US" dirty="0" err="1" smtClean="0"/>
              <a:t>alternativ</a:t>
            </a:r>
            <a:endParaRPr lang="en-US" dirty="0"/>
          </a:p>
          <a:p>
            <a:pPr lvl="4">
              <a:buFont typeface="Arial" pitchFamily="34" charset="0"/>
              <a:buChar char="•"/>
            </a:pPr>
            <a:r>
              <a:rPr lang="en-US" dirty="0" err="1"/>
              <a:t>Tensiune</a:t>
            </a:r>
            <a:r>
              <a:rPr lang="en-US" dirty="0"/>
              <a:t> </a:t>
            </a:r>
            <a:r>
              <a:rPr lang="en-US" dirty="0" err="1"/>
              <a:t>continuă</a:t>
            </a:r>
            <a:r>
              <a:rPr lang="en-US" dirty="0"/>
              <a:t> </a:t>
            </a:r>
            <a:r>
              <a:rPr lang="en-US" dirty="0" err="1"/>
              <a:t>şi</a:t>
            </a:r>
            <a:r>
              <a:rPr lang="en-US" dirty="0"/>
              <a:t> </a:t>
            </a:r>
            <a:r>
              <a:rPr lang="en-US" dirty="0" err="1"/>
              <a:t>alternativă</a:t>
            </a:r>
            <a:endParaRPr lang="en-US" dirty="0"/>
          </a:p>
          <a:p>
            <a:pPr lvl="4">
              <a:buFont typeface="Arial" pitchFamily="34" charset="0"/>
              <a:buChar char="•"/>
            </a:pPr>
            <a:r>
              <a:rPr lang="en-US" dirty="0" err="1"/>
              <a:t>Rezistenţă</a:t>
            </a:r>
            <a:endParaRPr lang="en-US" dirty="0"/>
          </a:p>
          <a:p>
            <a:pPr lvl="4">
              <a:buFont typeface="Arial" pitchFamily="34" charset="0"/>
              <a:buChar char="•"/>
            </a:pPr>
            <a:r>
              <a:rPr lang="en-US" dirty="0"/>
              <a:t>Capacitate</a:t>
            </a:r>
          </a:p>
          <a:p>
            <a:pPr lvl="4">
              <a:buFont typeface="Arial" pitchFamily="34" charset="0"/>
              <a:buChar char="•"/>
            </a:pPr>
            <a:r>
              <a:rPr lang="en-US" dirty="0" err="1"/>
              <a:t>Frecvenţă</a:t>
            </a:r>
            <a:endParaRPr lang="en-US" dirty="0"/>
          </a:p>
          <a:p>
            <a:pPr lvl="4">
              <a:buFont typeface="Arial" pitchFamily="34" charset="0"/>
              <a:buChar char="•"/>
            </a:pPr>
            <a:r>
              <a:rPr lang="en-US" dirty="0" err="1"/>
              <a:t>Atenuare</a:t>
            </a:r>
            <a:r>
              <a:rPr lang="en-US" dirty="0"/>
              <a:t> </a:t>
            </a:r>
            <a:r>
              <a:rPr lang="en-US" dirty="0" err="1"/>
              <a:t>semnale</a:t>
            </a:r>
            <a:r>
              <a:rPr lang="en-US" dirty="0"/>
              <a:t> </a:t>
            </a:r>
            <a:r>
              <a:rPr lang="en-US" dirty="0" smtClean="0"/>
              <a:t>el</a:t>
            </a:r>
            <a:r>
              <a:rPr lang="ro-RO" dirty="0" smtClean="0"/>
              <a:t>e</a:t>
            </a:r>
            <a:r>
              <a:rPr lang="en-US" dirty="0" err="1" smtClean="0"/>
              <a:t>ctrice</a:t>
            </a:r>
            <a:endParaRPr lang="en-US" dirty="0"/>
          </a:p>
          <a:p>
            <a:pPr lvl="4">
              <a:buFont typeface="Arial" pitchFamily="34" charset="0"/>
              <a:buChar char="•"/>
            </a:pPr>
            <a:r>
              <a:rPr lang="en-US" dirty="0"/>
              <a:t>Factor de </a:t>
            </a:r>
            <a:r>
              <a:rPr lang="en-US" dirty="0" err="1"/>
              <a:t>amplificare</a:t>
            </a:r>
            <a:r>
              <a:rPr lang="en-US" dirty="0"/>
              <a:t> </a:t>
            </a:r>
            <a:r>
              <a:rPr lang="en-US" dirty="0" err="1"/>
              <a:t>tranzistor</a:t>
            </a:r>
            <a:endParaRPr lang="en-US" dirty="0"/>
          </a:p>
          <a:p>
            <a:pPr lvl="4">
              <a:buFont typeface="Arial" pitchFamily="34" charset="0"/>
              <a:buChar char="•"/>
            </a:pPr>
            <a:r>
              <a:rPr lang="en-US" dirty="0" err="1"/>
              <a:t>Temperatură</a:t>
            </a:r>
            <a:r>
              <a:rPr lang="en-US" dirty="0"/>
              <a:t> – </a:t>
            </a:r>
            <a:r>
              <a:rPr lang="en-US" dirty="0" err="1"/>
              <a:t>mărime</a:t>
            </a:r>
            <a:r>
              <a:rPr lang="en-US" dirty="0"/>
              <a:t> </a:t>
            </a:r>
            <a:r>
              <a:rPr lang="en-US" dirty="0" err="1"/>
              <a:t>neelectrică</a:t>
            </a:r>
            <a:endParaRPr lang="en-US" dirty="0"/>
          </a:p>
          <a:p>
            <a:pPr lvl="2">
              <a:buFont typeface="Arial" pitchFamily="34" charset="0"/>
              <a:buChar char="•"/>
            </a:pPr>
            <a:r>
              <a:rPr lang="en-US" b="1" dirty="0" err="1"/>
              <a:t>Domeniile</a:t>
            </a:r>
            <a:r>
              <a:rPr lang="en-US" b="1" dirty="0"/>
              <a:t> de </a:t>
            </a:r>
            <a:r>
              <a:rPr lang="en-US" b="1" dirty="0" err="1"/>
              <a:t>măsură</a:t>
            </a:r>
            <a:r>
              <a:rPr lang="en-US" b="1" dirty="0"/>
              <a:t> </a:t>
            </a:r>
            <a:r>
              <a:rPr lang="en-US" b="1" dirty="0" err="1"/>
              <a:t>pentru</a:t>
            </a:r>
            <a:r>
              <a:rPr lang="en-US" b="1" dirty="0"/>
              <a:t> </a:t>
            </a:r>
            <a:r>
              <a:rPr lang="en-US" b="1" dirty="0" err="1"/>
              <a:t>fiecare</a:t>
            </a:r>
            <a:r>
              <a:rPr lang="en-US" b="1" dirty="0"/>
              <a:t> </a:t>
            </a:r>
            <a:r>
              <a:rPr lang="en-US" b="1" dirty="0" err="1"/>
              <a:t>mărime</a:t>
            </a:r>
            <a:endParaRPr lang="en-US" b="1" dirty="0"/>
          </a:p>
          <a:p>
            <a:pPr>
              <a:buFont typeface="Wingdings" pitchFamily="2" charset="2"/>
              <a:buChar char="v"/>
            </a:pPr>
            <a:endParaRPr 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down)">
                                      <p:cBhvr>
                                        <p:cTn id="10" dur="500"/>
                                        <p:tgtEl>
                                          <p:spTgt spid="2">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down)">
                                      <p:cBhvr>
                                        <p:cTn id="13" dur="500"/>
                                        <p:tgtEl>
                                          <p:spTgt spid="2">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wipe(down)">
                                      <p:cBhvr>
                                        <p:cTn id="16" dur="500"/>
                                        <p:tgtEl>
                                          <p:spTgt spid="2">
                                            <p:txEl>
                                              <p:pRg st="3" end="3"/>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wipe(down)">
                                      <p:cBhvr>
                                        <p:cTn id="19" dur="500"/>
                                        <p:tgtEl>
                                          <p:spTgt spid="2">
                                            <p:txEl>
                                              <p:pRg st="4" end="4"/>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wipe(down)">
                                      <p:cBhvr>
                                        <p:cTn id="22" dur="500"/>
                                        <p:tgtEl>
                                          <p:spTgt spid="2">
                                            <p:txEl>
                                              <p:pRg st="5" end="5"/>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wipe(down)">
                                      <p:cBhvr>
                                        <p:cTn id="25" dur="500"/>
                                        <p:tgtEl>
                                          <p:spTgt spid="2">
                                            <p:txEl>
                                              <p:pRg st="6" end="6"/>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Effect transition="in" filter="wipe(down)">
                                      <p:cBhvr>
                                        <p:cTn id="28" dur="500"/>
                                        <p:tgtEl>
                                          <p:spTgt spid="2">
                                            <p:txEl>
                                              <p:pRg st="7" end="7"/>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Effect transition="in" filter="wipe(down)">
                                      <p:cBhvr>
                                        <p:cTn id="31" dur="500"/>
                                        <p:tgtEl>
                                          <p:spTgt spid="2">
                                            <p:txEl>
                                              <p:pRg st="8" end="8"/>
                                            </p:txEl>
                                          </p:spTgt>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2">
                                            <p:txEl>
                                              <p:pRg st="9" end="9"/>
                                            </p:txEl>
                                          </p:spTgt>
                                        </p:tgtEl>
                                        <p:attrNameLst>
                                          <p:attrName>style.visibility</p:attrName>
                                        </p:attrNameLst>
                                      </p:cBhvr>
                                      <p:to>
                                        <p:strVal val="visible"/>
                                      </p:to>
                                    </p:set>
                                    <p:animEffect transition="in" filter="wipe(down)">
                                      <p:cBhvr>
                                        <p:cTn id="34" dur="500"/>
                                        <p:tgtEl>
                                          <p:spTgt spid="2">
                                            <p:txEl>
                                              <p:pRg st="9" end="9"/>
                                            </p:txEl>
                                          </p:spTgt>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2">
                                            <p:txEl>
                                              <p:pRg st="10" end="10"/>
                                            </p:txEl>
                                          </p:spTgt>
                                        </p:tgtEl>
                                        <p:attrNameLst>
                                          <p:attrName>style.visibility</p:attrName>
                                        </p:attrNameLst>
                                      </p:cBhvr>
                                      <p:to>
                                        <p:strVal val="visible"/>
                                      </p:to>
                                    </p:set>
                                    <p:animEffect transition="in" filter="wipe(down)">
                                      <p:cBhvr>
                                        <p:cTn id="37" dur="500"/>
                                        <p:tgtEl>
                                          <p:spTgt spid="2">
                                            <p:txEl>
                                              <p:pRg st="10" end="10"/>
                                            </p:txEl>
                                          </p:spTgt>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2">
                                            <p:txEl>
                                              <p:pRg st="11" end="11"/>
                                            </p:txEl>
                                          </p:spTgt>
                                        </p:tgtEl>
                                        <p:attrNameLst>
                                          <p:attrName>style.visibility</p:attrName>
                                        </p:attrNameLst>
                                      </p:cBhvr>
                                      <p:to>
                                        <p:strVal val="visible"/>
                                      </p:to>
                                    </p:set>
                                    <p:animEffect transition="in" filter="wipe(down)">
                                      <p:cBhvr>
                                        <p:cTn id="40" dur="500"/>
                                        <p:tgtEl>
                                          <p:spTgt spid="2">
                                            <p:txEl>
                                              <p:pRg st="11" end="11"/>
                                            </p:txEl>
                                          </p:spTgt>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2">
                                            <p:txEl>
                                              <p:pRg st="12" end="12"/>
                                            </p:txEl>
                                          </p:spTgt>
                                        </p:tgtEl>
                                        <p:attrNameLst>
                                          <p:attrName>style.visibility</p:attrName>
                                        </p:attrNameLst>
                                      </p:cBhvr>
                                      <p:to>
                                        <p:strVal val="visible"/>
                                      </p:to>
                                    </p:set>
                                    <p:animEffect transition="in" filter="wipe(down)">
                                      <p:cBhvr>
                                        <p:cTn id="43" dur="500"/>
                                        <p:tgtEl>
                                          <p:spTgt spid="2">
                                            <p:txEl>
                                              <p:pRg st="12" end="12"/>
                                            </p:txEl>
                                          </p:spTgt>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2">
                                            <p:txEl>
                                              <p:pRg st="13" end="13"/>
                                            </p:txEl>
                                          </p:spTgt>
                                        </p:tgtEl>
                                        <p:attrNameLst>
                                          <p:attrName>style.visibility</p:attrName>
                                        </p:attrNameLst>
                                      </p:cBhvr>
                                      <p:to>
                                        <p:strVal val="visible"/>
                                      </p:to>
                                    </p:set>
                                    <p:animEffect transition="in" filter="wipe(down)">
                                      <p:cBhvr>
                                        <p:cTn id="46"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8077200" cy="487362"/>
          </a:xfrm>
        </p:spPr>
        <p:txBody>
          <a:bodyPr>
            <a:normAutofit fontScale="90000"/>
          </a:bodyPr>
          <a:lstStyle/>
          <a:p>
            <a:r>
              <a:rPr lang="en-US" sz="2400" dirty="0" err="1" smtClean="0"/>
              <a:t>În</a:t>
            </a:r>
            <a:r>
              <a:rPr lang="en-US" sz="2400" dirty="0" smtClean="0"/>
              <a:t> </a:t>
            </a:r>
            <a:r>
              <a:rPr lang="en-US" sz="2400" dirty="0" err="1" smtClean="0"/>
              <a:t>funcţie</a:t>
            </a:r>
            <a:r>
              <a:rPr lang="en-US" sz="2400" dirty="0" smtClean="0"/>
              <a:t> de </a:t>
            </a:r>
            <a:r>
              <a:rPr lang="en-US" sz="2400" dirty="0" err="1" smtClean="0"/>
              <a:t>indicaţia</a:t>
            </a:r>
            <a:r>
              <a:rPr lang="en-US" sz="2400" dirty="0" smtClean="0"/>
              <a:t> la </a:t>
            </a:r>
            <a:r>
              <a:rPr lang="en-US" sz="2400" dirty="0" err="1" smtClean="0"/>
              <a:t>ieşire</a:t>
            </a:r>
            <a:r>
              <a:rPr lang="en-US" sz="2400" dirty="0" smtClean="0"/>
              <a:t>, </a:t>
            </a:r>
            <a:r>
              <a:rPr lang="en-US" sz="2400" dirty="0" err="1" smtClean="0"/>
              <a:t>multimetrele</a:t>
            </a:r>
            <a:r>
              <a:rPr lang="en-US" sz="2400" dirty="0" smtClean="0"/>
              <a:t> pot </a:t>
            </a:r>
            <a:r>
              <a:rPr lang="en-US" sz="2400" dirty="0" err="1" smtClean="0"/>
              <a:t>fi</a:t>
            </a:r>
            <a:r>
              <a:rPr lang="en-US" sz="2400" dirty="0" smtClean="0"/>
              <a:t>:</a:t>
            </a:r>
            <a:br>
              <a:rPr lang="en-US" sz="2400" dirty="0" smtClean="0"/>
            </a:br>
            <a:endParaRPr lang="en-US" sz="2400" dirty="0"/>
          </a:p>
        </p:txBody>
      </p:sp>
      <p:sp>
        <p:nvSpPr>
          <p:cNvPr id="3" name="Text Placeholder 2"/>
          <p:cNvSpPr>
            <a:spLocks noGrp="1"/>
          </p:cNvSpPr>
          <p:nvPr>
            <p:ph type="body" idx="1"/>
          </p:nvPr>
        </p:nvSpPr>
        <p:spPr>
          <a:xfrm>
            <a:off x="304801" y="685801"/>
            <a:ext cx="4192588" cy="1143000"/>
          </a:xfrm>
        </p:spPr>
        <p:txBody>
          <a:bodyPr>
            <a:normAutofit/>
          </a:bodyPr>
          <a:lstStyle/>
          <a:p>
            <a:pPr marL="0" lvl="1" algn="ctr"/>
            <a:r>
              <a:rPr lang="en-US" dirty="0" err="1" smtClean="0"/>
              <a:t>Analogice</a:t>
            </a:r>
            <a:r>
              <a:rPr lang="en-US" dirty="0" smtClean="0"/>
              <a:t> – la care un ac indicator se </a:t>
            </a:r>
            <a:r>
              <a:rPr lang="en-US" dirty="0" err="1" smtClean="0"/>
              <a:t>deplasează</a:t>
            </a:r>
            <a:r>
              <a:rPr lang="en-US" dirty="0" smtClean="0"/>
              <a:t> </a:t>
            </a:r>
            <a:r>
              <a:rPr lang="en-US" dirty="0" err="1" smtClean="0"/>
              <a:t>în</a:t>
            </a:r>
            <a:r>
              <a:rPr lang="en-US" dirty="0" smtClean="0"/>
              <a:t> </a:t>
            </a:r>
            <a:r>
              <a:rPr lang="en-US" dirty="0" err="1" smtClean="0"/>
              <a:t>faţa</a:t>
            </a:r>
            <a:r>
              <a:rPr lang="en-US" dirty="0" smtClean="0"/>
              <a:t> </a:t>
            </a:r>
            <a:r>
              <a:rPr lang="en-US" dirty="0" err="1" smtClean="0"/>
              <a:t>unei</a:t>
            </a:r>
            <a:r>
              <a:rPr lang="en-US" dirty="0" smtClean="0"/>
              <a:t> </a:t>
            </a:r>
            <a:r>
              <a:rPr lang="en-US" dirty="0" err="1" smtClean="0"/>
              <a:t>scări</a:t>
            </a:r>
            <a:r>
              <a:rPr lang="en-US" dirty="0" smtClean="0"/>
              <a:t> gradate</a:t>
            </a:r>
          </a:p>
          <a:p>
            <a:endParaRPr lang="en-US" sz="2000" dirty="0"/>
          </a:p>
        </p:txBody>
      </p:sp>
      <p:pic>
        <p:nvPicPr>
          <p:cNvPr id="7" name="Content Placeholder 6" descr="kep2.jpeg"/>
          <p:cNvPicPr>
            <a:picLocks noGrp="1" noChangeAspect="1"/>
          </p:cNvPicPr>
          <p:nvPr>
            <p:ph sz="half" idx="2"/>
          </p:nvPr>
        </p:nvPicPr>
        <p:blipFill>
          <a:blip r:embed="rId3" cstate="print"/>
          <a:stretch>
            <a:fillRect/>
          </a:stretch>
        </p:blipFill>
        <p:spPr>
          <a:xfrm>
            <a:off x="623442" y="1600199"/>
            <a:ext cx="2881759" cy="3964395"/>
          </a:xfrm>
        </p:spPr>
      </p:pic>
      <p:sp>
        <p:nvSpPr>
          <p:cNvPr id="5" name="Text Placeholder 4"/>
          <p:cNvSpPr>
            <a:spLocks noGrp="1"/>
          </p:cNvSpPr>
          <p:nvPr>
            <p:ph type="body" sz="quarter" idx="3"/>
          </p:nvPr>
        </p:nvSpPr>
        <p:spPr>
          <a:xfrm>
            <a:off x="4495801" y="762001"/>
            <a:ext cx="4191001" cy="1412875"/>
          </a:xfrm>
        </p:spPr>
        <p:txBody>
          <a:bodyPr>
            <a:normAutofit/>
          </a:bodyPr>
          <a:lstStyle/>
          <a:p>
            <a:pPr marL="0" lvl="1" algn="ctr"/>
            <a:r>
              <a:rPr lang="en-US" dirty="0" err="1" smtClean="0"/>
              <a:t>Digitale</a:t>
            </a:r>
            <a:r>
              <a:rPr lang="en-US" dirty="0" smtClean="0"/>
              <a:t>  (</a:t>
            </a:r>
            <a:r>
              <a:rPr lang="en-US" dirty="0" err="1" smtClean="0"/>
              <a:t>numerice</a:t>
            </a:r>
            <a:r>
              <a:rPr lang="en-US" dirty="0" smtClean="0"/>
              <a:t>) – la care </a:t>
            </a:r>
            <a:r>
              <a:rPr lang="en-US" dirty="0" err="1" smtClean="0"/>
              <a:t>mărimea</a:t>
            </a:r>
            <a:r>
              <a:rPr lang="en-US" dirty="0" smtClean="0"/>
              <a:t> </a:t>
            </a:r>
            <a:r>
              <a:rPr lang="en-US" dirty="0" err="1" smtClean="0"/>
              <a:t>măsurată</a:t>
            </a:r>
            <a:r>
              <a:rPr lang="en-US" dirty="0" smtClean="0"/>
              <a:t> </a:t>
            </a:r>
            <a:r>
              <a:rPr lang="en-US" dirty="0" err="1" smtClean="0"/>
              <a:t>este</a:t>
            </a:r>
            <a:r>
              <a:rPr lang="en-US" dirty="0" smtClean="0"/>
              <a:t> </a:t>
            </a:r>
            <a:r>
              <a:rPr lang="en-US" dirty="0" err="1" smtClean="0"/>
              <a:t>afişată</a:t>
            </a:r>
            <a:r>
              <a:rPr lang="en-US" dirty="0" smtClean="0"/>
              <a:t> sub </a:t>
            </a:r>
            <a:r>
              <a:rPr lang="en-US" dirty="0" err="1" smtClean="0"/>
              <a:t>formă</a:t>
            </a:r>
            <a:r>
              <a:rPr lang="en-US" dirty="0" smtClean="0"/>
              <a:t> numeric</a:t>
            </a:r>
          </a:p>
          <a:p>
            <a:endParaRPr lang="en-US" dirty="0"/>
          </a:p>
        </p:txBody>
      </p:sp>
      <p:pic>
        <p:nvPicPr>
          <p:cNvPr id="8" name="Content Placeholder 7" descr="kep3.jpg"/>
          <p:cNvPicPr>
            <a:picLocks noGrp="1" noChangeAspect="1"/>
          </p:cNvPicPr>
          <p:nvPr>
            <p:ph sz="quarter" idx="4"/>
          </p:nvPr>
        </p:nvPicPr>
        <p:blipFill>
          <a:blip r:embed="rId4" cstate="print"/>
          <a:stretch>
            <a:fillRect/>
          </a:stretch>
        </p:blipFill>
        <p:spPr>
          <a:xfrm>
            <a:off x="4163111" y="2133601"/>
            <a:ext cx="3951707" cy="3124200"/>
          </a:xfrm>
        </p:spPr>
      </p:pic>
      <p:sp>
        <p:nvSpPr>
          <p:cNvPr id="10" name="TextBox 9"/>
          <p:cNvSpPr txBox="1"/>
          <p:nvPr/>
        </p:nvSpPr>
        <p:spPr>
          <a:xfrm>
            <a:off x="1447800" y="5486400"/>
            <a:ext cx="6019800" cy="1477328"/>
          </a:xfrm>
          <a:prstGeom prst="rect">
            <a:avLst/>
          </a:prstGeom>
          <a:noFill/>
        </p:spPr>
        <p:txBody>
          <a:bodyPr wrap="square" rtlCol="0">
            <a:spAutoFit/>
          </a:bodyPr>
          <a:lstStyle/>
          <a:p>
            <a:r>
              <a:rPr lang="en-US" dirty="0" err="1" smtClean="0"/>
              <a:t>Părţi</a:t>
            </a:r>
            <a:r>
              <a:rPr lang="ro-RO" dirty="0" smtClean="0"/>
              <a:t>le </a:t>
            </a:r>
            <a:r>
              <a:rPr lang="en-US" dirty="0" smtClean="0"/>
              <a:t> component</a:t>
            </a:r>
            <a:r>
              <a:rPr lang="ro-RO" dirty="0" smtClean="0"/>
              <a:t>e</a:t>
            </a:r>
            <a:r>
              <a:rPr lang="en-US" dirty="0" smtClean="0"/>
              <a:t> ale </a:t>
            </a:r>
            <a:r>
              <a:rPr lang="en-US" dirty="0" err="1" smtClean="0"/>
              <a:t>panoului</a:t>
            </a:r>
            <a:r>
              <a:rPr lang="en-US" dirty="0" smtClean="0"/>
              <a:t> frontal:</a:t>
            </a:r>
          </a:p>
          <a:p>
            <a:pPr marL="1257300" lvl="2" indent="-342900">
              <a:buFont typeface="Arial" pitchFamily="34" charset="0"/>
              <a:buChar char="•"/>
            </a:pPr>
            <a:r>
              <a:rPr lang="en-US" dirty="0" err="1" smtClean="0"/>
              <a:t>Dispozitiv</a:t>
            </a:r>
            <a:r>
              <a:rPr lang="en-US" dirty="0" smtClean="0"/>
              <a:t> de </a:t>
            </a:r>
            <a:r>
              <a:rPr lang="en-US" dirty="0" err="1" smtClean="0"/>
              <a:t>indicare</a:t>
            </a:r>
            <a:endParaRPr lang="en-US" dirty="0" smtClean="0"/>
          </a:p>
          <a:p>
            <a:pPr marL="1257300" lvl="2" indent="-342900">
              <a:buFont typeface="Arial" pitchFamily="34" charset="0"/>
              <a:buChar char="•"/>
            </a:pPr>
            <a:r>
              <a:rPr lang="en-US" dirty="0" err="1" smtClean="0"/>
              <a:t>Comutatorul</a:t>
            </a:r>
            <a:r>
              <a:rPr lang="en-US" dirty="0" smtClean="0"/>
              <a:t> de </a:t>
            </a:r>
            <a:r>
              <a:rPr lang="en-US" dirty="0" err="1" smtClean="0"/>
              <a:t>funcţii</a:t>
            </a:r>
            <a:r>
              <a:rPr lang="en-US" dirty="0" smtClean="0"/>
              <a:t>			</a:t>
            </a:r>
          </a:p>
          <a:p>
            <a:pPr marL="1257300" lvl="2" indent="-342900">
              <a:buFont typeface="Arial" pitchFamily="34" charset="0"/>
              <a:buChar char="•"/>
            </a:pPr>
            <a:r>
              <a:rPr lang="en-US" dirty="0" smtClean="0"/>
              <a:t>Borne de </a:t>
            </a:r>
            <a:r>
              <a:rPr lang="en-US" dirty="0" err="1" smtClean="0"/>
              <a:t>acces</a:t>
            </a:r>
            <a:endParaRPr lang="en-US" dirty="0" smtClean="0"/>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2667000" cy="685800"/>
          </a:xfrm>
        </p:spPr>
        <p:txBody>
          <a:bodyPr>
            <a:normAutofit fontScale="90000"/>
          </a:bodyPr>
          <a:lstStyle/>
          <a:p>
            <a:r>
              <a:rPr lang="en-US" dirty="0" err="1" smtClean="0"/>
              <a:t>Multimetrele</a:t>
            </a:r>
            <a:r>
              <a:rPr lang="en-US" dirty="0" smtClean="0"/>
              <a:t> </a:t>
            </a:r>
            <a:r>
              <a:rPr lang="en-US" dirty="0" err="1" smtClean="0"/>
              <a:t>analogice</a:t>
            </a:r>
            <a:r>
              <a:rPr lang="en-US" dirty="0" smtClean="0"/>
              <a:t> </a:t>
            </a:r>
            <a:br>
              <a:rPr lang="en-US" dirty="0" smtClean="0"/>
            </a:br>
            <a:endParaRPr lang="en-US" dirty="0"/>
          </a:p>
        </p:txBody>
      </p:sp>
      <p:pic>
        <p:nvPicPr>
          <p:cNvPr id="5" name="Content Placeholder 4" descr="kep2.jpeg"/>
          <p:cNvPicPr>
            <a:picLocks noGrp="1" noChangeAspect="1"/>
          </p:cNvPicPr>
          <p:nvPr>
            <p:ph idx="1"/>
          </p:nvPr>
        </p:nvPicPr>
        <p:blipFill>
          <a:blip r:embed="rId3" cstate="print"/>
          <a:stretch>
            <a:fillRect/>
          </a:stretch>
        </p:blipFill>
        <p:spPr>
          <a:xfrm>
            <a:off x="4191001" y="609600"/>
            <a:ext cx="3914868" cy="6248400"/>
          </a:xfrm>
        </p:spPr>
      </p:pic>
      <p:sp>
        <p:nvSpPr>
          <p:cNvPr id="4" name="Text Placeholder 3"/>
          <p:cNvSpPr>
            <a:spLocks noGrp="1"/>
          </p:cNvSpPr>
          <p:nvPr>
            <p:ph type="body" sz="half" idx="2"/>
          </p:nvPr>
        </p:nvSpPr>
        <p:spPr>
          <a:xfrm>
            <a:off x="533400" y="1066801"/>
            <a:ext cx="3733800" cy="4800600"/>
          </a:xfrm>
        </p:spPr>
        <p:txBody>
          <a:bodyPr>
            <a:normAutofit/>
          </a:bodyPr>
          <a:lstStyle/>
          <a:p>
            <a:pPr lvl="0"/>
            <a:r>
              <a:rPr lang="en-US" sz="1300" dirty="0" smtClean="0">
                <a:solidFill>
                  <a:srgbClr val="00B0F0"/>
                </a:solidFill>
              </a:rPr>
              <a:t>Au ca </a:t>
            </a:r>
            <a:r>
              <a:rPr lang="en-US" sz="1300" dirty="0" err="1" smtClean="0">
                <a:solidFill>
                  <a:srgbClr val="00B0F0"/>
                </a:solidFill>
              </a:rPr>
              <a:t>dispozitiv</a:t>
            </a:r>
            <a:r>
              <a:rPr lang="en-US" sz="1300" dirty="0" smtClean="0">
                <a:solidFill>
                  <a:srgbClr val="00B0F0"/>
                </a:solidFill>
              </a:rPr>
              <a:t> de </a:t>
            </a:r>
            <a:r>
              <a:rPr lang="en-US" sz="1300" dirty="0" err="1" smtClean="0">
                <a:solidFill>
                  <a:srgbClr val="00B0F0"/>
                </a:solidFill>
              </a:rPr>
              <a:t>indicare</a:t>
            </a:r>
            <a:r>
              <a:rPr lang="en-US" sz="1300" dirty="0" smtClean="0">
                <a:solidFill>
                  <a:srgbClr val="00B0F0"/>
                </a:solidFill>
              </a:rPr>
              <a:t> </a:t>
            </a:r>
            <a:r>
              <a:rPr lang="en-US" sz="1300" dirty="0" err="1" smtClean="0">
                <a:solidFill>
                  <a:srgbClr val="00B0F0"/>
                </a:solidFill>
              </a:rPr>
              <a:t>dispozitivul</a:t>
            </a:r>
            <a:r>
              <a:rPr lang="en-US" sz="1300" dirty="0" smtClean="0">
                <a:solidFill>
                  <a:srgbClr val="00B0F0"/>
                </a:solidFill>
              </a:rPr>
              <a:t> </a:t>
            </a:r>
            <a:r>
              <a:rPr lang="en-US" sz="1300" dirty="0" err="1" smtClean="0">
                <a:solidFill>
                  <a:srgbClr val="00B0F0"/>
                </a:solidFill>
              </a:rPr>
              <a:t>magnetoelectric</a:t>
            </a:r>
            <a:r>
              <a:rPr lang="en-US" sz="1300" dirty="0" smtClean="0">
                <a:solidFill>
                  <a:srgbClr val="00B0F0"/>
                </a:solidFill>
              </a:rPr>
              <a:t>, </a:t>
            </a:r>
            <a:r>
              <a:rPr lang="en-US" sz="1300" dirty="0" err="1" smtClean="0">
                <a:solidFill>
                  <a:srgbClr val="00B0F0"/>
                </a:solidFill>
              </a:rPr>
              <a:t>căruia</a:t>
            </a:r>
            <a:r>
              <a:rPr lang="en-US" sz="1300" dirty="0" smtClean="0">
                <a:solidFill>
                  <a:srgbClr val="00B0F0"/>
                </a:solidFill>
              </a:rPr>
              <a:t> </a:t>
            </a:r>
            <a:r>
              <a:rPr lang="en-US" sz="1300" dirty="0" err="1" smtClean="0">
                <a:solidFill>
                  <a:srgbClr val="00B0F0"/>
                </a:solidFill>
              </a:rPr>
              <a:t>în</a:t>
            </a:r>
            <a:r>
              <a:rPr lang="en-US" sz="1300" dirty="0" smtClean="0">
                <a:solidFill>
                  <a:srgbClr val="00B0F0"/>
                </a:solidFill>
              </a:rPr>
              <a:t> </a:t>
            </a:r>
            <a:r>
              <a:rPr lang="en-US" sz="1300" dirty="0" err="1" smtClean="0">
                <a:solidFill>
                  <a:srgbClr val="00B0F0"/>
                </a:solidFill>
              </a:rPr>
              <a:t>curent</a:t>
            </a:r>
            <a:r>
              <a:rPr lang="en-US" sz="1300" dirty="0" smtClean="0">
                <a:solidFill>
                  <a:srgbClr val="00B0F0"/>
                </a:solidFill>
              </a:rPr>
              <a:t> </a:t>
            </a:r>
            <a:r>
              <a:rPr lang="en-US" sz="1300" dirty="0" err="1" smtClean="0">
                <a:solidFill>
                  <a:srgbClr val="00B0F0"/>
                </a:solidFill>
              </a:rPr>
              <a:t>alternativ</a:t>
            </a:r>
            <a:r>
              <a:rPr lang="en-US" sz="1300" dirty="0" smtClean="0">
                <a:solidFill>
                  <a:srgbClr val="00B0F0"/>
                </a:solidFill>
              </a:rPr>
              <a:t>, </a:t>
            </a:r>
            <a:r>
              <a:rPr lang="en-US" sz="1300" dirty="0" err="1" smtClean="0">
                <a:solidFill>
                  <a:srgbClr val="00B0F0"/>
                </a:solidFill>
              </a:rPr>
              <a:t>i</a:t>
            </a:r>
            <a:r>
              <a:rPr lang="en-US" sz="1300" dirty="0" smtClean="0">
                <a:solidFill>
                  <a:srgbClr val="00B0F0"/>
                </a:solidFill>
              </a:rPr>
              <a:t> se </a:t>
            </a:r>
            <a:r>
              <a:rPr lang="en-US" sz="1300" dirty="0" err="1" smtClean="0">
                <a:solidFill>
                  <a:srgbClr val="00B0F0"/>
                </a:solidFill>
              </a:rPr>
              <a:t>cuplează</a:t>
            </a:r>
            <a:r>
              <a:rPr lang="en-US" sz="1300" dirty="0" smtClean="0">
                <a:solidFill>
                  <a:srgbClr val="00B0F0"/>
                </a:solidFill>
              </a:rPr>
              <a:t> un </a:t>
            </a:r>
            <a:r>
              <a:rPr lang="en-US" sz="1300" dirty="0" err="1" smtClean="0">
                <a:solidFill>
                  <a:srgbClr val="00B0F0"/>
                </a:solidFill>
              </a:rPr>
              <a:t>redresor</a:t>
            </a:r>
            <a:endParaRPr lang="ro-RO" sz="1300" dirty="0" smtClean="0">
              <a:solidFill>
                <a:srgbClr val="00B0F0"/>
              </a:solidFill>
            </a:endParaRPr>
          </a:p>
          <a:p>
            <a:pPr lvl="0"/>
            <a:endParaRPr lang="en-US" sz="1300" dirty="0" smtClean="0"/>
          </a:p>
          <a:p>
            <a:r>
              <a:rPr lang="en-US" sz="1300" dirty="0" err="1" smtClean="0">
                <a:solidFill>
                  <a:srgbClr val="7030A0"/>
                </a:solidFill>
              </a:rPr>
              <a:t>Pe</a:t>
            </a:r>
            <a:r>
              <a:rPr lang="en-US" sz="1300" dirty="0" smtClean="0">
                <a:solidFill>
                  <a:srgbClr val="7030A0"/>
                </a:solidFill>
              </a:rPr>
              <a:t> </a:t>
            </a:r>
            <a:r>
              <a:rPr lang="en-US" sz="1300" dirty="0" err="1" smtClean="0">
                <a:solidFill>
                  <a:srgbClr val="7030A0"/>
                </a:solidFill>
              </a:rPr>
              <a:t>cadranul</a:t>
            </a:r>
            <a:r>
              <a:rPr lang="en-US" sz="1300" dirty="0" smtClean="0">
                <a:solidFill>
                  <a:srgbClr val="7030A0"/>
                </a:solidFill>
              </a:rPr>
              <a:t> </a:t>
            </a:r>
            <a:r>
              <a:rPr lang="en-US" sz="1300" dirty="0" err="1" smtClean="0">
                <a:solidFill>
                  <a:srgbClr val="7030A0"/>
                </a:solidFill>
              </a:rPr>
              <a:t>aparatului</a:t>
            </a:r>
            <a:r>
              <a:rPr lang="en-US" sz="1300" dirty="0" smtClean="0">
                <a:solidFill>
                  <a:srgbClr val="7030A0"/>
                </a:solidFill>
              </a:rPr>
              <a:t> </a:t>
            </a:r>
            <a:r>
              <a:rPr lang="en-US" sz="1300" dirty="0" err="1" smtClean="0">
                <a:solidFill>
                  <a:srgbClr val="7030A0"/>
                </a:solidFill>
              </a:rPr>
              <a:t>sunt</a:t>
            </a:r>
            <a:r>
              <a:rPr lang="en-US" sz="1300" dirty="0" smtClean="0">
                <a:solidFill>
                  <a:srgbClr val="7030A0"/>
                </a:solidFill>
              </a:rPr>
              <a:t> </a:t>
            </a:r>
            <a:r>
              <a:rPr lang="en-US" sz="1300" dirty="0" err="1" smtClean="0">
                <a:solidFill>
                  <a:srgbClr val="7030A0"/>
                </a:solidFill>
              </a:rPr>
              <a:t>inscripţionate</a:t>
            </a:r>
            <a:r>
              <a:rPr lang="en-US" sz="1300" dirty="0" smtClean="0">
                <a:solidFill>
                  <a:srgbClr val="7030A0"/>
                </a:solidFill>
              </a:rPr>
              <a:t>:</a:t>
            </a:r>
          </a:p>
          <a:p>
            <a:pPr lvl="1">
              <a:buFont typeface="Arial" pitchFamily="34" charset="0"/>
              <a:buChar char="•"/>
            </a:pPr>
            <a:r>
              <a:rPr lang="en-US" sz="1300" dirty="0" err="1" smtClean="0">
                <a:solidFill>
                  <a:srgbClr val="7030A0"/>
                </a:solidFill>
              </a:rPr>
              <a:t>Poziţia</a:t>
            </a:r>
            <a:r>
              <a:rPr lang="en-US" sz="1300" dirty="0" smtClean="0">
                <a:solidFill>
                  <a:srgbClr val="7030A0"/>
                </a:solidFill>
              </a:rPr>
              <a:t> de </a:t>
            </a:r>
            <a:r>
              <a:rPr lang="en-US" sz="1300" dirty="0" err="1" smtClean="0">
                <a:solidFill>
                  <a:srgbClr val="7030A0"/>
                </a:solidFill>
              </a:rPr>
              <a:t>funcţionare</a:t>
            </a:r>
            <a:r>
              <a:rPr lang="en-US" sz="1300" dirty="0" smtClean="0">
                <a:solidFill>
                  <a:srgbClr val="7030A0"/>
                </a:solidFill>
              </a:rPr>
              <a:t> a </a:t>
            </a:r>
            <a:r>
              <a:rPr lang="en-US" sz="1300" dirty="0" err="1" smtClean="0">
                <a:solidFill>
                  <a:srgbClr val="7030A0"/>
                </a:solidFill>
              </a:rPr>
              <a:t>aparatului</a:t>
            </a:r>
            <a:r>
              <a:rPr lang="en-US" sz="1300" dirty="0" smtClean="0">
                <a:solidFill>
                  <a:srgbClr val="7030A0"/>
                </a:solidFill>
              </a:rPr>
              <a:t> (</a:t>
            </a:r>
            <a:r>
              <a:rPr lang="en-US" sz="1300" dirty="0" err="1" smtClean="0">
                <a:solidFill>
                  <a:srgbClr val="7030A0"/>
                </a:solidFill>
              </a:rPr>
              <a:t>pe</a:t>
            </a:r>
            <a:r>
              <a:rPr lang="en-US" sz="1300" dirty="0" smtClean="0">
                <a:solidFill>
                  <a:srgbClr val="7030A0"/>
                </a:solidFill>
              </a:rPr>
              <a:t> fig. </a:t>
            </a:r>
            <a:r>
              <a:rPr lang="en-US" sz="1300" dirty="0" err="1" smtClean="0">
                <a:solidFill>
                  <a:srgbClr val="7030A0"/>
                </a:solidFill>
              </a:rPr>
              <a:t>orizontală</a:t>
            </a:r>
            <a:r>
              <a:rPr lang="en-US" sz="1300" dirty="0" smtClean="0">
                <a:solidFill>
                  <a:srgbClr val="7030A0"/>
                </a:solidFill>
              </a:rPr>
              <a:t>)</a:t>
            </a:r>
          </a:p>
          <a:p>
            <a:pPr lvl="1">
              <a:buFont typeface="Arial" pitchFamily="34" charset="0"/>
              <a:buChar char="•"/>
            </a:pPr>
            <a:r>
              <a:rPr lang="en-US" sz="1300" dirty="0" err="1" smtClean="0">
                <a:solidFill>
                  <a:srgbClr val="7030A0"/>
                </a:solidFill>
              </a:rPr>
              <a:t>Funţionarea</a:t>
            </a:r>
            <a:r>
              <a:rPr lang="en-US" sz="1300" dirty="0" smtClean="0">
                <a:solidFill>
                  <a:srgbClr val="7030A0"/>
                </a:solidFill>
              </a:rPr>
              <a:t> </a:t>
            </a:r>
            <a:r>
              <a:rPr lang="en-US" sz="1300" dirty="0" err="1" smtClean="0">
                <a:solidFill>
                  <a:srgbClr val="7030A0"/>
                </a:solidFill>
              </a:rPr>
              <a:t>în</a:t>
            </a:r>
            <a:r>
              <a:rPr lang="en-US" sz="1300" dirty="0" smtClean="0">
                <a:solidFill>
                  <a:srgbClr val="7030A0"/>
                </a:solidFill>
              </a:rPr>
              <a:t> </a:t>
            </a:r>
            <a:r>
              <a:rPr lang="en-US" sz="1300" dirty="0" err="1" smtClean="0">
                <a:solidFill>
                  <a:srgbClr val="7030A0"/>
                </a:solidFill>
              </a:rPr>
              <a:t>curent</a:t>
            </a:r>
            <a:r>
              <a:rPr lang="en-US" sz="1300" dirty="0" smtClean="0">
                <a:solidFill>
                  <a:srgbClr val="7030A0"/>
                </a:solidFill>
              </a:rPr>
              <a:t> </a:t>
            </a:r>
            <a:r>
              <a:rPr lang="en-US" sz="1300" dirty="0" err="1" smtClean="0">
                <a:solidFill>
                  <a:srgbClr val="7030A0"/>
                </a:solidFill>
              </a:rPr>
              <a:t>continuu</a:t>
            </a:r>
            <a:r>
              <a:rPr lang="en-US" sz="1300" dirty="0" smtClean="0">
                <a:solidFill>
                  <a:srgbClr val="7030A0"/>
                </a:solidFill>
              </a:rPr>
              <a:t> </a:t>
            </a:r>
            <a:r>
              <a:rPr lang="en-US" sz="1300" dirty="0" err="1" smtClean="0">
                <a:solidFill>
                  <a:srgbClr val="7030A0"/>
                </a:solidFill>
              </a:rPr>
              <a:t>şi</a:t>
            </a:r>
            <a:r>
              <a:rPr lang="en-US" sz="1300" dirty="0" smtClean="0">
                <a:solidFill>
                  <a:srgbClr val="7030A0"/>
                </a:solidFill>
              </a:rPr>
              <a:t> </a:t>
            </a:r>
            <a:r>
              <a:rPr lang="en-US" sz="1300" dirty="0" err="1" smtClean="0">
                <a:solidFill>
                  <a:srgbClr val="7030A0"/>
                </a:solidFill>
              </a:rPr>
              <a:t>alternativ</a:t>
            </a:r>
            <a:endParaRPr lang="en-US" sz="1300" dirty="0" smtClean="0">
              <a:solidFill>
                <a:srgbClr val="7030A0"/>
              </a:solidFill>
            </a:endParaRPr>
          </a:p>
          <a:p>
            <a:pPr lvl="1">
              <a:buFont typeface="Arial" pitchFamily="34" charset="0"/>
              <a:buChar char="•"/>
            </a:pPr>
            <a:r>
              <a:rPr lang="en-US" sz="1300" dirty="0" err="1" smtClean="0">
                <a:solidFill>
                  <a:srgbClr val="7030A0"/>
                </a:solidFill>
              </a:rPr>
              <a:t>Felul</a:t>
            </a:r>
            <a:r>
              <a:rPr lang="en-US" sz="1300" dirty="0" smtClean="0">
                <a:solidFill>
                  <a:srgbClr val="7030A0"/>
                </a:solidFill>
              </a:rPr>
              <a:t> </a:t>
            </a:r>
            <a:r>
              <a:rPr lang="en-US" sz="1300" dirty="0" err="1" smtClean="0">
                <a:solidFill>
                  <a:srgbClr val="7030A0"/>
                </a:solidFill>
              </a:rPr>
              <a:t>dispozitivul</a:t>
            </a:r>
            <a:r>
              <a:rPr lang="ro-RO" sz="1300" dirty="0" smtClean="0">
                <a:solidFill>
                  <a:srgbClr val="7030A0"/>
                </a:solidFill>
              </a:rPr>
              <a:t>u</a:t>
            </a:r>
            <a:r>
              <a:rPr lang="en-US" sz="1300" dirty="0" err="1" smtClean="0">
                <a:solidFill>
                  <a:srgbClr val="7030A0"/>
                </a:solidFill>
              </a:rPr>
              <a:t>i</a:t>
            </a:r>
            <a:r>
              <a:rPr lang="en-US" sz="1300" dirty="0" smtClean="0">
                <a:solidFill>
                  <a:srgbClr val="7030A0"/>
                </a:solidFill>
              </a:rPr>
              <a:t> </a:t>
            </a:r>
            <a:r>
              <a:rPr lang="en-US" sz="1300" dirty="0" err="1" smtClean="0">
                <a:solidFill>
                  <a:srgbClr val="7030A0"/>
                </a:solidFill>
              </a:rPr>
              <a:t>analogic</a:t>
            </a:r>
            <a:r>
              <a:rPr lang="en-US" sz="1300" dirty="0" smtClean="0">
                <a:solidFill>
                  <a:srgbClr val="7030A0"/>
                </a:solidFill>
              </a:rPr>
              <a:t> (</a:t>
            </a:r>
            <a:r>
              <a:rPr lang="en-US" sz="1300" dirty="0" err="1" smtClean="0">
                <a:solidFill>
                  <a:srgbClr val="7030A0"/>
                </a:solidFill>
              </a:rPr>
              <a:t>magnetoelectric</a:t>
            </a:r>
            <a:r>
              <a:rPr lang="en-US" sz="1300" dirty="0" smtClean="0">
                <a:solidFill>
                  <a:srgbClr val="7030A0"/>
                </a:solidFill>
              </a:rPr>
              <a:t>)</a:t>
            </a:r>
          </a:p>
          <a:p>
            <a:pPr lvl="1">
              <a:buFont typeface="Arial" pitchFamily="34" charset="0"/>
              <a:buChar char="•"/>
            </a:pPr>
            <a:r>
              <a:rPr lang="en-US" sz="1300" dirty="0" err="1" smtClean="0">
                <a:solidFill>
                  <a:srgbClr val="7030A0"/>
                </a:solidFill>
              </a:rPr>
              <a:t>Clasa</a:t>
            </a:r>
            <a:r>
              <a:rPr lang="en-US" sz="1300" dirty="0" smtClean="0">
                <a:solidFill>
                  <a:srgbClr val="7030A0"/>
                </a:solidFill>
              </a:rPr>
              <a:t> de </a:t>
            </a:r>
            <a:r>
              <a:rPr lang="en-US" sz="1300" dirty="0" err="1" smtClean="0">
                <a:solidFill>
                  <a:srgbClr val="7030A0"/>
                </a:solidFill>
              </a:rPr>
              <a:t>exactitate</a:t>
            </a:r>
            <a:r>
              <a:rPr lang="en-US" sz="1300" dirty="0" smtClean="0">
                <a:solidFill>
                  <a:srgbClr val="7030A0"/>
                </a:solidFill>
              </a:rPr>
              <a:t> (1; 1,5)</a:t>
            </a:r>
          </a:p>
          <a:p>
            <a:pPr lvl="1">
              <a:buFont typeface="Arial" pitchFamily="34" charset="0"/>
              <a:buChar char="•"/>
            </a:pPr>
            <a:r>
              <a:rPr lang="ro-RO" sz="1300" dirty="0" smtClean="0">
                <a:solidFill>
                  <a:srgbClr val="7030A0"/>
                </a:solidFill>
              </a:rPr>
              <a:t>Tensiunea de încercare dielectrică (500V)</a:t>
            </a:r>
            <a:endParaRPr lang="en-US" sz="1300" dirty="0" smtClean="0">
              <a:solidFill>
                <a:srgbClr val="7030A0"/>
              </a:solidFill>
            </a:endParaRPr>
          </a:p>
          <a:p>
            <a:r>
              <a:rPr lang="ro-RO" sz="1300" dirty="0" smtClean="0">
                <a:solidFill>
                  <a:schemeClr val="tx2">
                    <a:lumMod val="60000"/>
                    <a:lumOff val="40000"/>
                  </a:schemeClr>
                </a:solidFill>
              </a:rPr>
              <a:t>Scara aparatului în faţa căruia se deplasează un ac indicator este :</a:t>
            </a:r>
            <a:endParaRPr lang="en-US" sz="1300" dirty="0" smtClean="0">
              <a:solidFill>
                <a:schemeClr val="tx2">
                  <a:lumMod val="60000"/>
                  <a:lumOff val="40000"/>
                </a:schemeClr>
              </a:solidFill>
            </a:endParaRPr>
          </a:p>
          <a:p>
            <a:pPr>
              <a:buFont typeface="Arial" pitchFamily="34" charset="0"/>
              <a:buChar char="•"/>
            </a:pPr>
            <a:r>
              <a:rPr lang="ro-RO" sz="1300" dirty="0" smtClean="0">
                <a:solidFill>
                  <a:schemeClr val="tx2">
                    <a:lumMod val="60000"/>
                    <a:lumOff val="40000"/>
                  </a:schemeClr>
                </a:solidFill>
              </a:rPr>
              <a:t>liniară pentru tensiuni şi curenţi, </a:t>
            </a:r>
            <a:endParaRPr lang="en-US" sz="1300" dirty="0" smtClean="0">
              <a:solidFill>
                <a:schemeClr val="tx2">
                  <a:lumMod val="60000"/>
                  <a:lumOff val="40000"/>
                </a:schemeClr>
              </a:solidFill>
            </a:endParaRPr>
          </a:p>
          <a:p>
            <a:pPr>
              <a:buFont typeface="Arial" pitchFamily="34" charset="0"/>
              <a:buChar char="•"/>
            </a:pPr>
            <a:r>
              <a:rPr lang="ro-RO" sz="1300" dirty="0" smtClean="0">
                <a:solidFill>
                  <a:schemeClr val="tx2">
                    <a:lumMod val="60000"/>
                    <a:lumOff val="40000"/>
                  </a:schemeClr>
                </a:solidFill>
              </a:rPr>
              <a:t>neuniformă pentru indicarea valorilor rezistenţelor electrice </a:t>
            </a:r>
            <a:endParaRPr lang="en-US" sz="1300" dirty="0" smtClean="0">
              <a:solidFill>
                <a:schemeClr val="tx2">
                  <a:lumMod val="60000"/>
                  <a:lumOff val="40000"/>
                </a:schemeClr>
              </a:solidFill>
            </a:endParaRPr>
          </a:p>
          <a:p>
            <a:r>
              <a:rPr lang="ro-RO" sz="1300" dirty="0" smtClean="0">
                <a:solidFill>
                  <a:schemeClr val="tx2">
                    <a:lumMod val="60000"/>
                    <a:lumOff val="40000"/>
                  </a:schemeClr>
                </a:solidFill>
              </a:rPr>
              <a:t>	pentru Ω – scară inversă</a:t>
            </a:r>
            <a:endParaRPr lang="en-US" sz="1300" dirty="0" smtClean="0">
              <a:solidFill>
                <a:schemeClr val="tx2">
                  <a:lumMod val="60000"/>
                  <a:lumOff val="40000"/>
                </a:schemeClr>
              </a:solidFill>
            </a:endParaRPr>
          </a:p>
          <a:p>
            <a:r>
              <a:rPr lang="ro-RO" sz="1300" dirty="0" smtClean="0">
                <a:solidFill>
                  <a:schemeClr val="tx2">
                    <a:lumMod val="60000"/>
                    <a:lumOff val="40000"/>
                  </a:schemeClr>
                </a:solidFill>
              </a:rPr>
              <a:t>	pentru DΩ (derivaţie) –   scara nu este inversă</a:t>
            </a:r>
            <a:endParaRPr lang="en-US" sz="1300" dirty="0" smtClean="0">
              <a:solidFill>
                <a:schemeClr val="tx2">
                  <a:lumMod val="60000"/>
                  <a:lumOff val="40000"/>
                </a:schemeClr>
              </a:solidFill>
            </a:endParaRPr>
          </a:p>
          <a:p>
            <a:endParaRPr lang="en-US" sz="2000" kern="1200" dirty="0">
              <a:solidFill>
                <a:schemeClr val="tx1"/>
              </a:solidFill>
              <a:latin typeface="+mn-lt"/>
              <a:ea typeface="+mn-ea"/>
              <a:cs typeface="+mn-cs"/>
            </a:endParaRPr>
          </a:p>
        </p:txBody>
      </p:sp>
      <p:sp>
        <p:nvSpPr>
          <p:cNvPr id="7" name="TextBox 6"/>
          <p:cNvSpPr txBox="1"/>
          <p:nvPr/>
        </p:nvSpPr>
        <p:spPr>
          <a:xfrm>
            <a:off x="4495800" y="838201"/>
            <a:ext cx="2819400" cy="646331"/>
          </a:xfrm>
          <a:prstGeom prst="rect">
            <a:avLst/>
          </a:prstGeom>
          <a:noFill/>
        </p:spPr>
        <p:txBody>
          <a:bodyPr wrap="square" rtlCol="0">
            <a:spAutoFit/>
          </a:bodyPr>
          <a:lstStyle/>
          <a:p>
            <a:r>
              <a:rPr lang="en-US" dirty="0" err="1" smtClean="0"/>
              <a:t>Dispozitiv</a:t>
            </a:r>
            <a:r>
              <a:rPr lang="en-US" dirty="0" smtClean="0"/>
              <a:t> de </a:t>
            </a:r>
            <a:r>
              <a:rPr lang="en-US" dirty="0" err="1" smtClean="0"/>
              <a:t>indicare</a:t>
            </a:r>
            <a:endParaRPr lang="en-US" dirty="0" smtClean="0"/>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447800"/>
            <a:ext cx="8686800" cy="990600"/>
          </a:xfrm>
        </p:spPr>
        <p:txBody>
          <a:bodyPr>
            <a:noAutofit/>
          </a:bodyPr>
          <a:lstStyle/>
          <a:p>
            <a:pPr lvl="0" algn="r"/>
            <a:r>
              <a:rPr lang="en-US" sz="2000" dirty="0" smtClean="0"/>
              <a:t/>
            </a:r>
            <a:br>
              <a:rPr lang="en-US" sz="2000" dirty="0" smtClean="0"/>
            </a:br>
            <a:r>
              <a:rPr lang="ro-RO" sz="1800" dirty="0" smtClean="0">
                <a:solidFill>
                  <a:schemeClr val="accent4">
                    <a:lumMod val="75000"/>
                  </a:schemeClr>
                </a:solidFill>
              </a:rPr>
              <a:t>Selectarea mărimii şi domeniului de măsurare se face cu ajutorul unui comutator de funţii </a:t>
            </a:r>
            <a:r>
              <a:rPr lang="en-US" sz="1800" dirty="0" smtClean="0"/>
              <a:t/>
            </a:r>
            <a:br>
              <a:rPr lang="en-US" sz="1800" dirty="0" smtClean="0"/>
            </a:br>
            <a:r>
              <a:rPr lang="en-US" sz="1800" dirty="0" err="1" smtClean="0"/>
              <a:t>Prin</a:t>
            </a:r>
            <a:r>
              <a:rPr lang="en-US" sz="1800" dirty="0" smtClean="0"/>
              <a:t> </a:t>
            </a:r>
            <a:r>
              <a:rPr lang="en-US" sz="1800" dirty="0" err="1" smtClean="0"/>
              <a:t>intermediul</a:t>
            </a:r>
            <a:r>
              <a:rPr lang="en-US" sz="1800" dirty="0" smtClean="0"/>
              <a:t> </a:t>
            </a:r>
            <a:r>
              <a:rPr lang="en-US" sz="1800" dirty="0" err="1" smtClean="0"/>
              <a:t>unor</a:t>
            </a:r>
            <a:r>
              <a:rPr lang="en-US" sz="1800" dirty="0" smtClean="0"/>
              <a:t> </a:t>
            </a:r>
            <a:r>
              <a:rPr lang="en-US" sz="1800" dirty="0" err="1" smtClean="0"/>
              <a:t>rezistenţe</a:t>
            </a:r>
            <a:r>
              <a:rPr lang="en-US" sz="1800" dirty="0" smtClean="0"/>
              <a:t> </a:t>
            </a:r>
            <a:r>
              <a:rPr lang="en-US" sz="1800" dirty="0" err="1" smtClean="0"/>
              <a:t>adiţionale</a:t>
            </a:r>
            <a:r>
              <a:rPr lang="en-US" sz="1800" dirty="0" smtClean="0"/>
              <a:t> </a:t>
            </a:r>
            <a:r>
              <a:rPr lang="en-US" sz="1800" dirty="0" err="1" smtClean="0"/>
              <a:t>şi</a:t>
            </a:r>
            <a:r>
              <a:rPr lang="en-US" sz="1800" dirty="0" smtClean="0"/>
              <a:t> </a:t>
            </a:r>
            <a:r>
              <a:rPr lang="en-US" sz="1800" dirty="0" err="1" smtClean="0"/>
              <a:t>unor</a:t>
            </a:r>
            <a:r>
              <a:rPr lang="en-US" sz="1800" dirty="0" smtClean="0"/>
              <a:t> </a:t>
            </a:r>
            <a:r>
              <a:rPr lang="en-US" sz="1800" dirty="0" err="1" smtClean="0"/>
              <a:t>şunturi</a:t>
            </a:r>
            <a:r>
              <a:rPr lang="en-US" sz="1800" dirty="0" smtClean="0"/>
              <a:t> (</a:t>
            </a:r>
            <a:r>
              <a:rPr lang="en-US" sz="1800" dirty="0" err="1" smtClean="0"/>
              <a:t>montate</a:t>
            </a:r>
            <a:r>
              <a:rPr lang="en-US" sz="1800" dirty="0" smtClean="0"/>
              <a:t> </a:t>
            </a:r>
            <a:r>
              <a:rPr lang="en-US" sz="1800" dirty="0" err="1" smtClean="0"/>
              <a:t>în</a:t>
            </a:r>
            <a:r>
              <a:rPr lang="en-US" sz="1800" dirty="0" smtClean="0"/>
              <a:t> </a:t>
            </a:r>
            <a:r>
              <a:rPr lang="en-US" sz="1800" dirty="0" err="1" smtClean="0"/>
              <a:t>serie</a:t>
            </a:r>
            <a:r>
              <a:rPr lang="en-US" sz="1800" dirty="0" smtClean="0"/>
              <a:t>, </a:t>
            </a:r>
            <a:r>
              <a:rPr lang="en-US" sz="1800" dirty="0" err="1" smtClean="0"/>
              <a:t>resp</a:t>
            </a:r>
            <a:r>
              <a:rPr lang="ro-RO" sz="1800" dirty="0" smtClean="0"/>
              <a:t>ectiv</a:t>
            </a:r>
            <a:r>
              <a:rPr lang="en-US" sz="1800" dirty="0" smtClean="0"/>
              <a:t> </a:t>
            </a:r>
            <a:r>
              <a:rPr lang="en-US" sz="1800" dirty="0" err="1" smtClean="0"/>
              <a:t>paralel</a:t>
            </a:r>
            <a:r>
              <a:rPr lang="en-US" sz="1800" dirty="0" smtClean="0"/>
              <a:t>), </a:t>
            </a:r>
            <a:r>
              <a:rPr lang="en-US" sz="1800" dirty="0" err="1" smtClean="0"/>
              <a:t>aparatul</a:t>
            </a:r>
            <a:r>
              <a:rPr lang="en-US" sz="1800" dirty="0" smtClean="0"/>
              <a:t> </a:t>
            </a:r>
            <a:r>
              <a:rPr lang="en-US" sz="1800" dirty="0" err="1" smtClean="0"/>
              <a:t>poate</a:t>
            </a:r>
            <a:r>
              <a:rPr lang="en-US" sz="1800" dirty="0" smtClean="0"/>
              <a:t> </a:t>
            </a:r>
            <a:r>
              <a:rPr lang="en-US" sz="1800" dirty="0" err="1" smtClean="0"/>
              <a:t>măsura</a:t>
            </a:r>
            <a:r>
              <a:rPr lang="en-US" sz="1800" dirty="0" smtClean="0"/>
              <a:t> </a:t>
            </a:r>
            <a:r>
              <a:rPr lang="en-US" sz="1800" dirty="0" err="1" smtClean="0"/>
              <a:t>mărimi</a:t>
            </a:r>
            <a:r>
              <a:rPr lang="en-US" sz="1800" dirty="0" smtClean="0"/>
              <a:t> </a:t>
            </a:r>
            <a:r>
              <a:rPr lang="en-US" sz="1800" dirty="0" err="1" smtClean="0"/>
              <a:t>electrice</a:t>
            </a:r>
            <a:r>
              <a:rPr lang="en-US" sz="1800" dirty="0" smtClean="0"/>
              <a:t> conform </a:t>
            </a:r>
            <a:r>
              <a:rPr lang="en-US" sz="1800" dirty="0" err="1" smtClean="0"/>
              <a:t>tabelului</a:t>
            </a:r>
            <a:r>
              <a:rPr lang="en-US" sz="1800" dirty="0" smtClean="0"/>
              <a:t>.</a:t>
            </a:r>
            <a:br>
              <a:rPr lang="en-US" sz="1800" dirty="0" smtClean="0"/>
            </a:br>
            <a:r>
              <a:rPr lang="en-US" sz="2000" dirty="0" smtClean="0"/>
              <a:t/>
            </a:r>
            <a:br>
              <a:rPr lang="en-US" sz="2000" dirty="0" smtClean="0"/>
            </a:br>
            <a:endParaRPr lang="en-US" sz="2000" dirty="0"/>
          </a:p>
        </p:txBody>
      </p:sp>
      <p:pic>
        <p:nvPicPr>
          <p:cNvPr id="1028" name="Picture 4"/>
          <p:cNvPicPr>
            <a:picLocks noGrp="1" noChangeAspect="1" noChangeArrowheads="1"/>
          </p:cNvPicPr>
          <p:nvPr>
            <p:ph idx="1"/>
          </p:nvPr>
        </p:nvPicPr>
        <p:blipFill>
          <a:blip r:embed="rId3" cstate="print"/>
          <a:srcRect/>
          <a:stretch>
            <a:fillRect/>
          </a:stretch>
        </p:blipFill>
        <p:spPr bwMode="auto">
          <a:xfrm rot="150871">
            <a:off x="303878" y="2588967"/>
            <a:ext cx="8525719" cy="3618796"/>
          </a:xfrm>
          <a:prstGeom prst="rect">
            <a:avLst/>
          </a:prstGeom>
          <a:noFill/>
          <a:ln w="9525">
            <a:noFill/>
            <a:miter lim="800000"/>
            <a:headEnd/>
            <a:tailEnd/>
          </a:ln>
          <a:effectLst/>
        </p:spPr>
      </p:pic>
      <p:sp>
        <p:nvSpPr>
          <p:cNvPr id="6" name="TextBox 5"/>
          <p:cNvSpPr txBox="1"/>
          <p:nvPr/>
        </p:nvSpPr>
        <p:spPr>
          <a:xfrm>
            <a:off x="914400" y="685800"/>
            <a:ext cx="5486400" cy="369332"/>
          </a:xfrm>
          <a:prstGeom prst="rect">
            <a:avLst/>
          </a:prstGeom>
          <a:noFill/>
        </p:spPr>
        <p:txBody>
          <a:bodyPr wrap="square" rtlCol="0">
            <a:spAutoFit/>
          </a:bodyPr>
          <a:lstStyle/>
          <a:p>
            <a:pPr algn="ctr"/>
            <a:r>
              <a:rPr lang="en-US" b="1" dirty="0" err="1" smtClean="0"/>
              <a:t>Comutatorul</a:t>
            </a:r>
            <a:r>
              <a:rPr lang="en-US" b="1" dirty="0" smtClean="0"/>
              <a:t> de </a:t>
            </a:r>
            <a:r>
              <a:rPr lang="en-US" b="1" dirty="0" err="1" smtClean="0"/>
              <a:t>funcţii</a:t>
            </a:r>
            <a:endParaRPr lang="en-US" b="1"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1" y="381000"/>
            <a:ext cx="2932113" cy="609600"/>
          </a:xfrm>
        </p:spPr>
        <p:txBody>
          <a:bodyPr/>
          <a:lstStyle/>
          <a:p>
            <a:pPr algn="ctr"/>
            <a:r>
              <a:rPr lang="en-US" dirty="0" err="1" smtClean="0"/>
              <a:t>Comutatorul</a:t>
            </a:r>
            <a:r>
              <a:rPr lang="en-US" dirty="0" smtClean="0"/>
              <a:t> de </a:t>
            </a:r>
            <a:r>
              <a:rPr lang="en-US" dirty="0" err="1" smtClean="0"/>
              <a:t>func</a:t>
            </a:r>
            <a:r>
              <a:rPr lang="ro-RO" dirty="0" smtClean="0"/>
              <a:t>ţii</a:t>
            </a:r>
            <a:endParaRPr lang="en-US" dirty="0"/>
          </a:p>
        </p:txBody>
      </p:sp>
      <p:sp>
        <p:nvSpPr>
          <p:cNvPr id="3" name="Content Placeholder 2"/>
          <p:cNvSpPr>
            <a:spLocks noGrp="1"/>
          </p:cNvSpPr>
          <p:nvPr>
            <p:ph idx="1"/>
          </p:nvPr>
        </p:nvSpPr>
        <p:spPr>
          <a:xfrm>
            <a:off x="4267200" y="2057401"/>
            <a:ext cx="4419600" cy="4068763"/>
          </a:xfrm>
        </p:spPr>
        <p:txBody>
          <a:bodyPr>
            <a:normAutofit/>
          </a:bodyPr>
          <a:lstStyle/>
          <a:p>
            <a:pPr lvl="0" algn="just"/>
            <a:r>
              <a:rPr lang="ro-RO" sz="1900" dirty="0" smtClean="0">
                <a:solidFill>
                  <a:schemeClr val="accent4">
                    <a:lumMod val="75000"/>
                  </a:schemeClr>
                </a:solidFill>
              </a:rPr>
              <a:t>În bornele de acces se introduc cele 2 cordoane de măsurare</a:t>
            </a:r>
            <a:endParaRPr lang="en-US" sz="1900" dirty="0" smtClean="0">
              <a:solidFill>
                <a:schemeClr val="accent4">
                  <a:lumMod val="75000"/>
                </a:schemeClr>
              </a:solidFill>
            </a:endParaRPr>
          </a:p>
          <a:p>
            <a:pPr algn="just"/>
            <a:r>
              <a:rPr lang="ro-RO" sz="1900" dirty="0" smtClean="0">
                <a:solidFill>
                  <a:schemeClr val="accent4">
                    <a:lumMod val="75000"/>
                  </a:schemeClr>
                </a:solidFill>
                <a:latin typeface="+mj-lt"/>
                <a:ea typeface="+mj-ea"/>
                <a:cs typeface="+mj-cs"/>
              </a:rPr>
              <a:t>Este interzisă utilizarea cordoanelor defecte</a:t>
            </a:r>
            <a:endParaRPr lang="en-US" sz="1900" dirty="0" smtClean="0">
              <a:solidFill>
                <a:schemeClr val="accent4">
                  <a:lumMod val="75000"/>
                </a:schemeClr>
              </a:solidFill>
              <a:latin typeface="+mj-lt"/>
              <a:ea typeface="+mj-ea"/>
              <a:cs typeface="+mj-cs"/>
            </a:endParaRPr>
          </a:p>
          <a:p>
            <a:pPr algn="just"/>
            <a:r>
              <a:rPr lang="ro-RO" sz="1900" dirty="0" smtClean="0">
                <a:solidFill>
                  <a:schemeClr val="accent4">
                    <a:lumMod val="75000"/>
                  </a:schemeClr>
                </a:solidFill>
                <a:latin typeface="+mj-lt"/>
                <a:ea typeface="+mj-ea"/>
                <a:cs typeface="+mj-cs"/>
              </a:rPr>
              <a:t>Pentru realizarea unei măsurători, multimetrul se va conecta în circuit numai DUPĂ montarea cordoanelor.</a:t>
            </a:r>
            <a:endParaRPr lang="en-US" sz="1900" dirty="0" smtClean="0">
              <a:solidFill>
                <a:schemeClr val="accent4">
                  <a:lumMod val="75000"/>
                </a:schemeClr>
              </a:solidFill>
              <a:latin typeface="+mj-lt"/>
              <a:ea typeface="+mj-ea"/>
              <a:cs typeface="+mj-cs"/>
            </a:endParaRPr>
          </a:p>
          <a:p>
            <a:pPr algn="just"/>
            <a:r>
              <a:rPr lang="ro-RO" sz="1900" dirty="0" smtClean="0">
                <a:solidFill>
                  <a:schemeClr val="accent4">
                    <a:lumMod val="75000"/>
                  </a:schemeClr>
                </a:solidFill>
                <a:latin typeface="+mj-lt"/>
                <a:ea typeface="+mj-ea"/>
                <a:cs typeface="+mj-cs"/>
              </a:rPr>
              <a:t>După efectuarea măsurării, multimetrul se va deconecta din circuit şi NUMAI după aceea se vor demonta elementele de conectică.</a:t>
            </a:r>
            <a:endParaRPr lang="en-US" sz="1900" dirty="0" smtClean="0">
              <a:solidFill>
                <a:schemeClr val="accent4">
                  <a:lumMod val="75000"/>
                </a:schemeClr>
              </a:solidFill>
              <a:latin typeface="+mj-lt"/>
              <a:ea typeface="+mj-ea"/>
              <a:cs typeface="+mj-cs"/>
            </a:endParaRPr>
          </a:p>
          <a:p>
            <a:endParaRPr lang="en-US" dirty="0"/>
          </a:p>
        </p:txBody>
      </p:sp>
      <p:sp>
        <p:nvSpPr>
          <p:cNvPr id="4" name="Text Placeholder 3"/>
          <p:cNvSpPr>
            <a:spLocks noGrp="1"/>
          </p:cNvSpPr>
          <p:nvPr>
            <p:ph type="body" sz="half" idx="2"/>
          </p:nvPr>
        </p:nvSpPr>
        <p:spPr>
          <a:xfrm>
            <a:off x="914400" y="3810001"/>
            <a:ext cx="4267200" cy="2316163"/>
          </a:xfrm>
        </p:spPr>
        <p:txBody>
          <a:bodyPr/>
          <a:lstStyle/>
          <a:p>
            <a:pPr>
              <a:buFont typeface="Arial" pitchFamily="34" charset="0"/>
              <a:buChar char="•"/>
            </a:pPr>
            <a:endParaRPr lang="en-US" dirty="0" smtClean="0"/>
          </a:p>
          <a:p>
            <a:pPr>
              <a:buFont typeface="Arial" pitchFamily="34" charset="0"/>
              <a:buChar char="•"/>
            </a:pPr>
            <a:endParaRPr lang="en-US" dirty="0" smtClean="0"/>
          </a:p>
          <a:p>
            <a:endParaRPr lang="en-US" dirty="0"/>
          </a:p>
        </p:txBody>
      </p:sp>
      <p:sp>
        <p:nvSpPr>
          <p:cNvPr id="5" name="TextBox 4"/>
          <p:cNvSpPr txBox="1"/>
          <p:nvPr/>
        </p:nvSpPr>
        <p:spPr>
          <a:xfrm>
            <a:off x="381000" y="1143001"/>
            <a:ext cx="3733800" cy="3447098"/>
          </a:xfrm>
          <a:prstGeom prst="rect">
            <a:avLst/>
          </a:prstGeom>
          <a:noFill/>
        </p:spPr>
        <p:txBody>
          <a:bodyPr wrap="square" rtlCol="0">
            <a:spAutoFit/>
          </a:bodyPr>
          <a:lstStyle/>
          <a:p>
            <a:pPr algn="just">
              <a:spcAft>
                <a:spcPts val="1200"/>
              </a:spcAft>
              <a:buFont typeface="Arial" pitchFamily="34" charset="0"/>
              <a:buChar char="•"/>
            </a:pPr>
            <a:r>
              <a:rPr lang="ro-RO" dirty="0" smtClean="0">
                <a:solidFill>
                  <a:schemeClr val="accent4">
                    <a:lumMod val="75000"/>
                  </a:schemeClr>
                </a:solidFill>
                <a:latin typeface="+mj-lt"/>
                <a:ea typeface="+mj-ea"/>
                <a:cs typeface="+mj-cs"/>
              </a:rPr>
              <a:t>Rezistenţa internă a multimetrului depinde de domeniul de măsurare</a:t>
            </a:r>
            <a:endParaRPr lang="en-US" dirty="0" smtClean="0">
              <a:solidFill>
                <a:schemeClr val="accent4">
                  <a:lumMod val="75000"/>
                </a:schemeClr>
              </a:solidFill>
              <a:latin typeface="+mj-lt"/>
              <a:ea typeface="+mj-ea"/>
              <a:cs typeface="+mj-cs"/>
            </a:endParaRPr>
          </a:p>
          <a:p>
            <a:pPr algn="just">
              <a:spcAft>
                <a:spcPts val="1200"/>
              </a:spcAft>
              <a:buFont typeface="Arial" pitchFamily="34" charset="0"/>
              <a:buChar char="•"/>
            </a:pPr>
            <a:r>
              <a:rPr lang="ro-RO" dirty="0" smtClean="0">
                <a:solidFill>
                  <a:schemeClr val="accent4">
                    <a:lumMod val="75000"/>
                  </a:schemeClr>
                </a:solidFill>
                <a:latin typeface="+mj-lt"/>
                <a:ea typeface="+mj-ea"/>
                <a:cs typeface="+mj-cs"/>
              </a:rPr>
              <a:t>Multimetrul poate măsura rezistenţe mici 0,1 - 10 Ω (domeniul DΩ)</a:t>
            </a:r>
            <a:endParaRPr lang="en-US" dirty="0" smtClean="0">
              <a:solidFill>
                <a:schemeClr val="accent4">
                  <a:lumMod val="75000"/>
                </a:schemeClr>
              </a:solidFill>
              <a:latin typeface="+mj-lt"/>
              <a:ea typeface="+mj-ea"/>
              <a:cs typeface="+mj-cs"/>
            </a:endParaRPr>
          </a:p>
          <a:p>
            <a:pPr algn="just">
              <a:buFont typeface="Arial" pitchFamily="34" charset="0"/>
              <a:buChar char="•"/>
            </a:pPr>
            <a:r>
              <a:rPr lang="ro-RO" dirty="0" smtClean="0">
                <a:solidFill>
                  <a:schemeClr val="accent4">
                    <a:lumMod val="75000"/>
                  </a:schemeClr>
                </a:solidFill>
                <a:latin typeface="+mj-lt"/>
                <a:ea typeface="+mj-ea"/>
                <a:cs typeface="+mj-cs"/>
              </a:rPr>
              <a:t>În cazul măsurării rezistenţelor este necesară existenţa unei baterii de alimentare (deoarece rezistenţa electrică nu este o mărime purtătoare de energie, ca şi curentul electric şi tensiunea)</a:t>
            </a:r>
            <a:endParaRPr lang="en-US" dirty="0" smtClean="0">
              <a:solidFill>
                <a:schemeClr val="accent4">
                  <a:lumMod val="75000"/>
                </a:schemeClr>
              </a:solidFill>
              <a:latin typeface="+mj-lt"/>
              <a:ea typeface="+mj-ea"/>
              <a:cs typeface="+mj-cs"/>
            </a:endParaRPr>
          </a:p>
          <a:p>
            <a:endParaRPr lang="en-US" dirty="0" smtClean="0"/>
          </a:p>
        </p:txBody>
      </p:sp>
      <p:sp>
        <p:nvSpPr>
          <p:cNvPr id="6" name="TextBox 5"/>
          <p:cNvSpPr txBox="1"/>
          <p:nvPr/>
        </p:nvSpPr>
        <p:spPr>
          <a:xfrm>
            <a:off x="5181600" y="1576863"/>
            <a:ext cx="2667000" cy="400110"/>
          </a:xfrm>
          <a:prstGeom prst="rect">
            <a:avLst/>
          </a:prstGeom>
          <a:noFill/>
        </p:spPr>
        <p:txBody>
          <a:bodyPr wrap="square" rtlCol="0">
            <a:spAutoFit/>
          </a:bodyPr>
          <a:lstStyle/>
          <a:p>
            <a:pPr algn="ctr"/>
            <a:r>
              <a:rPr lang="en-US" sz="2000" b="1" dirty="0" smtClean="0"/>
              <a:t>Borne de </a:t>
            </a:r>
            <a:r>
              <a:rPr lang="en-US" sz="2000" b="1" dirty="0" err="1" smtClean="0"/>
              <a:t>acces</a:t>
            </a:r>
            <a:endParaRPr lang="en-US" sz="2000" b="1"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762000"/>
            <a:ext cx="7162800" cy="685800"/>
          </a:xfrm>
        </p:spPr>
        <p:txBody>
          <a:bodyPr>
            <a:noAutofit/>
          </a:bodyPr>
          <a:lstStyle/>
          <a:p>
            <a:r>
              <a:rPr lang="en-US" sz="2400" b="1" dirty="0" err="1" smtClean="0">
                <a:solidFill>
                  <a:schemeClr val="accent2">
                    <a:lumMod val="60000"/>
                    <a:lumOff val="40000"/>
                  </a:schemeClr>
                </a:solidFill>
              </a:rPr>
              <a:t>Algoritmul</a:t>
            </a:r>
            <a:r>
              <a:rPr lang="en-US" sz="2400" b="1" dirty="0" smtClean="0">
                <a:solidFill>
                  <a:schemeClr val="accent2">
                    <a:lumMod val="60000"/>
                    <a:lumOff val="40000"/>
                  </a:schemeClr>
                </a:solidFill>
              </a:rPr>
              <a:t> de  </a:t>
            </a:r>
            <a:r>
              <a:rPr lang="en-US" sz="2400" b="1" dirty="0" err="1" smtClean="0">
                <a:solidFill>
                  <a:schemeClr val="accent2">
                    <a:lumMod val="60000"/>
                    <a:lumOff val="40000"/>
                  </a:schemeClr>
                </a:solidFill>
              </a:rPr>
              <a:t>măsurare</a:t>
            </a:r>
            <a:r>
              <a:rPr lang="en-US" sz="2400" b="1" dirty="0" smtClean="0">
                <a:solidFill>
                  <a:schemeClr val="accent2">
                    <a:lumMod val="60000"/>
                    <a:lumOff val="40000"/>
                  </a:schemeClr>
                </a:solidFill>
              </a:rPr>
              <a:t> cu </a:t>
            </a:r>
            <a:r>
              <a:rPr lang="en-US" sz="2400" b="1" dirty="0" err="1" smtClean="0">
                <a:solidFill>
                  <a:schemeClr val="accent2">
                    <a:lumMod val="60000"/>
                    <a:lumOff val="40000"/>
                  </a:schemeClr>
                </a:solidFill>
              </a:rPr>
              <a:t>multimetrul</a:t>
            </a:r>
            <a:r>
              <a:rPr lang="en-US" sz="2400" b="1" dirty="0" smtClean="0">
                <a:solidFill>
                  <a:schemeClr val="accent2">
                    <a:lumMod val="60000"/>
                    <a:lumOff val="40000"/>
                  </a:schemeClr>
                </a:solidFill>
              </a:rPr>
              <a:t> </a:t>
            </a:r>
            <a:r>
              <a:rPr lang="en-US" sz="2400" b="1" dirty="0" err="1" smtClean="0">
                <a:solidFill>
                  <a:schemeClr val="accent2">
                    <a:lumMod val="60000"/>
                    <a:lumOff val="40000"/>
                  </a:schemeClr>
                </a:solidFill>
              </a:rPr>
              <a:t>analogic</a:t>
            </a:r>
            <a:r>
              <a:rPr lang="en-US" sz="2400" dirty="0" smtClean="0">
                <a:solidFill>
                  <a:schemeClr val="accent2">
                    <a:lumMod val="60000"/>
                    <a:lumOff val="40000"/>
                  </a:schemeClr>
                </a:solidFill>
              </a:rPr>
              <a:t/>
            </a:r>
            <a:br>
              <a:rPr lang="en-US" sz="2400" dirty="0" smtClean="0">
                <a:solidFill>
                  <a:schemeClr val="accent2">
                    <a:lumMod val="60000"/>
                    <a:lumOff val="40000"/>
                  </a:schemeClr>
                </a:solidFill>
              </a:rPr>
            </a:br>
            <a:endParaRPr lang="en-US" sz="2400" dirty="0">
              <a:solidFill>
                <a:schemeClr val="accent2">
                  <a:lumMod val="60000"/>
                  <a:lumOff val="40000"/>
                </a:schemeClr>
              </a:solidFill>
            </a:endParaRPr>
          </a:p>
        </p:txBody>
      </p:sp>
      <p:sp>
        <p:nvSpPr>
          <p:cNvPr id="3" name="Content Placeholder 2"/>
          <p:cNvSpPr>
            <a:spLocks noGrp="1"/>
          </p:cNvSpPr>
          <p:nvPr>
            <p:ph idx="1"/>
          </p:nvPr>
        </p:nvSpPr>
        <p:spPr>
          <a:xfrm>
            <a:off x="533400" y="1600201"/>
            <a:ext cx="8153400" cy="4525963"/>
          </a:xfrm>
        </p:spPr>
        <p:txBody>
          <a:bodyPr>
            <a:normAutofit fontScale="77500" lnSpcReduction="20000"/>
          </a:bodyPr>
          <a:lstStyle/>
          <a:p>
            <a:pPr marL="514350" lvl="0" indent="-514350">
              <a:buFont typeface="+mj-lt"/>
              <a:buAutoNum type="arabicPeriod"/>
            </a:pPr>
            <a:r>
              <a:rPr lang="en-US" sz="2600" dirty="0" smtClean="0"/>
              <a:t>Se </a:t>
            </a:r>
            <a:r>
              <a:rPr lang="en-US" sz="2600" dirty="0" err="1" smtClean="0"/>
              <a:t>stabileşte</a:t>
            </a:r>
            <a:r>
              <a:rPr lang="en-US" sz="2600" dirty="0" smtClean="0"/>
              <a:t> </a:t>
            </a:r>
            <a:r>
              <a:rPr lang="en-US" sz="2600" dirty="0" err="1" smtClean="0"/>
              <a:t>ce</a:t>
            </a:r>
            <a:r>
              <a:rPr lang="en-US" sz="2600" dirty="0" smtClean="0"/>
              <a:t> </a:t>
            </a:r>
            <a:r>
              <a:rPr lang="en-US" sz="2600" dirty="0" err="1" smtClean="0"/>
              <a:t>mărime</a:t>
            </a:r>
            <a:r>
              <a:rPr lang="en-US" sz="2600" dirty="0" smtClean="0"/>
              <a:t> se </a:t>
            </a:r>
            <a:r>
              <a:rPr lang="en-US" sz="2600" dirty="0" err="1" smtClean="0"/>
              <a:t>doreşte</a:t>
            </a:r>
            <a:r>
              <a:rPr lang="en-US" sz="2600" dirty="0" smtClean="0"/>
              <a:t> a </a:t>
            </a:r>
            <a:r>
              <a:rPr lang="en-US" sz="2600" dirty="0" err="1" smtClean="0"/>
              <a:t>fi</a:t>
            </a:r>
            <a:r>
              <a:rPr lang="en-US" sz="2600" dirty="0" smtClean="0"/>
              <a:t> </a:t>
            </a:r>
            <a:r>
              <a:rPr lang="en-US" sz="2600" dirty="0" err="1" smtClean="0"/>
              <a:t>măsurată</a:t>
            </a:r>
            <a:endParaRPr lang="en-US" sz="2600" dirty="0" smtClean="0"/>
          </a:p>
          <a:p>
            <a:pPr marL="514350" lvl="0" indent="-514350">
              <a:buFont typeface="+mj-lt"/>
              <a:buAutoNum type="arabicPeriod"/>
            </a:pPr>
            <a:r>
              <a:rPr lang="en-US" sz="2600" dirty="0" smtClean="0"/>
              <a:t>Se </a:t>
            </a:r>
            <a:r>
              <a:rPr lang="en-US" sz="2600" dirty="0" err="1" smtClean="0"/>
              <a:t>stabileşte</a:t>
            </a:r>
            <a:r>
              <a:rPr lang="en-US" sz="2600" dirty="0" smtClean="0"/>
              <a:t> cu </a:t>
            </a:r>
            <a:r>
              <a:rPr lang="en-US" sz="2600" dirty="0" err="1" smtClean="0"/>
              <a:t>ajutorul</a:t>
            </a:r>
            <a:r>
              <a:rPr lang="en-US" sz="2600" dirty="0" smtClean="0"/>
              <a:t> </a:t>
            </a:r>
            <a:r>
              <a:rPr lang="en-US" sz="2600" dirty="0" err="1" smtClean="0"/>
              <a:t>selectorului</a:t>
            </a:r>
            <a:r>
              <a:rPr lang="en-US" sz="2600" dirty="0" smtClean="0"/>
              <a:t> </a:t>
            </a:r>
            <a:r>
              <a:rPr lang="en-US" sz="2600" dirty="0" err="1" smtClean="0"/>
              <a:t>multimetrului</a:t>
            </a:r>
            <a:r>
              <a:rPr lang="en-US" sz="2600" b="1" dirty="0" smtClean="0"/>
              <a:t> </a:t>
            </a:r>
            <a:r>
              <a:rPr lang="en-US" sz="2600" b="1" dirty="0" err="1" smtClean="0"/>
              <a:t>mărimea</a:t>
            </a:r>
            <a:r>
              <a:rPr lang="en-US" sz="2600" dirty="0" smtClean="0"/>
              <a:t> </a:t>
            </a:r>
            <a:r>
              <a:rPr lang="en-US" sz="2600" dirty="0" err="1" smtClean="0"/>
              <a:t>ce</a:t>
            </a:r>
            <a:r>
              <a:rPr lang="en-US" sz="2600" dirty="0" smtClean="0"/>
              <a:t> </a:t>
            </a:r>
            <a:r>
              <a:rPr lang="en-US" sz="2600" dirty="0" err="1" smtClean="0"/>
              <a:t>urmează</a:t>
            </a:r>
            <a:r>
              <a:rPr lang="en-US" sz="2600" dirty="0" smtClean="0"/>
              <a:t> a </a:t>
            </a:r>
            <a:r>
              <a:rPr lang="en-US" sz="2600" dirty="0" err="1" smtClean="0"/>
              <a:t>fi</a:t>
            </a:r>
            <a:r>
              <a:rPr lang="en-US" sz="2600" dirty="0" smtClean="0"/>
              <a:t> </a:t>
            </a:r>
            <a:r>
              <a:rPr lang="en-US" sz="2600" dirty="0" err="1" smtClean="0"/>
              <a:t>măsurată</a:t>
            </a:r>
            <a:r>
              <a:rPr lang="ro-RO" sz="2600" dirty="0" smtClean="0"/>
              <a:t>.</a:t>
            </a:r>
            <a:endParaRPr lang="en-US" sz="2600" dirty="0" smtClean="0"/>
          </a:p>
          <a:p>
            <a:pPr marL="514350" indent="-514350">
              <a:buNone/>
            </a:pPr>
            <a:r>
              <a:rPr lang="ro-RO" sz="2600" dirty="0" smtClean="0"/>
              <a:t>	</a:t>
            </a:r>
            <a:r>
              <a:rPr lang="en-US" sz="2600" dirty="0" smtClean="0"/>
              <a:t>Se </a:t>
            </a:r>
            <a:r>
              <a:rPr lang="en-US" sz="2600" dirty="0" err="1" smtClean="0"/>
              <a:t>selectează</a:t>
            </a:r>
            <a:r>
              <a:rPr lang="en-US" sz="2600" dirty="0" smtClean="0"/>
              <a:t> </a:t>
            </a:r>
            <a:r>
              <a:rPr lang="en-US" sz="2600" b="1" dirty="0" err="1" smtClean="0"/>
              <a:t>tipul</a:t>
            </a:r>
            <a:r>
              <a:rPr lang="en-US" sz="2600" b="1" dirty="0" smtClean="0"/>
              <a:t> de </a:t>
            </a:r>
            <a:r>
              <a:rPr lang="en-US" sz="2600" b="1" dirty="0" err="1" smtClean="0"/>
              <a:t>mărime</a:t>
            </a:r>
            <a:r>
              <a:rPr lang="en-US" sz="2600" b="1" dirty="0" smtClean="0"/>
              <a:t> </a:t>
            </a:r>
            <a:r>
              <a:rPr lang="en-US" sz="2600" dirty="0" smtClean="0"/>
              <a:t>– </a:t>
            </a:r>
            <a:r>
              <a:rPr lang="en-US" sz="2600" dirty="0" err="1" smtClean="0"/>
              <a:t>curent</a:t>
            </a:r>
            <a:r>
              <a:rPr lang="en-US" sz="2600" dirty="0" smtClean="0"/>
              <a:t> </a:t>
            </a:r>
            <a:r>
              <a:rPr lang="en-US" sz="2600" dirty="0" err="1" smtClean="0"/>
              <a:t>alternativ</a:t>
            </a:r>
            <a:r>
              <a:rPr lang="en-US" sz="2600" dirty="0" smtClean="0"/>
              <a:t> (</a:t>
            </a:r>
            <a:r>
              <a:rPr lang="en-US" sz="2600" b="1" dirty="0" smtClean="0"/>
              <a:t>~</a:t>
            </a:r>
            <a:r>
              <a:rPr lang="en-US" sz="2600" dirty="0" smtClean="0"/>
              <a:t>) </a:t>
            </a:r>
            <a:r>
              <a:rPr lang="en-US" sz="2600" dirty="0" err="1" smtClean="0"/>
              <a:t>sau</a:t>
            </a:r>
            <a:r>
              <a:rPr lang="en-US" sz="2600" dirty="0" smtClean="0"/>
              <a:t> </a:t>
            </a:r>
            <a:r>
              <a:rPr lang="en-US" sz="2600" dirty="0" err="1" smtClean="0"/>
              <a:t>curent</a:t>
            </a:r>
            <a:r>
              <a:rPr lang="en-US" sz="2600" dirty="0" smtClean="0"/>
              <a:t> </a:t>
            </a:r>
            <a:r>
              <a:rPr lang="en-US" sz="2600" dirty="0" err="1" smtClean="0"/>
              <a:t>continuu</a:t>
            </a:r>
            <a:r>
              <a:rPr lang="en-US" sz="2600" dirty="0" smtClean="0"/>
              <a:t> (</a:t>
            </a:r>
            <a:r>
              <a:rPr lang="en-US" sz="2600" b="1" dirty="0" smtClean="0"/>
              <a:t>–</a:t>
            </a:r>
            <a:r>
              <a:rPr lang="en-US" sz="2600" dirty="0" smtClean="0"/>
              <a:t>).</a:t>
            </a:r>
          </a:p>
          <a:p>
            <a:pPr marL="514350" indent="-514350">
              <a:buNone/>
            </a:pPr>
            <a:r>
              <a:rPr lang="en-US" sz="2600" dirty="0" err="1" smtClean="0"/>
              <a:t>Dacă</a:t>
            </a:r>
            <a:r>
              <a:rPr lang="en-US" sz="2600" dirty="0" smtClean="0"/>
              <a:t> </a:t>
            </a:r>
            <a:r>
              <a:rPr lang="en-US" sz="2600" dirty="0" err="1" smtClean="0"/>
              <a:t>dorim</a:t>
            </a:r>
            <a:r>
              <a:rPr lang="en-US" sz="2600" dirty="0" smtClean="0"/>
              <a:t> </a:t>
            </a:r>
            <a:r>
              <a:rPr lang="en-US" sz="2600" dirty="0" err="1" smtClean="0"/>
              <a:t>măsurarea</a:t>
            </a:r>
            <a:r>
              <a:rPr lang="en-US" sz="2600" dirty="0" smtClean="0"/>
              <a:t> </a:t>
            </a:r>
            <a:r>
              <a:rPr lang="en-US" sz="2600" dirty="0" err="1" smtClean="0"/>
              <a:t>valorii</a:t>
            </a:r>
            <a:r>
              <a:rPr lang="en-US" sz="2600" dirty="0" smtClean="0"/>
              <a:t> </a:t>
            </a:r>
            <a:r>
              <a:rPr lang="en-US" sz="2600" dirty="0" err="1" smtClean="0"/>
              <a:t>unei</a:t>
            </a:r>
            <a:r>
              <a:rPr lang="en-US" sz="2600" dirty="0" smtClean="0"/>
              <a:t> </a:t>
            </a:r>
            <a:r>
              <a:rPr lang="en-US" sz="2600" b="1" dirty="0" err="1" smtClean="0"/>
              <a:t>rezistenţe</a:t>
            </a:r>
            <a:r>
              <a:rPr lang="en-US" sz="2600" dirty="0" smtClean="0"/>
              <a:t>, </a:t>
            </a:r>
            <a:r>
              <a:rPr lang="en-US" sz="2600" dirty="0" err="1" smtClean="0"/>
              <a:t>este</a:t>
            </a:r>
            <a:r>
              <a:rPr lang="en-US" sz="2600" dirty="0" smtClean="0"/>
              <a:t> </a:t>
            </a:r>
            <a:r>
              <a:rPr lang="en-US" sz="2600" dirty="0" err="1" smtClean="0"/>
              <a:t>necesară</a:t>
            </a:r>
            <a:r>
              <a:rPr lang="en-US" sz="2600" dirty="0" smtClean="0"/>
              <a:t> </a:t>
            </a:r>
            <a:r>
              <a:rPr lang="en-US" sz="2600" b="1" dirty="0" err="1" smtClean="0"/>
              <a:t>aducerea</a:t>
            </a:r>
            <a:r>
              <a:rPr lang="en-US" sz="2600" dirty="0" smtClean="0"/>
              <a:t> </a:t>
            </a:r>
            <a:r>
              <a:rPr lang="en-US" sz="2600" b="1" dirty="0" smtClean="0"/>
              <a:t>la zero a </a:t>
            </a:r>
            <a:r>
              <a:rPr lang="en-US" sz="2600" b="1" dirty="0" err="1" smtClean="0"/>
              <a:t>aparatului</a:t>
            </a:r>
            <a:r>
              <a:rPr lang="en-US" sz="2600" dirty="0" smtClean="0"/>
              <a:t>, </a:t>
            </a:r>
            <a:r>
              <a:rPr lang="en-US" sz="2600" dirty="0" err="1" smtClean="0"/>
              <a:t>înaintea</a:t>
            </a:r>
            <a:r>
              <a:rPr lang="en-US" sz="2600" dirty="0" smtClean="0"/>
              <a:t> </a:t>
            </a:r>
            <a:r>
              <a:rPr lang="en-US" sz="2600" dirty="0" err="1" smtClean="0"/>
              <a:t>efectuării</a:t>
            </a:r>
            <a:r>
              <a:rPr lang="en-US" sz="2600" dirty="0" smtClean="0"/>
              <a:t> </a:t>
            </a:r>
            <a:r>
              <a:rPr lang="en-US" sz="2600" dirty="0" err="1" smtClean="0"/>
              <a:t>măsurării</a:t>
            </a:r>
            <a:r>
              <a:rPr lang="en-US" sz="2600" dirty="0" smtClean="0"/>
              <a:t>:</a:t>
            </a:r>
          </a:p>
          <a:p>
            <a:pPr marL="514350" indent="-514350">
              <a:buFont typeface="Wingdings" pitchFamily="2" charset="2"/>
              <a:buChar char="§"/>
            </a:pPr>
            <a:r>
              <a:rPr lang="ro-RO" sz="2600" dirty="0" smtClean="0"/>
              <a:t>	</a:t>
            </a:r>
            <a:r>
              <a:rPr lang="en-US" sz="2600" dirty="0" smtClean="0"/>
              <a:t>Se </a:t>
            </a:r>
            <a:r>
              <a:rPr lang="en-US" sz="2600" dirty="0" err="1" smtClean="0"/>
              <a:t>scurtcircuitează</a:t>
            </a:r>
            <a:r>
              <a:rPr lang="en-US" sz="2600" dirty="0" smtClean="0"/>
              <a:t> </a:t>
            </a:r>
            <a:r>
              <a:rPr lang="en-US" sz="2600" dirty="0" err="1" smtClean="0"/>
              <a:t>capetele</a:t>
            </a:r>
            <a:r>
              <a:rPr lang="en-US" sz="2600" dirty="0" smtClean="0"/>
              <a:t> de </a:t>
            </a:r>
            <a:r>
              <a:rPr lang="en-US" sz="2600" dirty="0" err="1" smtClean="0"/>
              <a:t>probă</a:t>
            </a:r>
            <a:r>
              <a:rPr lang="en-US" sz="2600" dirty="0" smtClean="0"/>
              <a:t> ale </a:t>
            </a:r>
            <a:r>
              <a:rPr lang="en-US" sz="2600" dirty="0" err="1" smtClean="0"/>
              <a:t>cordoanelor</a:t>
            </a:r>
            <a:r>
              <a:rPr lang="en-US" sz="2600" dirty="0" smtClean="0"/>
              <a:t> de </a:t>
            </a:r>
            <a:r>
              <a:rPr lang="en-US" sz="2600" dirty="0" err="1" smtClean="0"/>
              <a:t>măsurare</a:t>
            </a:r>
            <a:r>
              <a:rPr lang="en-US" sz="2600" dirty="0" smtClean="0"/>
              <a:t> ale </a:t>
            </a:r>
            <a:r>
              <a:rPr lang="en-US" sz="2600" dirty="0" err="1" smtClean="0"/>
              <a:t>multimetrului</a:t>
            </a:r>
            <a:r>
              <a:rPr lang="en-US" sz="2600" dirty="0" smtClean="0"/>
              <a:t>, </a:t>
            </a:r>
            <a:r>
              <a:rPr lang="en-US" sz="2600" dirty="0" err="1" smtClean="0"/>
              <a:t>acul</a:t>
            </a:r>
            <a:r>
              <a:rPr lang="en-US" sz="2600" dirty="0" smtClean="0"/>
              <a:t> indicator </a:t>
            </a:r>
            <a:r>
              <a:rPr lang="en-US" sz="2600" dirty="0" err="1" smtClean="0"/>
              <a:t>deviază</a:t>
            </a:r>
            <a:r>
              <a:rPr lang="en-US" sz="2600" dirty="0" smtClean="0"/>
              <a:t> </a:t>
            </a:r>
            <a:r>
              <a:rPr lang="en-US" sz="2600" dirty="0" err="1" smtClean="0"/>
              <a:t>spre</a:t>
            </a:r>
            <a:r>
              <a:rPr lang="en-US" sz="2600" dirty="0" smtClean="0"/>
              <a:t> </a:t>
            </a:r>
            <a:r>
              <a:rPr lang="en-US" sz="2600" dirty="0" err="1" smtClean="0"/>
              <a:t>capătul</a:t>
            </a:r>
            <a:r>
              <a:rPr lang="en-US" sz="2600" dirty="0" smtClean="0"/>
              <a:t> din </a:t>
            </a:r>
            <a:r>
              <a:rPr lang="en-US" sz="2600" dirty="0" err="1" smtClean="0"/>
              <a:t>dreapta</a:t>
            </a:r>
            <a:r>
              <a:rPr lang="en-US" sz="2600" dirty="0" smtClean="0"/>
              <a:t> (</a:t>
            </a:r>
            <a:r>
              <a:rPr lang="en-US" sz="2600" dirty="0" err="1" smtClean="0"/>
              <a:t>ohmmetru</a:t>
            </a:r>
            <a:r>
              <a:rPr lang="en-US" sz="2600" dirty="0" smtClean="0"/>
              <a:t> </a:t>
            </a:r>
            <a:r>
              <a:rPr lang="en-US" sz="2600" dirty="0" err="1" smtClean="0"/>
              <a:t>serie</a:t>
            </a:r>
            <a:r>
              <a:rPr lang="en-US" sz="2600" dirty="0" smtClean="0"/>
              <a:t>) </a:t>
            </a:r>
            <a:r>
              <a:rPr lang="en-US" sz="2600" dirty="0" err="1" smtClean="0"/>
              <a:t>scării</a:t>
            </a:r>
            <a:r>
              <a:rPr lang="en-US" sz="2600" dirty="0" smtClean="0"/>
              <a:t> gradate. Cu </a:t>
            </a:r>
            <a:r>
              <a:rPr lang="en-US" sz="2600" dirty="0" err="1" smtClean="0"/>
              <a:t>ajutorul</a:t>
            </a:r>
            <a:r>
              <a:rPr lang="en-US" sz="2600" dirty="0" smtClean="0"/>
              <a:t> </a:t>
            </a:r>
            <a:r>
              <a:rPr lang="en-US" sz="2600" dirty="0" err="1" smtClean="0"/>
              <a:t>potenţiometrului</a:t>
            </a:r>
            <a:r>
              <a:rPr lang="en-US" sz="2600" dirty="0" smtClean="0"/>
              <a:t> de </a:t>
            </a:r>
            <a:r>
              <a:rPr lang="en-US" sz="2600" dirty="0" err="1" smtClean="0"/>
              <a:t>ajustare</a:t>
            </a:r>
            <a:r>
              <a:rPr lang="en-US" sz="2600" dirty="0" smtClean="0"/>
              <a:t> </a:t>
            </a:r>
            <a:r>
              <a:rPr lang="en-US" sz="2600" dirty="0" err="1" smtClean="0"/>
              <a:t>pentru</a:t>
            </a:r>
            <a:r>
              <a:rPr lang="en-US" sz="2600" dirty="0" smtClean="0"/>
              <a:t> 0 </a:t>
            </a:r>
            <a:r>
              <a:rPr lang="en-US" sz="2600" dirty="0" err="1" smtClean="0"/>
              <a:t>ohmi</a:t>
            </a:r>
            <a:r>
              <a:rPr lang="en-US" sz="2600" dirty="0" smtClean="0"/>
              <a:t>, se face ca </a:t>
            </a:r>
            <a:r>
              <a:rPr lang="en-US" sz="2600" dirty="0" err="1" smtClean="0"/>
              <a:t>indicatorul</a:t>
            </a:r>
            <a:r>
              <a:rPr lang="en-US" sz="2600" dirty="0" smtClean="0"/>
              <a:t> </a:t>
            </a:r>
            <a:r>
              <a:rPr lang="en-US" sz="2600" dirty="0" err="1" smtClean="0"/>
              <a:t>să</a:t>
            </a:r>
            <a:r>
              <a:rPr lang="en-US" sz="2600" dirty="0" smtClean="0"/>
              <a:t> </a:t>
            </a:r>
            <a:r>
              <a:rPr lang="en-US" sz="2600" dirty="0" err="1" smtClean="0"/>
              <a:t>arate</a:t>
            </a:r>
            <a:r>
              <a:rPr lang="en-US" sz="2600" dirty="0" smtClean="0"/>
              <a:t> zero.</a:t>
            </a:r>
            <a:endParaRPr lang="ro-RO" sz="2600" dirty="0" smtClean="0"/>
          </a:p>
          <a:p>
            <a:pPr marL="514350" indent="-514350">
              <a:buFont typeface="Wingdings" pitchFamily="2" charset="2"/>
              <a:buChar char="§"/>
            </a:pPr>
            <a:r>
              <a:rPr lang="en-US" sz="2600" dirty="0" smtClean="0"/>
              <a:t> </a:t>
            </a:r>
            <a:r>
              <a:rPr lang="ro-RO" sz="2600" dirty="0" smtClean="0"/>
              <a:t>	</a:t>
            </a:r>
            <a:r>
              <a:rPr lang="en-US" sz="2600" dirty="0" err="1" smtClean="0"/>
              <a:t>Dacă</a:t>
            </a:r>
            <a:r>
              <a:rPr lang="en-US" sz="2600" dirty="0" smtClean="0"/>
              <a:t> </a:t>
            </a:r>
            <a:r>
              <a:rPr lang="en-US" sz="2600" dirty="0" err="1" smtClean="0"/>
              <a:t>acul</a:t>
            </a:r>
            <a:r>
              <a:rPr lang="en-US" sz="2600" dirty="0" smtClean="0"/>
              <a:t> indicator nu </a:t>
            </a:r>
            <a:r>
              <a:rPr lang="en-US" sz="2600" dirty="0" err="1" smtClean="0"/>
              <a:t>poate</a:t>
            </a:r>
            <a:r>
              <a:rPr lang="en-US" sz="2600" dirty="0" smtClean="0"/>
              <a:t> </a:t>
            </a:r>
            <a:r>
              <a:rPr lang="en-US" sz="2600" dirty="0" err="1" smtClean="0"/>
              <a:t>fi</a:t>
            </a:r>
            <a:r>
              <a:rPr lang="en-US" sz="2600" dirty="0" smtClean="0"/>
              <a:t> </a:t>
            </a:r>
            <a:r>
              <a:rPr lang="en-US" sz="2600" dirty="0" err="1" smtClean="0"/>
              <a:t>adus</a:t>
            </a:r>
            <a:r>
              <a:rPr lang="en-US" sz="2600" dirty="0" smtClean="0"/>
              <a:t> la zero, </a:t>
            </a:r>
            <a:r>
              <a:rPr lang="en-US" sz="2600" dirty="0" err="1" smtClean="0"/>
              <a:t>bateria</a:t>
            </a:r>
            <a:r>
              <a:rPr lang="en-US" sz="2600" dirty="0" smtClean="0"/>
              <a:t> </a:t>
            </a:r>
            <a:r>
              <a:rPr lang="en-US" sz="2600" dirty="0" err="1" smtClean="0"/>
              <a:t>aparatului</a:t>
            </a:r>
            <a:r>
              <a:rPr lang="en-US" sz="2600" dirty="0" smtClean="0"/>
              <a:t> </a:t>
            </a:r>
            <a:r>
              <a:rPr lang="en-US" sz="2600" dirty="0" err="1" smtClean="0"/>
              <a:t>trebuie</a:t>
            </a:r>
            <a:r>
              <a:rPr lang="en-US" sz="2600" dirty="0" smtClean="0"/>
              <a:t> </a:t>
            </a:r>
            <a:r>
              <a:rPr lang="en-US" sz="2600" dirty="0" err="1" smtClean="0"/>
              <a:t>înlocuit</a:t>
            </a:r>
            <a:r>
              <a:rPr lang="ro-RO" sz="2600" dirty="0" smtClean="0"/>
              <a:t>ă</a:t>
            </a:r>
            <a:r>
              <a:rPr lang="en-US" sz="2600" dirty="0" smtClean="0"/>
              <a:t>. </a:t>
            </a:r>
            <a:endParaRPr lang="ro-RO" sz="2600" dirty="0" smtClean="0"/>
          </a:p>
          <a:p>
            <a:pPr marL="514350" indent="-514350">
              <a:buFont typeface="Wingdings" pitchFamily="2" charset="2"/>
              <a:buChar char="§"/>
            </a:pPr>
            <a:r>
              <a:rPr lang="ro-RO" sz="2600" dirty="0" smtClean="0"/>
              <a:t>	</a:t>
            </a:r>
            <a:r>
              <a:rPr lang="en-US" sz="2600" dirty="0" err="1" smtClean="0"/>
              <a:t>Corectorul</a:t>
            </a:r>
            <a:r>
              <a:rPr lang="en-US" sz="2600" dirty="0" smtClean="0"/>
              <a:t> de zero de </a:t>
            </a:r>
            <a:r>
              <a:rPr lang="en-US" sz="2600" dirty="0" err="1" smtClean="0"/>
              <a:t>pe</a:t>
            </a:r>
            <a:r>
              <a:rPr lang="en-US" sz="2600" dirty="0" smtClean="0"/>
              <a:t> </a:t>
            </a:r>
            <a:r>
              <a:rPr lang="en-US" sz="2600" dirty="0" err="1" smtClean="0"/>
              <a:t>panoul</a:t>
            </a:r>
            <a:r>
              <a:rPr lang="en-US" sz="2600" dirty="0" smtClean="0"/>
              <a:t> frontal se </a:t>
            </a:r>
            <a:r>
              <a:rPr lang="en-US" sz="2600" dirty="0" err="1" smtClean="0"/>
              <a:t>foloseşte</a:t>
            </a:r>
            <a:r>
              <a:rPr lang="en-US" sz="2600" dirty="0" smtClean="0"/>
              <a:t> </a:t>
            </a:r>
            <a:r>
              <a:rPr lang="en-US" sz="2600" dirty="0" err="1" smtClean="0"/>
              <a:t>pentru</a:t>
            </a:r>
            <a:r>
              <a:rPr lang="en-US" sz="2600" dirty="0" smtClean="0"/>
              <a:t> </a:t>
            </a:r>
            <a:r>
              <a:rPr lang="en-US" sz="2600" dirty="0" err="1" smtClean="0"/>
              <a:t>reglarea</a:t>
            </a:r>
            <a:r>
              <a:rPr lang="en-US" sz="2600" dirty="0" smtClean="0"/>
              <a:t> </a:t>
            </a:r>
            <a:r>
              <a:rPr lang="en-US" sz="2600" dirty="0" err="1" smtClean="0"/>
              <a:t>acului</a:t>
            </a:r>
            <a:r>
              <a:rPr lang="en-US" sz="2600" dirty="0" smtClean="0"/>
              <a:t> la </a:t>
            </a:r>
            <a:r>
              <a:rPr lang="en-US" sz="2600" dirty="0" err="1" smtClean="0"/>
              <a:t>celălalt</a:t>
            </a:r>
            <a:r>
              <a:rPr lang="en-US" sz="2600" dirty="0" smtClean="0"/>
              <a:t> </a:t>
            </a:r>
            <a:r>
              <a:rPr lang="en-US" sz="2600" dirty="0" err="1" smtClean="0"/>
              <a:t>capăt</a:t>
            </a:r>
            <a:r>
              <a:rPr lang="en-US" sz="2600" dirty="0" smtClean="0"/>
              <a:t> al </a:t>
            </a:r>
            <a:r>
              <a:rPr lang="en-US" sz="2600" dirty="0" err="1" smtClean="0"/>
              <a:t>scării</a:t>
            </a:r>
            <a:r>
              <a:rPr lang="en-US" sz="2600" dirty="0" smtClean="0"/>
              <a:t> (</a:t>
            </a:r>
            <a:r>
              <a:rPr lang="en-US" sz="2600" dirty="0" err="1" smtClean="0"/>
              <a:t>cel</a:t>
            </a:r>
            <a:r>
              <a:rPr lang="en-US" sz="2600" dirty="0" smtClean="0"/>
              <a:t> </a:t>
            </a:r>
            <a:r>
              <a:rPr lang="en-US" sz="2600" dirty="0" err="1" smtClean="0"/>
              <a:t>stâng</a:t>
            </a:r>
            <a:r>
              <a:rPr lang="en-US" sz="2600" dirty="0" smtClean="0"/>
              <a:t>). </a:t>
            </a:r>
            <a:endParaRPr lang="ro-RO" sz="2600" dirty="0" smtClean="0"/>
          </a:p>
          <a:p>
            <a:pPr marL="514350" indent="-514350">
              <a:buFont typeface="Wingdings" pitchFamily="2" charset="2"/>
              <a:buChar char="§"/>
            </a:pPr>
            <a:r>
              <a:rPr lang="ro-RO" sz="2600" dirty="0" smtClean="0"/>
              <a:t>	</a:t>
            </a:r>
            <a:r>
              <a:rPr lang="en-US" sz="2600" dirty="0" smtClean="0"/>
              <a:t>La </a:t>
            </a:r>
            <a:r>
              <a:rPr lang="en-US" sz="2600" dirty="0" err="1" smtClean="0"/>
              <a:t>ohmmetre</a:t>
            </a:r>
            <a:r>
              <a:rPr lang="en-US" sz="2600" dirty="0" smtClean="0"/>
              <a:t> </a:t>
            </a:r>
            <a:r>
              <a:rPr lang="en-US" sz="2600" dirty="0" err="1" smtClean="0"/>
              <a:t>derivaţie</a:t>
            </a:r>
            <a:r>
              <a:rPr lang="en-US" sz="2600" dirty="0" smtClean="0"/>
              <a:t> </a:t>
            </a:r>
            <a:r>
              <a:rPr lang="ro-RO" sz="2600" kern="1200" dirty="0" smtClean="0">
                <a:solidFill>
                  <a:schemeClr val="tx1"/>
                </a:solidFill>
                <a:latin typeface="+mn-lt"/>
                <a:ea typeface="+mn-ea"/>
                <a:cs typeface="+mn-cs"/>
              </a:rPr>
              <a:t>0Ω se află la capătul stâng al scării.</a:t>
            </a:r>
            <a:endParaRPr lang="en-US" sz="2600" kern="1200" dirty="0" smtClean="0">
              <a:solidFill>
                <a:schemeClr val="tx1"/>
              </a:solidFill>
              <a:latin typeface="+mn-lt"/>
              <a:ea typeface="+mn-ea"/>
              <a:cs typeface="+mn-cs"/>
            </a:endParaRP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153400" cy="914400"/>
          </a:xfrm>
        </p:spPr>
        <p:txBody>
          <a:bodyPr>
            <a:normAutofit/>
          </a:bodyPr>
          <a:lstStyle/>
          <a:p>
            <a:r>
              <a:rPr lang="en-US" sz="2400" b="1" dirty="0" err="1" smtClean="0">
                <a:solidFill>
                  <a:schemeClr val="accent2">
                    <a:lumMod val="60000"/>
                    <a:lumOff val="40000"/>
                  </a:schemeClr>
                </a:solidFill>
              </a:rPr>
              <a:t>Algoritmul</a:t>
            </a:r>
            <a:r>
              <a:rPr lang="en-US" sz="2400" b="1" dirty="0" smtClean="0">
                <a:solidFill>
                  <a:schemeClr val="accent2">
                    <a:lumMod val="60000"/>
                    <a:lumOff val="40000"/>
                  </a:schemeClr>
                </a:solidFill>
              </a:rPr>
              <a:t> de  </a:t>
            </a:r>
            <a:r>
              <a:rPr lang="en-US" sz="2400" b="1" dirty="0" err="1" smtClean="0">
                <a:solidFill>
                  <a:schemeClr val="accent2">
                    <a:lumMod val="60000"/>
                    <a:lumOff val="40000"/>
                  </a:schemeClr>
                </a:solidFill>
              </a:rPr>
              <a:t>măsurare</a:t>
            </a:r>
            <a:r>
              <a:rPr lang="en-US" sz="2400" b="1" dirty="0" smtClean="0">
                <a:solidFill>
                  <a:schemeClr val="accent2">
                    <a:lumMod val="60000"/>
                    <a:lumOff val="40000"/>
                  </a:schemeClr>
                </a:solidFill>
              </a:rPr>
              <a:t> cu </a:t>
            </a:r>
            <a:r>
              <a:rPr lang="en-US" sz="2400" b="1" dirty="0" err="1" smtClean="0">
                <a:solidFill>
                  <a:schemeClr val="accent2">
                    <a:lumMod val="60000"/>
                    <a:lumOff val="40000"/>
                  </a:schemeClr>
                </a:solidFill>
              </a:rPr>
              <a:t>multimetrul</a:t>
            </a:r>
            <a:r>
              <a:rPr lang="en-US" sz="2400" b="1" dirty="0" smtClean="0">
                <a:solidFill>
                  <a:schemeClr val="accent2">
                    <a:lumMod val="60000"/>
                    <a:lumOff val="40000"/>
                  </a:schemeClr>
                </a:solidFill>
              </a:rPr>
              <a:t> </a:t>
            </a:r>
            <a:r>
              <a:rPr lang="en-US" sz="2400" b="1" dirty="0" err="1" smtClean="0">
                <a:solidFill>
                  <a:schemeClr val="accent2">
                    <a:lumMod val="60000"/>
                    <a:lumOff val="40000"/>
                  </a:schemeClr>
                </a:solidFill>
              </a:rPr>
              <a:t>analogic</a:t>
            </a:r>
            <a:r>
              <a:rPr lang="en-US" sz="2400" b="1" dirty="0" smtClean="0">
                <a:solidFill>
                  <a:schemeClr val="accent2">
                    <a:lumMod val="60000"/>
                    <a:lumOff val="40000"/>
                  </a:schemeClr>
                </a:solidFill>
              </a:rPr>
              <a:t> - 3</a:t>
            </a:r>
            <a:r>
              <a:rPr lang="en-US" sz="2400" dirty="0" smtClean="0"/>
              <a:t/>
            </a:r>
            <a:br>
              <a:rPr lang="en-US" sz="2400" dirty="0" smtClean="0"/>
            </a:br>
            <a:endParaRPr lang="en-US" sz="2400" dirty="0"/>
          </a:p>
        </p:txBody>
      </p:sp>
      <p:sp>
        <p:nvSpPr>
          <p:cNvPr id="3" name="Content Placeholder 2"/>
          <p:cNvSpPr>
            <a:spLocks noGrp="1"/>
          </p:cNvSpPr>
          <p:nvPr>
            <p:ph idx="1"/>
          </p:nvPr>
        </p:nvSpPr>
        <p:spPr/>
        <p:txBody>
          <a:bodyPr>
            <a:normAutofit/>
          </a:bodyPr>
          <a:lstStyle/>
          <a:p>
            <a:pPr lvl="0" algn="just">
              <a:spcBef>
                <a:spcPts val="0"/>
              </a:spcBef>
              <a:spcAft>
                <a:spcPts val="1800"/>
              </a:spcAft>
              <a:buFont typeface="Wingdings" pitchFamily="2" charset="2"/>
              <a:buChar char="§"/>
            </a:pPr>
            <a:r>
              <a:rPr lang="en-US" sz="2000" dirty="0" smtClean="0"/>
              <a:t>	</a:t>
            </a:r>
            <a:r>
              <a:rPr lang="en-US" sz="2000" dirty="0" err="1" smtClean="0"/>
              <a:t>În</a:t>
            </a:r>
            <a:r>
              <a:rPr lang="en-US" sz="2000" dirty="0" smtClean="0"/>
              <a:t> </a:t>
            </a:r>
            <a:r>
              <a:rPr lang="en-US" sz="2000" dirty="0" err="1" smtClean="0"/>
              <a:t>cazul</a:t>
            </a:r>
            <a:r>
              <a:rPr lang="en-US" sz="2000" dirty="0" smtClean="0"/>
              <a:t> </a:t>
            </a:r>
            <a:r>
              <a:rPr lang="en-US" sz="2000" dirty="0" err="1" smtClean="0"/>
              <a:t>în</a:t>
            </a:r>
            <a:r>
              <a:rPr lang="en-US" sz="2000" dirty="0" smtClean="0"/>
              <a:t> care se </a:t>
            </a:r>
            <a:r>
              <a:rPr lang="en-US" sz="2000" dirty="0" err="1" smtClean="0"/>
              <a:t>cunosc</a:t>
            </a:r>
            <a:r>
              <a:rPr lang="en-US" sz="2000" dirty="0" smtClean="0"/>
              <a:t> </a:t>
            </a:r>
            <a:r>
              <a:rPr lang="en-US" sz="2000" dirty="0" err="1" smtClean="0"/>
              <a:t>ordinele</a:t>
            </a:r>
            <a:r>
              <a:rPr lang="en-US" sz="2000" dirty="0" smtClean="0"/>
              <a:t> de </a:t>
            </a:r>
            <a:r>
              <a:rPr lang="en-US" sz="2000" dirty="0" err="1" smtClean="0"/>
              <a:t>mărime</a:t>
            </a:r>
            <a:r>
              <a:rPr lang="en-US" sz="2000" dirty="0" smtClean="0"/>
              <a:t> a</a:t>
            </a:r>
            <a:r>
              <a:rPr lang="ro-RO" sz="2000" dirty="0" smtClean="0"/>
              <a:t>le</a:t>
            </a:r>
            <a:r>
              <a:rPr lang="en-US" sz="2000" dirty="0" smtClean="0"/>
              <a:t> </a:t>
            </a:r>
            <a:r>
              <a:rPr lang="en-US" sz="2000" dirty="0" err="1" smtClean="0"/>
              <a:t>valorilor</a:t>
            </a:r>
            <a:r>
              <a:rPr lang="en-US" sz="2000" dirty="0" smtClean="0"/>
              <a:t> </a:t>
            </a:r>
            <a:r>
              <a:rPr lang="en-US" sz="2000" dirty="0" err="1" smtClean="0"/>
              <a:t>ce</a:t>
            </a:r>
            <a:r>
              <a:rPr lang="en-US" sz="2000" dirty="0" smtClean="0"/>
              <a:t> </a:t>
            </a:r>
            <a:r>
              <a:rPr lang="en-US" sz="2000" dirty="0" err="1" smtClean="0"/>
              <a:t>trebuiesc</a:t>
            </a:r>
            <a:r>
              <a:rPr lang="en-US" sz="2000" dirty="0" smtClean="0"/>
              <a:t> </a:t>
            </a:r>
            <a:r>
              <a:rPr lang="en-US" sz="2000" dirty="0" err="1" smtClean="0"/>
              <a:t>măsurate</a:t>
            </a:r>
            <a:r>
              <a:rPr lang="en-US" sz="2000" dirty="0" smtClean="0"/>
              <a:t> cu </a:t>
            </a:r>
            <a:r>
              <a:rPr lang="en-US" sz="2000" dirty="0" err="1" smtClean="0"/>
              <a:t>multimetrul</a:t>
            </a:r>
            <a:r>
              <a:rPr lang="en-US" sz="2000" dirty="0" smtClean="0"/>
              <a:t> se </a:t>
            </a:r>
            <a:r>
              <a:rPr lang="en-US" sz="2000" dirty="0" err="1" smtClean="0"/>
              <a:t>selectează</a:t>
            </a:r>
            <a:r>
              <a:rPr lang="en-US" sz="2000" dirty="0" smtClean="0"/>
              <a:t> </a:t>
            </a:r>
            <a:r>
              <a:rPr lang="en-US" sz="2000" b="1" dirty="0" err="1" smtClean="0"/>
              <a:t>domeniul</a:t>
            </a:r>
            <a:r>
              <a:rPr lang="en-US" sz="2000" b="1" dirty="0" smtClean="0"/>
              <a:t> de </a:t>
            </a:r>
            <a:r>
              <a:rPr lang="en-US" sz="2000" b="1" dirty="0" err="1" smtClean="0"/>
              <a:t>valori</a:t>
            </a:r>
            <a:r>
              <a:rPr lang="en-US" sz="2000" b="1" dirty="0" smtClean="0"/>
              <a:t> </a:t>
            </a:r>
            <a:r>
              <a:rPr lang="en-US" sz="2000" b="1" dirty="0" err="1" smtClean="0"/>
              <a:t>ce</a:t>
            </a:r>
            <a:r>
              <a:rPr lang="en-US" sz="2000" b="1" dirty="0" smtClean="0"/>
              <a:t> </a:t>
            </a:r>
            <a:r>
              <a:rPr lang="en-US" sz="2000" b="1" dirty="0" err="1" smtClean="0"/>
              <a:t>încadrează</a:t>
            </a:r>
            <a:r>
              <a:rPr lang="en-US" sz="2000" b="1" dirty="0" smtClean="0"/>
              <a:t> </a:t>
            </a:r>
            <a:r>
              <a:rPr lang="en-US" sz="2000" dirty="0" err="1" smtClean="0"/>
              <a:t>această</a:t>
            </a:r>
            <a:r>
              <a:rPr lang="en-US" sz="2000" dirty="0" smtClean="0"/>
              <a:t> </a:t>
            </a:r>
            <a:r>
              <a:rPr lang="en-US" sz="2000" dirty="0" err="1" smtClean="0"/>
              <a:t>valoare</a:t>
            </a:r>
            <a:r>
              <a:rPr lang="en-US" sz="2000" dirty="0" smtClean="0"/>
              <a:t> </a:t>
            </a:r>
            <a:r>
              <a:rPr lang="ro-RO" sz="2000" dirty="0" smtClean="0"/>
              <a:t>.</a:t>
            </a:r>
          </a:p>
          <a:p>
            <a:pPr lvl="0" algn="just">
              <a:spcBef>
                <a:spcPts val="0"/>
              </a:spcBef>
              <a:spcAft>
                <a:spcPts val="1800"/>
              </a:spcAft>
              <a:buFont typeface="Wingdings" pitchFamily="2" charset="2"/>
              <a:buChar char="§"/>
            </a:pPr>
            <a:r>
              <a:rPr lang="ro-RO" sz="2000" dirty="0" smtClean="0"/>
              <a:t>	</a:t>
            </a:r>
            <a:r>
              <a:rPr lang="en-US" sz="2000" dirty="0" err="1" smtClean="0"/>
              <a:t>Dacă</a:t>
            </a:r>
            <a:r>
              <a:rPr lang="en-US" sz="2000" dirty="0" smtClean="0"/>
              <a:t> nu se </a:t>
            </a:r>
            <a:r>
              <a:rPr lang="en-US" sz="2000" dirty="0" err="1" smtClean="0"/>
              <a:t>cunoaşte</a:t>
            </a:r>
            <a:r>
              <a:rPr lang="en-US" sz="2000" dirty="0" smtClean="0"/>
              <a:t> </a:t>
            </a:r>
            <a:r>
              <a:rPr lang="en-US" sz="2000" dirty="0" err="1" smtClean="0"/>
              <a:t>ordinul</a:t>
            </a:r>
            <a:r>
              <a:rPr lang="en-US" sz="2000" dirty="0" smtClean="0"/>
              <a:t> de </a:t>
            </a:r>
            <a:r>
              <a:rPr lang="en-US" sz="2000" dirty="0" err="1" smtClean="0"/>
              <a:t>mărime</a:t>
            </a:r>
            <a:r>
              <a:rPr lang="en-US" sz="2000" dirty="0" smtClean="0"/>
              <a:t> al </a:t>
            </a:r>
            <a:r>
              <a:rPr lang="en-US" sz="2000" dirty="0" err="1" smtClean="0"/>
              <a:t>valorii</a:t>
            </a:r>
            <a:r>
              <a:rPr lang="en-US" sz="2000" dirty="0" smtClean="0"/>
              <a:t> </a:t>
            </a:r>
            <a:r>
              <a:rPr lang="en-US" sz="2000" dirty="0" err="1" smtClean="0"/>
              <a:t>ce</a:t>
            </a:r>
            <a:r>
              <a:rPr lang="en-US" sz="2000" dirty="0" smtClean="0"/>
              <a:t> </a:t>
            </a:r>
            <a:r>
              <a:rPr lang="en-US" sz="2000" dirty="0" err="1" smtClean="0"/>
              <a:t>urmează</a:t>
            </a:r>
            <a:r>
              <a:rPr lang="en-US" sz="2000" dirty="0" smtClean="0"/>
              <a:t> a </a:t>
            </a:r>
            <a:r>
              <a:rPr lang="en-US" sz="2000" dirty="0" err="1" smtClean="0"/>
              <a:t>fi</a:t>
            </a:r>
            <a:r>
              <a:rPr lang="en-US" sz="2000" dirty="0" smtClean="0"/>
              <a:t> </a:t>
            </a:r>
            <a:r>
              <a:rPr lang="en-US" sz="2000" dirty="0" err="1" smtClean="0"/>
              <a:t>măsurat</a:t>
            </a:r>
            <a:r>
              <a:rPr lang="ro-RO" sz="2000" dirty="0" smtClean="0"/>
              <a:t>ă</a:t>
            </a:r>
            <a:r>
              <a:rPr lang="en-US" sz="2000" dirty="0" smtClean="0"/>
              <a:t>, se </a:t>
            </a:r>
            <a:r>
              <a:rPr lang="en-US" sz="2000" dirty="0" err="1" smtClean="0"/>
              <a:t>selectează</a:t>
            </a:r>
            <a:r>
              <a:rPr lang="en-US" sz="2000" dirty="0" smtClean="0"/>
              <a:t> </a:t>
            </a:r>
            <a:r>
              <a:rPr lang="en-US" sz="2000" b="1" dirty="0" err="1" smtClean="0"/>
              <a:t>cel</a:t>
            </a:r>
            <a:r>
              <a:rPr lang="en-US" sz="2000" b="1" dirty="0" smtClean="0"/>
              <a:t> </a:t>
            </a:r>
            <a:r>
              <a:rPr lang="en-US" sz="2000" b="1" dirty="0" err="1" smtClean="0"/>
              <a:t>mai</a:t>
            </a:r>
            <a:r>
              <a:rPr lang="en-US" sz="2000" b="1" dirty="0" smtClean="0"/>
              <a:t> mare </a:t>
            </a:r>
            <a:r>
              <a:rPr lang="en-US" sz="2000" b="1" dirty="0" err="1" smtClean="0"/>
              <a:t>domeniu</a:t>
            </a:r>
            <a:r>
              <a:rPr lang="en-US" sz="2000" b="1" dirty="0" smtClean="0"/>
              <a:t> </a:t>
            </a:r>
            <a:r>
              <a:rPr lang="en-US" sz="2000" b="1" dirty="0" err="1" smtClean="0"/>
              <a:t>permis</a:t>
            </a:r>
            <a:r>
              <a:rPr lang="en-US" sz="2000" b="1" dirty="0" smtClean="0"/>
              <a:t> </a:t>
            </a:r>
            <a:r>
              <a:rPr lang="en-US" sz="2000" dirty="0" smtClean="0"/>
              <a:t>de </a:t>
            </a:r>
            <a:r>
              <a:rPr lang="en-US" sz="2000" dirty="0" err="1" smtClean="0"/>
              <a:t>multimetrul</a:t>
            </a:r>
            <a:r>
              <a:rPr lang="en-US" sz="2000" dirty="0" smtClean="0"/>
              <a:t> </a:t>
            </a:r>
            <a:r>
              <a:rPr lang="en-US" sz="2000" dirty="0" err="1" smtClean="0"/>
              <a:t>respectiv</a:t>
            </a:r>
            <a:r>
              <a:rPr lang="en-US" sz="2000" dirty="0" smtClean="0"/>
              <a:t>, </a:t>
            </a:r>
            <a:r>
              <a:rPr lang="en-US" sz="2000" dirty="0" err="1" smtClean="0"/>
              <a:t>şi</a:t>
            </a:r>
            <a:r>
              <a:rPr lang="en-US" sz="2000" dirty="0" smtClean="0"/>
              <a:t>  </a:t>
            </a:r>
            <a:r>
              <a:rPr lang="en-US" sz="2000" dirty="0" err="1" smtClean="0"/>
              <a:t>apoi</a:t>
            </a:r>
            <a:r>
              <a:rPr lang="en-US" sz="2000" dirty="0" smtClean="0"/>
              <a:t> </a:t>
            </a:r>
            <a:r>
              <a:rPr lang="en-US" sz="2000" dirty="0" err="1" smtClean="0"/>
              <a:t>îl</a:t>
            </a:r>
            <a:r>
              <a:rPr lang="en-US" sz="2000" dirty="0" smtClean="0"/>
              <a:t> </a:t>
            </a:r>
            <a:r>
              <a:rPr lang="en-US" sz="2000" dirty="0" err="1" smtClean="0"/>
              <a:t>scădem</a:t>
            </a:r>
            <a:r>
              <a:rPr lang="en-US" sz="2000" dirty="0" smtClean="0"/>
              <a:t>, </a:t>
            </a:r>
            <a:r>
              <a:rPr lang="en-US" sz="2000" dirty="0" err="1" smtClean="0"/>
              <a:t>până</a:t>
            </a:r>
            <a:r>
              <a:rPr lang="en-US" sz="2000" dirty="0" smtClean="0"/>
              <a:t> </a:t>
            </a:r>
            <a:r>
              <a:rPr lang="en-US" sz="2000" dirty="0" err="1" smtClean="0"/>
              <a:t>când</a:t>
            </a:r>
            <a:r>
              <a:rPr lang="en-US" sz="2000" dirty="0" smtClean="0"/>
              <a:t> </a:t>
            </a:r>
            <a:r>
              <a:rPr lang="en-US" sz="2000" dirty="0" err="1" smtClean="0"/>
              <a:t>indicaţia</a:t>
            </a:r>
            <a:r>
              <a:rPr lang="en-US" sz="2000" dirty="0" smtClean="0"/>
              <a:t> </a:t>
            </a:r>
            <a:r>
              <a:rPr lang="en-US" sz="2000" dirty="0" err="1" smtClean="0"/>
              <a:t>ajunge</a:t>
            </a:r>
            <a:r>
              <a:rPr lang="en-US" sz="2000" dirty="0" smtClean="0"/>
              <a:t> </a:t>
            </a:r>
            <a:r>
              <a:rPr lang="en-US" sz="2000" dirty="0" err="1" smtClean="0"/>
              <a:t>să</a:t>
            </a:r>
            <a:r>
              <a:rPr lang="en-US" sz="2000" dirty="0" smtClean="0"/>
              <a:t> fie </a:t>
            </a:r>
            <a:r>
              <a:rPr lang="en-US" sz="2000" dirty="0" err="1" smtClean="0"/>
              <a:t>uşor</a:t>
            </a:r>
            <a:r>
              <a:rPr lang="en-US" sz="2000" dirty="0" smtClean="0"/>
              <a:t> de </a:t>
            </a:r>
            <a:r>
              <a:rPr lang="en-US" sz="2000" dirty="0" err="1" smtClean="0"/>
              <a:t>citit</a:t>
            </a:r>
            <a:r>
              <a:rPr lang="en-US" sz="2000" dirty="0" smtClean="0"/>
              <a:t>, </a:t>
            </a:r>
            <a:r>
              <a:rPr lang="en-US" sz="2000" dirty="0" err="1" smtClean="0"/>
              <a:t>adică</a:t>
            </a:r>
            <a:r>
              <a:rPr lang="en-US" sz="2000" dirty="0" smtClean="0"/>
              <a:t> </a:t>
            </a:r>
            <a:r>
              <a:rPr lang="en-US" sz="2000" dirty="0" err="1" smtClean="0"/>
              <a:t>în</a:t>
            </a:r>
            <a:r>
              <a:rPr lang="en-US" sz="2000" dirty="0" smtClean="0"/>
              <a:t> </a:t>
            </a:r>
            <a:r>
              <a:rPr lang="en-US" sz="2000" dirty="0" err="1" smtClean="0"/>
              <a:t>mijlocul</a:t>
            </a:r>
            <a:r>
              <a:rPr lang="en-US" sz="2000" dirty="0" smtClean="0"/>
              <a:t>  </a:t>
            </a:r>
            <a:r>
              <a:rPr lang="en-US" sz="2000" dirty="0" err="1" smtClean="0"/>
              <a:t>scalei</a:t>
            </a:r>
            <a:r>
              <a:rPr lang="en-US" sz="2000" dirty="0" smtClean="0"/>
              <a:t> gradate (</a:t>
            </a:r>
            <a:r>
              <a:rPr lang="en-US" sz="2000" dirty="0" err="1" smtClean="0"/>
              <a:t>rezistenţe</a:t>
            </a:r>
            <a:r>
              <a:rPr lang="en-US" sz="2000" dirty="0" smtClean="0"/>
              <a:t>) </a:t>
            </a:r>
            <a:r>
              <a:rPr lang="en-US" sz="2000" dirty="0" err="1" smtClean="0"/>
              <a:t>sau</a:t>
            </a:r>
            <a:r>
              <a:rPr lang="en-US" sz="2000" dirty="0" smtClean="0"/>
              <a:t> </a:t>
            </a:r>
            <a:r>
              <a:rPr lang="en-US" sz="2000" dirty="0" err="1" smtClean="0"/>
              <a:t>ultima</a:t>
            </a:r>
            <a:r>
              <a:rPr lang="en-US" sz="2000" dirty="0" smtClean="0"/>
              <a:t> </a:t>
            </a:r>
            <a:r>
              <a:rPr lang="en-US" sz="2000" dirty="0" err="1" smtClean="0"/>
              <a:t>treime</a:t>
            </a:r>
            <a:r>
              <a:rPr lang="en-US" sz="2000" dirty="0" smtClean="0"/>
              <a:t>, la  </a:t>
            </a:r>
            <a:r>
              <a:rPr lang="en-US" sz="2000" dirty="0" err="1" smtClean="0"/>
              <a:t>măsurare</a:t>
            </a:r>
            <a:r>
              <a:rPr lang="ro-RO" sz="2000" dirty="0" smtClean="0"/>
              <a:t>a</a:t>
            </a:r>
            <a:r>
              <a:rPr lang="en-US" sz="2000" dirty="0" smtClean="0"/>
              <a:t> </a:t>
            </a:r>
            <a:r>
              <a:rPr lang="ro-RO" sz="2000" dirty="0" smtClean="0"/>
              <a:t>intensităţii </a:t>
            </a:r>
            <a:r>
              <a:rPr lang="en-US" sz="2000" dirty="0" err="1" smtClean="0"/>
              <a:t>curent</a:t>
            </a:r>
            <a:r>
              <a:rPr lang="ro-RO" sz="2000" dirty="0" smtClean="0"/>
              <a:t>ului</a:t>
            </a:r>
            <a:r>
              <a:rPr lang="en-US" sz="2000" dirty="0" smtClean="0"/>
              <a:t> </a:t>
            </a:r>
            <a:r>
              <a:rPr lang="en-US" sz="2000" dirty="0" err="1" smtClean="0"/>
              <a:t>şi</a:t>
            </a:r>
            <a:r>
              <a:rPr lang="en-US" sz="2000" dirty="0" smtClean="0"/>
              <a:t> </a:t>
            </a:r>
            <a:r>
              <a:rPr lang="ro-RO" sz="2000" dirty="0" smtClean="0"/>
              <a:t>a </a:t>
            </a:r>
            <a:r>
              <a:rPr lang="en-US" sz="2000" dirty="0" err="1" smtClean="0"/>
              <a:t>tensiun</a:t>
            </a:r>
            <a:r>
              <a:rPr lang="ro-RO" sz="2000" dirty="0" smtClean="0"/>
              <a:t>ii</a:t>
            </a:r>
            <a:r>
              <a:rPr lang="en-US" sz="2000" dirty="0" smtClean="0"/>
              <a:t>.</a:t>
            </a:r>
          </a:p>
          <a:p>
            <a:pPr algn="just">
              <a:buFont typeface="Wingdings" pitchFamily="2" charset="2"/>
              <a:buChar char="§"/>
            </a:pPr>
            <a:r>
              <a:rPr lang="ro-RO" sz="2000" dirty="0" smtClean="0"/>
              <a:t>	</a:t>
            </a:r>
            <a:r>
              <a:rPr lang="en-US" sz="2000" dirty="0" err="1" smtClean="0"/>
              <a:t>Dacă</a:t>
            </a:r>
            <a:r>
              <a:rPr lang="en-US" sz="2000" dirty="0" smtClean="0"/>
              <a:t> </a:t>
            </a:r>
            <a:r>
              <a:rPr lang="en-US" sz="2000" dirty="0" err="1" smtClean="0"/>
              <a:t>procedăm</a:t>
            </a:r>
            <a:r>
              <a:rPr lang="en-US" sz="2000" dirty="0" smtClean="0"/>
              <a:t> </a:t>
            </a:r>
            <a:r>
              <a:rPr lang="en-US" sz="2000" dirty="0" err="1" smtClean="0"/>
              <a:t>invers</a:t>
            </a:r>
            <a:r>
              <a:rPr lang="en-US" sz="2000" dirty="0" smtClean="0"/>
              <a:t>, </a:t>
            </a:r>
            <a:r>
              <a:rPr lang="en-US" sz="2000" dirty="0" err="1" smtClean="0"/>
              <a:t>putem</a:t>
            </a:r>
            <a:r>
              <a:rPr lang="en-US" sz="2000" dirty="0" smtClean="0"/>
              <a:t> </a:t>
            </a:r>
            <a:r>
              <a:rPr lang="en-US" sz="2000" dirty="0" err="1" smtClean="0"/>
              <a:t>distruge</a:t>
            </a:r>
            <a:r>
              <a:rPr lang="en-US" sz="2000" dirty="0" smtClean="0"/>
              <a:t> </a:t>
            </a:r>
            <a:r>
              <a:rPr lang="en-US" sz="2000" dirty="0" err="1" smtClean="0"/>
              <a:t>aparatul</a:t>
            </a:r>
            <a:r>
              <a:rPr lang="ro-RO" sz="2000" dirty="0" smtClean="0"/>
              <a:t>.</a:t>
            </a:r>
            <a:endParaRPr lang="en-US" sz="2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620000" cy="639762"/>
          </a:xfrm>
        </p:spPr>
        <p:txBody>
          <a:bodyPr>
            <a:normAutofit/>
          </a:bodyPr>
          <a:lstStyle/>
          <a:p>
            <a:r>
              <a:rPr lang="en-US" sz="2400" b="1" dirty="0" err="1" smtClean="0">
                <a:solidFill>
                  <a:schemeClr val="accent2">
                    <a:lumMod val="60000"/>
                    <a:lumOff val="40000"/>
                  </a:schemeClr>
                </a:solidFill>
              </a:rPr>
              <a:t>Algoritmul</a:t>
            </a:r>
            <a:r>
              <a:rPr lang="en-US" sz="2400" b="1" dirty="0" smtClean="0">
                <a:solidFill>
                  <a:schemeClr val="accent2">
                    <a:lumMod val="60000"/>
                    <a:lumOff val="40000"/>
                  </a:schemeClr>
                </a:solidFill>
              </a:rPr>
              <a:t> de  </a:t>
            </a:r>
            <a:r>
              <a:rPr lang="en-US" sz="2400" b="1" dirty="0" err="1" smtClean="0">
                <a:solidFill>
                  <a:schemeClr val="accent2">
                    <a:lumMod val="60000"/>
                    <a:lumOff val="40000"/>
                  </a:schemeClr>
                </a:solidFill>
              </a:rPr>
              <a:t>măsurare</a:t>
            </a:r>
            <a:r>
              <a:rPr lang="en-US" sz="2400" b="1" dirty="0" smtClean="0">
                <a:solidFill>
                  <a:schemeClr val="accent2">
                    <a:lumMod val="60000"/>
                    <a:lumOff val="40000"/>
                  </a:schemeClr>
                </a:solidFill>
              </a:rPr>
              <a:t> cu </a:t>
            </a:r>
            <a:r>
              <a:rPr lang="en-US" sz="2400" b="1" dirty="0" err="1" smtClean="0">
                <a:solidFill>
                  <a:schemeClr val="accent2">
                    <a:lumMod val="60000"/>
                    <a:lumOff val="40000"/>
                  </a:schemeClr>
                </a:solidFill>
              </a:rPr>
              <a:t>multimetrul</a:t>
            </a:r>
            <a:r>
              <a:rPr lang="en-US" sz="2400" b="1" dirty="0" smtClean="0">
                <a:solidFill>
                  <a:schemeClr val="accent2">
                    <a:lumMod val="60000"/>
                    <a:lumOff val="40000"/>
                  </a:schemeClr>
                </a:solidFill>
              </a:rPr>
              <a:t> </a:t>
            </a:r>
            <a:r>
              <a:rPr lang="en-US" sz="2400" b="1" dirty="0" err="1" smtClean="0">
                <a:solidFill>
                  <a:schemeClr val="accent2">
                    <a:lumMod val="60000"/>
                    <a:lumOff val="40000"/>
                  </a:schemeClr>
                </a:solidFill>
              </a:rPr>
              <a:t>analogic</a:t>
            </a:r>
            <a:r>
              <a:rPr lang="en-US" sz="2400" b="1" dirty="0" smtClean="0">
                <a:solidFill>
                  <a:schemeClr val="accent2">
                    <a:lumMod val="60000"/>
                    <a:lumOff val="40000"/>
                  </a:schemeClr>
                </a:solidFill>
              </a:rPr>
              <a:t> - 4</a:t>
            </a:r>
            <a:endParaRPr lang="en-US" sz="2400" dirty="0"/>
          </a:p>
        </p:txBody>
      </p:sp>
      <p:sp>
        <p:nvSpPr>
          <p:cNvPr id="4" name="Content Placeholder 3"/>
          <p:cNvSpPr>
            <a:spLocks noGrp="1"/>
          </p:cNvSpPr>
          <p:nvPr>
            <p:ph sz="half" idx="1"/>
          </p:nvPr>
        </p:nvSpPr>
        <p:spPr>
          <a:xfrm>
            <a:off x="457200" y="914400"/>
            <a:ext cx="4038600" cy="5791200"/>
          </a:xfrm>
        </p:spPr>
        <p:txBody>
          <a:bodyPr>
            <a:normAutofit fontScale="25000" lnSpcReduction="20000"/>
          </a:bodyPr>
          <a:lstStyle/>
          <a:p>
            <a:pPr lvl="0" algn="just">
              <a:buNone/>
            </a:pPr>
            <a:r>
              <a:rPr lang="en-US" sz="6400" dirty="0" smtClean="0"/>
              <a:t>	</a:t>
            </a:r>
            <a:r>
              <a:rPr lang="ro-RO" sz="6400" dirty="0" smtClean="0"/>
              <a:t>Î</a:t>
            </a:r>
            <a:r>
              <a:rPr lang="en-US" sz="6400" dirty="0" smtClean="0"/>
              <a:t>n </a:t>
            </a:r>
            <a:r>
              <a:rPr lang="en-US" sz="6400" dirty="0" err="1" smtClean="0"/>
              <a:t>cazul</a:t>
            </a:r>
            <a:r>
              <a:rPr lang="en-US" sz="6400" dirty="0" smtClean="0"/>
              <a:t> </a:t>
            </a:r>
            <a:r>
              <a:rPr lang="en-US" sz="6400" dirty="0" err="1" smtClean="0"/>
              <a:t>măsurării</a:t>
            </a:r>
            <a:r>
              <a:rPr lang="en-US" sz="6400" dirty="0" smtClean="0"/>
              <a:t> </a:t>
            </a:r>
            <a:r>
              <a:rPr lang="en-US" sz="6400" b="1" dirty="0" err="1" smtClean="0">
                <a:solidFill>
                  <a:schemeClr val="accent3">
                    <a:lumMod val="75000"/>
                  </a:schemeClr>
                </a:solidFill>
              </a:rPr>
              <a:t>curenţilor</a:t>
            </a:r>
            <a:r>
              <a:rPr lang="en-US" sz="6400" b="1" dirty="0" smtClean="0">
                <a:solidFill>
                  <a:schemeClr val="accent3">
                    <a:lumMod val="75000"/>
                  </a:schemeClr>
                </a:solidFill>
              </a:rPr>
              <a:t> </a:t>
            </a:r>
            <a:r>
              <a:rPr lang="en-US" sz="6400" b="1" dirty="0" err="1" smtClean="0">
                <a:solidFill>
                  <a:schemeClr val="accent3">
                    <a:lumMod val="75000"/>
                  </a:schemeClr>
                </a:solidFill>
              </a:rPr>
              <a:t>şi</a:t>
            </a:r>
            <a:r>
              <a:rPr lang="en-US" sz="6400" b="1" dirty="0" smtClean="0">
                <a:solidFill>
                  <a:schemeClr val="accent3">
                    <a:lumMod val="75000"/>
                  </a:schemeClr>
                </a:solidFill>
              </a:rPr>
              <a:t> </a:t>
            </a:r>
            <a:r>
              <a:rPr lang="en-US" sz="6400" b="1" dirty="0" err="1" smtClean="0">
                <a:solidFill>
                  <a:schemeClr val="accent3">
                    <a:lumMod val="75000"/>
                  </a:schemeClr>
                </a:solidFill>
              </a:rPr>
              <a:t>tensiunilor</a:t>
            </a:r>
            <a:r>
              <a:rPr lang="en-US" sz="6400" b="1" dirty="0" smtClean="0">
                <a:solidFill>
                  <a:schemeClr val="accent3">
                    <a:lumMod val="75000"/>
                  </a:schemeClr>
                </a:solidFill>
              </a:rPr>
              <a:t> </a:t>
            </a:r>
            <a:r>
              <a:rPr lang="ro-RO" sz="6400" dirty="0" smtClean="0"/>
              <a:t>s</a:t>
            </a:r>
            <a:r>
              <a:rPr lang="en-US" sz="6400" dirty="0" smtClean="0"/>
              <a:t>e </a:t>
            </a:r>
            <a:r>
              <a:rPr lang="en-US" sz="6400" dirty="0" err="1" smtClean="0"/>
              <a:t>conectează</a:t>
            </a:r>
            <a:r>
              <a:rPr lang="en-US" sz="6400" dirty="0" smtClean="0"/>
              <a:t> </a:t>
            </a:r>
            <a:r>
              <a:rPr lang="en-US" sz="6400" dirty="0" err="1" smtClean="0"/>
              <a:t>multimetrul</a:t>
            </a:r>
            <a:r>
              <a:rPr lang="en-US" sz="6400" dirty="0" smtClean="0"/>
              <a:t> </a:t>
            </a:r>
            <a:r>
              <a:rPr lang="en-US" sz="6400" dirty="0" err="1" smtClean="0"/>
              <a:t>în</a:t>
            </a:r>
            <a:r>
              <a:rPr lang="en-US" sz="6400" dirty="0" smtClean="0"/>
              <a:t> circuit.</a:t>
            </a:r>
          </a:p>
          <a:p>
            <a:pPr lvl="0" algn="just">
              <a:buFont typeface="Wingdings" pitchFamily="2" charset="2"/>
              <a:buChar char="§"/>
            </a:pPr>
            <a:r>
              <a:rPr lang="it-IT" sz="6400" dirty="0" smtClean="0"/>
              <a:t>Pentru m</a:t>
            </a:r>
            <a:r>
              <a:rPr lang="ro-RO" sz="6400" dirty="0" smtClean="0"/>
              <a:t>ă</a:t>
            </a:r>
            <a:r>
              <a:rPr lang="it-IT" sz="6400" dirty="0" smtClean="0"/>
              <a:t>surarea tensiunilor multimetrul se poate conecta oriunde in circuit, valoarea afi</a:t>
            </a:r>
            <a:r>
              <a:rPr lang="ro-RO" sz="6400" dirty="0" smtClean="0"/>
              <a:t>ş</a:t>
            </a:r>
            <a:r>
              <a:rPr lang="it-IT" sz="6400" dirty="0" smtClean="0"/>
              <a:t>at</a:t>
            </a:r>
            <a:r>
              <a:rPr lang="ro-RO" sz="6400" dirty="0" smtClean="0"/>
              <a:t>ă</a:t>
            </a:r>
            <a:r>
              <a:rPr lang="it-IT" sz="6400" dirty="0" smtClean="0"/>
              <a:t> reprezent</a:t>
            </a:r>
            <a:r>
              <a:rPr lang="ro-RO" sz="6400" dirty="0" smtClean="0"/>
              <a:t>â</a:t>
            </a:r>
            <a:r>
              <a:rPr lang="it-IT" sz="6400" dirty="0" smtClean="0"/>
              <a:t>nd tensiunea m</a:t>
            </a:r>
            <a:r>
              <a:rPr lang="ro-RO" sz="6400" dirty="0" smtClean="0"/>
              <a:t>ă</a:t>
            </a:r>
            <a:r>
              <a:rPr lang="it-IT" sz="6400" dirty="0" smtClean="0"/>
              <a:t>surat</a:t>
            </a:r>
            <a:r>
              <a:rPr lang="ro-RO" sz="6400" dirty="0" smtClean="0"/>
              <a:t>ă</a:t>
            </a:r>
            <a:r>
              <a:rPr lang="it-IT" sz="6400" dirty="0" smtClean="0"/>
              <a:t> intre cele dou</a:t>
            </a:r>
            <a:r>
              <a:rPr lang="ro-RO" sz="6400" dirty="0" smtClean="0"/>
              <a:t>ă</a:t>
            </a:r>
            <a:r>
              <a:rPr lang="it-IT" sz="6400" dirty="0" smtClean="0"/>
              <a:t> puncte de test.</a:t>
            </a:r>
            <a:endParaRPr lang="en-US" sz="6400" dirty="0" smtClean="0"/>
          </a:p>
          <a:p>
            <a:pPr lvl="0" algn="just">
              <a:buFont typeface="Wingdings" pitchFamily="2" charset="2"/>
              <a:buChar char="§"/>
            </a:pPr>
            <a:r>
              <a:rPr lang="it-IT" sz="6400" dirty="0" smtClean="0"/>
              <a:t>M</a:t>
            </a:r>
            <a:r>
              <a:rPr lang="ro-RO" sz="6400" dirty="0" smtClean="0"/>
              <a:t>ă</a:t>
            </a:r>
            <a:r>
              <a:rPr lang="it-IT" sz="6400" dirty="0" smtClean="0"/>
              <a:t>surarea curentului se realizeaza inseriind multimetrul cu rezisten</a:t>
            </a:r>
            <a:r>
              <a:rPr lang="ro-RO" sz="6400" dirty="0" smtClean="0"/>
              <a:t>ţ</a:t>
            </a:r>
            <a:r>
              <a:rPr lang="it-IT" sz="6400" dirty="0" smtClean="0"/>
              <a:t>a prin care se determin</a:t>
            </a:r>
            <a:r>
              <a:rPr lang="ro-RO" sz="6400" dirty="0" smtClean="0"/>
              <a:t>ă</a:t>
            </a:r>
            <a:r>
              <a:rPr lang="it-IT" sz="6400" dirty="0" smtClean="0"/>
              <a:t> curentul, </a:t>
            </a:r>
            <a:r>
              <a:rPr lang="ro-RO" sz="6400" dirty="0" smtClean="0"/>
              <a:t>î</a:t>
            </a:r>
            <a:r>
              <a:rPr lang="it-IT" sz="6400" dirty="0" smtClean="0"/>
              <a:t>n caz contrar multimetrul se deterioreaz</a:t>
            </a:r>
            <a:r>
              <a:rPr lang="ro-RO" sz="6400" dirty="0" smtClean="0"/>
              <a:t>ă</a:t>
            </a:r>
            <a:r>
              <a:rPr lang="it-IT" sz="6400" dirty="0" smtClean="0"/>
              <a:t> (se arde)!</a:t>
            </a:r>
            <a:endParaRPr lang="en-US" sz="6400" dirty="0" smtClean="0"/>
          </a:p>
          <a:p>
            <a:pPr lvl="0" algn="just">
              <a:buFont typeface="Wingdings" pitchFamily="2" charset="2"/>
              <a:buChar char="§"/>
            </a:pPr>
            <a:r>
              <a:rPr lang="it-IT" sz="6400" dirty="0" smtClean="0"/>
              <a:t>Cele 2 cordoane se vor monta la bornele </a:t>
            </a:r>
            <a:r>
              <a:rPr lang="ro-RO" sz="6400" dirty="0" smtClean="0"/>
              <a:t>COM</a:t>
            </a:r>
            <a:r>
              <a:rPr lang="it-IT" sz="6400" dirty="0" smtClean="0"/>
              <a:t> şi </a:t>
            </a:r>
            <a:r>
              <a:rPr lang="en-US" sz="6400" dirty="0" smtClean="0"/>
              <a:t>“</a:t>
            </a:r>
            <a:r>
              <a:rPr lang="it-IT" sz="6400" dirty="0" smtClean="0"/>
              <a:t>+” de pe panou, la măsurări in curent continuu şi curent alternativ.</a:t>
            </a:r>
            <a:endParaRPr lang="en-US" sz="6400" dirty="0" smtClean="0"/>
          </a:p>
          <a:p>
            <a:pPr lvl="0" algn="just">
              <a:buFont typeface="Wingdings" pitchFamily="2" charset="2"/>
              <a:buChar char="§"/>
            </a:pPr>
            <a:r>
              <a:rPr lang="it-IT" sz="6400" dirty="0" smtClean="0"/>
              <a:t>La măsurările în curent continuu, modul de conectare este impus de polaritatea bornelor:</a:t>
            </a:r>
            <a:endParaRPr lang="en-US" sz="6400" dirty="0" smtClean="0"/>
          </a:p>
          <a:p>
            <a:pPr lvl="1" algn="just">
              <a:buFont typeface="Wingdings" pitchFamily="2" charset="2"/>
              <a:buChar char="§"/>
            </a:pPr>
            <a:r>
              <a:rPr lang="it-IT" sz="6400" dirty="0" smtClean="0"/>
              <a:t>borna cu semnul “+” se leagă la plusul sursei de tensiune,</a:t>
            </a:r>
            <a:endParaRPr lang="en-US" sz="6400" dirty="0" smtClean="0"/>
          </a:p>
          <a:p>
            <a:pPr lvl="1" algn="just">
              <a:buFont typeface="Wingdings" pitchFamily="2" charset="2"/>
              <a:buChar char="§"/>
            </a:pPr>
            <a:r>
              <a:rPr lang="it-IT" sz="6400" dirty="0" smtClean="0"/>
              <a:t>borna cu semnul “–” se leagă la minusul sursei</a:t>
            </a:r>
            <a:endParaRPr lang="en-US" sz="6400" dirty="0" smtClean="0"/>
          </a:p>
          <a:p>
            <a:pPr lvl="1" algn="just">
              <a:buFont typeface="Wingdings" pitchFamily="2" charset="2"/>
              <a:buChar char="§"/>
            </a:pPr>
            <a:r>
              <a:rPr lang="it-IT" sz="6400" dirty="0" smtClean="0"/>
              <a:t>la scheme mai complicate se respectă polarităţile trecute pe schemă</a:t>
            </a:r>
            <a:endParaRPr lang="en-US" sz="6400" dirty="0" smtClean="0"/>
          </a:p>
          <a:p>
            <a:pPr lvl="0" algn="just">
              <a:buFont typeface="Wingdings" pitchFamily="2" charset="2"/>
              <a:buChar char="§"/>
            </a:pPr>
            <a:r>
              <a:rPr lang="it-IT" sz="6400" dirty="0" smtClean="0"/>
              <a:t>Dacă polaritatea nu se respectă, acul se deviază în sens contrar celui normal şi aparatul riscă să se distrugă</a:t>
            </a:r>
            <a:endParaRPr lang="en-US" sz="6400" dirty="0" smtClean="0"/>
          </a:p>
          <a:p>
            <a:pPr lvl="0" algn="just">
              <a:buFont typeface="Wingdings" pitchFamily="2" charset="2"/>
              <a:buChar char="§"/>
            </a:pPr>
            <a:r>
              <a:rPr lang="it-IT" sz="6400" dirty="0" smtClean="0"/>
              <a:t>La măsurări în curent alternativ  modul de conectare este indiferent</a:t>
            </a:r>
            <a:endParaRPr lang="en-US" sz="6400" dirty="0" smtClean="0"/>
          </a:p>
          <a:p>
            <a:pPr>
              <a:buNone/>
            </a:pPr>
            <a:r>
              <a:rPr lang="it-IT" sz="6400" dirty="0" smtClean="0"/>
              <a:t> </a:t>
            </a:r>
            <a:endParaRPr lang="en-US" sz="6400" dirty="0" smtClean="0"/>
          </a:p>
          <a:p>
            <a:endParaRPr lang="en-US" sz="4900" dirty="0"/>
          </a:p>
        </p:txBody>
      </p:sp>
      <p:sp>
        <p:nvSpPr>
          <p:cNvPr id="5" name="Content Placeholder 4"/>
          <p:cNvSpPr>
            <a:spLocks noGrp="1"/>
          </p:cNvSpPr>
          <p:nvPr>
            <p:ph sz="half" idx="2"/>
          </p:nvPr>
        </p:nvSpPr>
        <p:spPr/>
        <p:txBody>
          <a:bodyPr>
            <a:normAutofit fontScale="25000" lnSpcReduction="20000"/>
          </a:bodyPr>
          <a:lstStyle/>
          <a:p>
            <a:pPr algn="just">
              <a:buNone/>
            </a:pPr>
            <a:r>
              <a:rPr lang="en-US" sz="6400" dirty="0" smtClean="0"/>
              <a:t>	La </a:t>
            </a:r>
            <a:r>
              <a:rPr lang="en-US" sz="6400" dirty="0" err="1" smtClean="0"/>
              <a:t>măsurarea</a:t>
            </a:r>
            <a:r>
              <a:rPr lang="en-US" sz="6400" dirty="0" smtClean="0"/>
              <a:t> </a:t>
            </a:r>
            <a:r>
              <a:rPr lang="en-US" sz="6400" b="1" dirty="0" err="1" smtClean="0">
                <a:solidFill>
                  <a:schemeClr val="accent3">
                    <a:lumMod val="75000"/>
                  </a:schemeClr>
                </a:solidFill>
              </a:rPr>
              <a:t>rezistenţelor</a:t>
            </a:r>
            <a:r>
              <a:rPr lang="en-US" sz="6400" b="1" dirty="0" smtClean="0">
                <a:solidFill>
                  <a:schemeClr val="accent3">
                    <a:lumMod val="75000"/>
                  </a:schemeClr>
                </a:solidFill>
              </a:rPr>
              <a:t> </a:t>
            </a:r>
            <a:r>
              <a:rPr lang="en-US" sz="6400" dirty="0" smtClean="0"/>
              <a:t>se </a:t>
            </a:r>
            <a:r>
              <a:rPr lang="en-US" sz="6400" dirty="0" err="1" smtClean="0"/>
              <a:t>respectă</a:t>
            </a:r>
            <a:r>
              <a:rPr lang="en-US" sz="6400" dirty="0" smtClean="0"/>
              <a:t> </a:t>
            </a:r>
            <a:r>
              <a:rPr lang="en-US" sz="6400" dirty="0" err="1" smtClean="0"/>
              <a:t>următoarele</a:t>
            </a:r>
            <a:r>
              <a:rPr lang="en-US" sz="6400" dirty="0" smtClean="0"/>
              <a:t>:</a:t>
            </a:r>
          </a:p>
          <a:p>
            <a:pPr lvl="0" algn="just">
              <a:buFont typeface="Wingdings" pitchFamily="2" charset="2"/>
              <a:buChar char="§"/>
            </a:pPr>
            <a:r>
              <a:rPr lang="en-US" sz="6400" dirty="0" err="1" smtClean="0"/>
              <a:t>Rezistorul</a:t>
            </a:r>
            <a:r>
              <a:rPr lang="en-US" sz="6400" dirty="0" smtClean="0"/>
              <a:t> </a:t>
            </a:r>
            <a:r>
              <a:rPr lang="en-US" sz="6400" dirty="0" err="1" smtClean="0"/>
              <a:t>să</a:t>
            </a:r>
            <a:r>
              <a:rPr lang="en-US" sz="6400" dirty="0" smtClean="0"/>
              <a:t> nu fie sub </a:t>
            </a:r>
            <a:r>
              <a:rPr lang="en-US" sz="6400" dirty="0" err="1" smtClean="0"/>
              <a:t>tensiune</a:t>
            </a:r>
            <a:r>
              <a:rPr lang="en-US" sz="6400" dirty="0" smtClean="0"/>
              <a:t>, </a:t>
            </a:r>
            <a:r>
              <a:rPr lang="en-US" sz="6400" dirty="0" err="1" smtClean="0"/>
              <a:t>altfel</a:t>
            </a:r>
            <a:r>
              <a:rPr lang="en-US" sz="6400" dirty="0" smtClean="0"/>
              <a:t> se </a:t>
            </a:r>
            <a:r>
              <a:rPr lang="en-US" sz="6400" dirty="0" err="1" smtClean="0"/>
              <a:t>distruge</a:t>
            </a:r>
            <a:r>
              <a:rPr lang="en-US" sz="6400" dirty="0" smtClean="0"/>
              <a:t> </a:t>
            </a:r>
            <a:r>
              <a:rPr lang="en-US" sz="6400" dirty="0" err="1" smtClean="0"/>
              <a:t>aparatul</a:t>
            </a:r>
            <a:r>
              <a:rPr lang="en-US" sz="6400" dirty="0" smtClean="0"/>
              <a:t> </a:t>
            </a:r>
            <a:r>
              <a:rPr lang="en-US" sz="6400" dirty="0" err="1" smtClean="0"/>
              <a:t>şi</a:t>
            </a:r>
            <a:r>
              <a:rPr lang="en-US" sz="6400" dirty="0" smtClean="0"/>
              <a:t>  </a:t>
            </a:r>
            <a:r>
              <a:rPr lang="en-US" sz="6400" dirty="0" err="1" smtClean="0"/>
              <a:t>măsurarea</a:t>
            </a:r>
            <a:r>
              <a:rPr lang="en-US" sz="6400" dirty="0" smtClean="0"/>
              <a:t> </a:t>
            </a:r>
            <a:r>
              <a:rPr lang="en-US" sz="6400" dirty="0" err="1" smtClean="0"/>
              <a:t>este</a:t>
            </a:r>
            <a:r>
              <a:rPr lang="en-US" sz="6400" dirty="0" smtClean="0"/>
              <a:t> </a:t>
            </a:r>
            <a:r>
              <a:rPr lang="en-US" sz="6400" dirty="0" err="1" smtClean="0"/>
              <a:t>eronată</a:t>
            </a:r>
            <a:endParaRPr lang="en-US" sz="6400" dirty="0" smtClean="0"/>
          </a:p>
          <a:p>
            <a:pPr lvl="0" algn="just">
              <a:buFont typeface="Wingdings" pitchFamily="2" charset="2"/>
              <a:buChar char="§"/>
            </a:pPr>
            <a:r>
              <a:rPr lang="en-US" sz="6400" dirty="0" err="1" smtClean="0"/>
              <a:t>Rezistorul</a:t>
            </a:r>
            <a:r>
              <a:rPr lang="en-US" sz="6400" dirty="0" smtClean="0"/>
              <a:t> </a:t>
            </a:r>
            <a:r>
              <a:rPr lang="en-US" sz="6400" dirty="0" err="1" smtClean="0"/>
              <a:t>să</a:t>
            </a:r>
            <a:r>
              <a:rPr lang="en-US" sz="6400" dirty="0" smtClean="0"/>
              <a:t> nu fie </a:t>
            </a:r>
            <a:r>
              <a:rPr lang="en-US" sz="6400" dirty="0" err="1" smtClean="0"/>
              <a:t>conectat</a:t>
            </a:r>
            <a:r>
              <a:rPr lang="en-US" sz="6400" dirty="0" smtClean="0"/>
              <a:t> </a:t>
            </a:r>
            <a:r>
              <a:rPr lang="en-US" sz="6400" dirty="0" err="1" smtClean="0"/>
              <a:t>într</a:t>
            </a:r>
            <a:r>
              <a:rPr lang="en-US" sz="6400" dirty="0" smtClean="0"/>
              <a:t>-un </a:t>
            </a:r>
            <a:r>
              <a:rPr lang="en-US" sz="6400" dirty="0" err="1" smtClean="0"/>
              <a:t>montaj</a:t>
            </a:r>
            <a:r>
              <a:rPr lang="en-US" sz="6400" dirty="0" smtClean="0"/>
              <a:t>, </a:t>
            </a:r>
            <a:r>
              <a:rPr lang="en-US" sz="6400" dirty="0" err="1" smtClean="0"/>
              <a:t>altfel</a:t>
            </a:r>
            <a:r>
              <a:rPr lang="en-US" sz="6400" dirty="0" smtClean="0"/>
              <a:t> </a:t>
            </a:r>
            <a:r>
              <a:rPr lang="en-US" sz="6400" dirty="0" err="1" smtClean="0"/>
              <a:t>avem</a:t>
            </a:r>
            <a:r>
              <a:rPr lang="en-US" sz="6400" dirty="0" smtClean="0"/>
              <a:t> </a:t>
            </a:r>
            <a:r>
              <a:rPr lang="en-US" sz="6400" dirty="0" err="1" smtClean="0"/>
              <a:t>măsurări</a:t>
            </a:r>
            <a:r>
              <a:rPr lang="en-US" sz="6400" dirty="0" smtClean="0"/>
              <a:t> </a:t>
            </a:r>
            <a:r>
              <a:rPr lang="en-US" sz="6400" dirty="0" err="1" smtClean="0"/>
              <a:t>eronate</a:t>
            </a:r>
            <a:endParaRPr lang="en-US" sz="6400" dirty="0" smtClean="0"/>
          </a:p>
          <a:p>
            <a:pPr lvl="0" algn="just">
              <a:buFont typeface="Wingdings" pitchFamily="2" charset="2"/>
              <a:buChar char="§"/>
            </a:pPr>
            <a:r>
              <a:rPr lang="en-US" sz="6400" dirty="0" err="1" smtClean="0"/>
              <a:t>Terminalele</a:t>
            </a:r>
            <a:r>
              <a:rPr lang="en-US" sz="6400" dirty="0" smtClean="0"/>
              <a:t> </a:t>
            </a:r>
            <a:r>
              <a:rPr lang="en-US" sz="6400" dirty="0" err="1" smtClean="0"/>
              <a:t>rezistorului</a:t>
            </a:r>
            <a:r>
              <a:rPr lang="en-US" sz="6400" dirty="0" smtClean="0"/>
              <a:t> </a:t>
            </a:r>
            <a:r>
              <a:rPr lang="en-US" sz="6400" dirty="0" err="1" smtClean="0"/>
              <a:t>să</a:t>
            </a:r>
            <a:r>
              <a:rPr lang="en-US" sz="6400" dirty="0" smtClean="0"/>
              <a:t> nu fie </a:t>
            </a:r>
            <a:r>
              <a:rPr lang="en-US" sz="6400" dirty="0" err="1" smtClean="0"/>
              <a:t>ţinute</a:t>
            </a:r>
            <a:r>
              <a:rPr lang="en-US" sz="6400" dirty="0" smtClean="0"/>
              <a:t> cu </a:t>
            </a:r>
            <a:r>
              <a:rPr lang="en-US" sz="6400" dirty="0" err="1" smtClean="0"/>
              <a:t>mâna</a:t>
            </a:r>
            <a:r>
              <a:rPr lang="en-US" sz="6400" dirty="0" smtClean="0"/>
              <a:t> (</a:t>
            </a:r>
            <a:r>
              <a:rPr lang="en-US" sz="6400" dirty="0" err="1" smtClean="0"/>
              <a:t>altfel</a:t>
            </a:r>
            <a:r>
              <a:rPr lang="en-US" sz="6400" dirty="0" smtClean="0"/>
              <a:t> </a:t>
            </a:r>
            <a:r>
              <a:rPr lang="en-US" sz="6400" dirty="0" err="1" smtClean="0"/>
              <a:t>rezistenţa</a:t>
            </a:r>
            <a:r>
              <a:rPr lang="en-US" sz="6400" dirty="0" smtClean="0"/>
              <a:t> </a:t>
            </a:r>
            <a:r>
              <a:rPr lang="en-US" sz="6400" dirty="0" err="1" smtClean="0"/>
              <a:t>operatorului</a:t>
            </a:r>
            <a:r>
              <a:rPr lang="en-US" sz="6400" dirty="0" smtClean="0"/>
              <a:t> se </a:t>
            </a:r>
            <a:r>
              <a:rPr lang="en-US" sz="6400" dirty="0" err="1" smtClean="0"/>
              <a:t>leagă</a:t>
            </a:r>
            <a:r>
              <a:rPr lang="en-US" sz="6400" dirty="0" smtClean="0"/>
              <a:t> </a:t>
            </a:r>
            <a:r>
              <a:rPr lang="en-US" sz="6400" dirty="0" err="1" smtClean="0"/>
              <a:t>în</a:t>
            </a:r>
            <a:r>
              <a:rPr lang="en-US" sz="6400" dirty="0" smtClean="0"/>
              <a:t> </a:t>
            </a:r>
            <a:r>
              <a:rPr lang="en-US" sz="6400" dirty="0" err="1" smtClean="0"/>
              <a:t>paralel</a:t>
            </a:r>
            <a:r>
              <a:rPr lang="en-US" sz="6400" dirty="0" smtClean="0"/>
              <a:t> cu </a:t>
            </a:r>
            <a:r>
              <a:rPr lang="en-US" sz="6400" dirty="0" err="1" smtClean="0"/>
              <a:t>rezistenţa</a:t>
            </a:r>
            <a:r>
              <a:rPr lang="en-US" sz="6400" dirty="0" smtClean="0"/>
              <a:t> de </a:t>
            </a:r>
            <a:r>
              <a:rPr lang="en-US" sz="6400" dirty="0" err="1" smtClean="0"/>
              <a:t>măsurat</a:t>
            </a:r>
            <a:r>
              <a:rPr lang="en-US" sz="6400" dirty="0" smtClean="0"/>
              <a:t>)</a:t>
            </a:r>
          </a:p>
          <a:p>
            <a:pPr lvl="0" algn="just">
              <a:buFont typeface="Wingdings" pitchFamily="2" charset="2"/>
              <a:buChar char="§"/>
            </a:pPr>
            <a:r>
              <a:rPr lang="en-US" sz="6400" dirty="0" err="1" smtClean="0"/>
              <a:t>Terminalele</a:t>
            </a:r>
            <a:r>
              <a:rPr lang="en-US" sz="6400" dirty="0" smtClean="0"/>
              <a:t> </a:t>
            </a:r>
            <a:r>
              <a:rPr lang="en-US" sz="6400" dirty="0" err="1" smtClean="0"/>
              <a:t>rezistenţei</a:t>
            </a:r>
            <a:r>
              <a:rPr lang="en-US" sz="6400" dirty="0" smtClean="0"/>
              <a:t> </a:t>
            </a:r>
            <a:r>
              <a:rPr lang="en-US" sz="6400" dirty="0" err="1" smtClean="0"/>
              <a:t>să</a:t>
            </a:r>
            <a:r>
              <a:rPr lang="en-US" sz="6400" dirty="0" smtClean="0"/>
              <a:t> </a:t>
            </a:r>
            <a:r>
              <a:rPr lang="en-US" sz="6400" dirty="0" err="1" smtClean="0"/>
              <a:t>aibă</a:t>
            </a:r>
            <a:r>
              <a:rPr lang="en-US" sz="6400" dirty="0" smtClean="0"/>
              <a:t> contact bun cu </a:t>
            </a:r>
            <a:r>
              <a:rPr lang="en-US" sz="6400" dirty="0" err="1" smtClean="0"/>
              <a:t>bornele</a:t>
            </a:r>
            <a:r>
              <a:rPr lang="en-US" sz="6400" dirty="0" smtClean="0"/>
              <a:t> </a:t>
            </a:r>
            <a:r>
              <a:rPr lang="en-US" sz="6400" dirty="0" err="1" smtClean="0"/>
              <a:t>aparatului</a:t>
            </a:r>
            <a:endParaRPr lang="en-US" sz="6400" dirty="0" smtClean="0"/>
          </a:p>
          <a:p>
            <a:pPr lvl="0" algn="just">
              <a:buFont typeface="Wingdings" pitchFamily="2" charset="2"/>
              <a:buChar char="§"/>
            </a:pPr>
            <a:r>
              <a:rPr lang="en-US" sz="6400" dirty="0" smtClean="0"/>
              <a:t>La </a:t>
            </a:r>
            <a:r>
              <a:rPr lang="en-US" sz="6400" dirty="0" err="1" smtClean="0"/>
              <a:t>măsurarea</a:t>
            </a:r>
            <a:r>
              <a:rPr lang="en-US" sz="6400" dirty="0" smtClean="0"/>
              <a:t> </a:t>
            </a:r>
            <a:r>
              <a:rPr lang="en-US" sz="6400" dirty="0" err="1" smtClean="0"/>
              <a:t>rezistenţelor</a:t>
            </a:r>
            <a:r>
              <a:rPr lang="en-US" sz="6400" dirty="0" smtClean="0"/>
              <a:t> </a:t>
            </a:r>
            <a:r>
              <a:rPr lang="en-US" sz="6400" dirty="0" err="1" smtClean="0"/>
              <a:t>mici</a:t>
            </a:r>
            <a:r>
              <a:rPr lang="en-US" sz="6400" dirty="0" smtClean="0"/>
              <a:t> (</a:t>
            </a:r>
            <a:r>
              <a:rPr lang="en-US" sz="6400" dirty="0" err="1" smtClean="0"/>
              <a:t>ohmmetru</a:t>
            </a:r>
            <a:r>
              <a:rPr lang="en-US" sz="6400" dirty="0" smtClean="0"/>
              <a:t> </a:t>
            </a:r>
            <a:r>
              <a:rPr lang="en-US" sz="6400" dirty="0" err="1" smtClean="0"/>
              <a:t>derivaţie</a:t>
            </a:r>
            <a:r>
              <a:rPr lang="en-US" sz="6400" dirty="0" smtClean="0"/>
              <a:t>) </a:t>
            </a:r>
            <a:r>
              <a:rPr lang="en-US" sz="6400" dirty="0" err="1" smtClean="0"/>
              <a:t>bornele</a:t>
            </a:r>
            <a:r>
              <a:rPr lang="en-US" sz="6400" dirty="0" smtClean="0"/>
              <a:t> COM </a:t>
            </a:r>
            <a:r>
              <a:rPr lang="en-US" sz="6400" dirty="0" err="1" smtClean="0"/>
              <a:t>şi</a:t>
            </a:r>
            <a:r>
              <a:rPr lang="en-US" sz="6400" dirty="0" smtClean="0"/>
              <a:t> “+” se </a:t>
            </a:r>
            <a:r>
              <a:rPr lang="en-US" sz="6400" dirty="0" err="1" smtClean="0"/>
              <a:t>scurtcircuitează</a:t>
            </a:r>
            <a:r>
              <a:rPr lang="en-US" sz="6400" dirty="0" smtClean="0"/>
              <a:t> cu </a:t>
            </a:r>
            <a:r>
              <a:rPr lang="en-US" sz="6400" dirty="0" err="1" smtClean="0"/>
              <a:t>scurtcircuitorul</a:t>
            </a:r>
            <a:r>
              <a:rPr lang="en-US" sz="6400" dirty="0" smtClean="0"/>
              <a:t> de borne, </a:t>
            </a:r>
            <a:r>
              <a:rPr lang="en-US" sz="6400" dirty="0" err="1" smtClean="0"/>
              <a:t>şi</a:t>
            </a:r>
            <a:r>
              <a:rPr lang="en-US" sz="6400" dirty="0" smtClean="0"/>
              <a:t> </a:t>
            </a:r>
            <a:r>
              <a:rPr lang="en-US" sz="6400" dirty="0" err="1" smtClean="0"/>
              <a:t>cordoanele</a:t>
            </a:r>
            <a:r>
              <a:rPr lang="en-US" sz="6400" dirty="0" smtClean="0"/>
              <a:t> se </a:t>
            </a:r>
            <a:r>
              <a:rPr lang="en-US" sz="6400" dirty="0" err="1" smtClean="0"/>
              <a:t>vor</a:t>
            </a:r>
            <a:r>
              <a:rPr lang="en-US" sz="6400" dirty="0" smtClean="0"/>
              <a:t> </a:t>
            </a:r>
            <a:r>
              <a:rPr lang="en-US" sz="6400" dirty="0" err="1" smtClean="0"/>
              <a:t>conecta</a:t>
            </a:r>
            <a:r>
              <a:rPr lang="en-US" sz="6400" dirty="0" smtClean="0"/>
              <a:t> la </a:t>
            </a:r>
            <a:r>
              <a:rPr lang="en-US" sz="6400" dirty="0" err="1" smtClean="0"/>
              <a:t>borna</a:t>
            </a:r>
            <a:r>
              <a:rPr lang="en-US" sz="6400" dirty="0" smtClean="0"/>
              <a:t> DΩ </a:t>
            </a:r>
            <a:r>
              <a:rPr lang="en-US" sz="6400" dirty="0" err="1" smtClean="0"/>
              <a:t>şi</a:t>
            </a:r>
            <a:r>
              <a:rPr lang="en-US" sz="6400" dirty="0" smtClean="0"/>
              <a:t> la </a:t>
            </a:r>
            <a:r>
              <a:rPr lang="en-US" sz="6400" dirty="0" err="1" smtClean="0"/>
              <a:t>bornele</a:t>
            </a:r>
            <a:r>
              <a:rPr lang="en-US" sz="6400" dirty="0" smtClean="0"/>
              <a:t> </a:t>
            </a:r>
            <a:r>
              <a:rPr lang="en-US" sz="6400" dirty="0" err="1" smtClean="0"/>
              <a:t>scurtcircuitate</a:t>
            </a:r>
            <a:r>
              <a:rPr lang="en-US" sz="6400" dirty="0" smtClean="0"/>
              <a:t>. </a:t>
            </a:r>
          </a:p>
          <a:p>
            <a:pPr lvl="0" algn="just">
              <a:buFont typeface="Wingdings" pitchFamily="2" charset="2"/>
              <a:buChar char="§"/>
            </a:pPr>
            <a:r>
              <a:rPr lang="en-US" sz="6400" dirty="0" smtClean="0"/>
              <a:t>La </a:t>
            </a:r>
            <a:r>
              <a:rPr lang="en-US" sz="6400" dirty="0" err="1" smtClean="0"/>
              <a:t>măsurarea</a:t>
            </a:r>
            <a:r>
              <a:rPr lang="en-US" sz="6400" dirty="0" smtClean="0"/>
              <a:t> </a:t>
            </a:r>
            <a:r>
              <a:rPr lang="en-US" sz="6400" dirty="0" err="1" smtClean="0"/>
              <a:t>rezistenţelor</a:t>
            </a:r>
            <a:r>
              <a:rPr lang="en-US" sz="6400" dirty="0" smtClean="0"/>
              <a:t> </a:t>
            </a:r>
            <a:r>
              <a:rPr lang="en-US" sz="6400" dirty="0" err="1" smtClean="0"/>
              <a:t>mari</a:t>
            </a:r>
            <a:r>
              <a:rPr lang="en-US" sz="6400" dirty="0" smtClean="0"/>
              <a:t> (</a:t>
            </a:r>
            <a:r>
              <a:rPr lang="en-US" sz="6400" dirty="0" err="1" smtClean="0"/>
              <a:t>ohmmetru</a:t>
            </a:r>
            <a:r>
              <a:rPr lang="en-US" sz="6400" dirty="0" smtClean="0"/>
              <a:t> </a:t>
            </a:r>
            <a:r>
              <a:rPr lang="en-US" sz="6400" dirty="0" err="1" smtClean="0"/>
              <a:t>serie</a:t>
            </a:r>
            <a:r>
              <a:rPr lang="en-US" sz="6400" dirty="0" smtClean="0"/>
              <a:t>) </a:t>
            </a:r>
            <a:r>
              <a:rPr lang="en-US" sz="6400" dirty="0" err="1" smtClean="0"/>
              <a:t>cordoanele</a:t>
            </a:r>
            <a:r>
              <a:rPr lang="en-US" sz="6400" dirty="0" smtClean="0"/>
              <a:t> se </a:t>
            </a:r>
            <a:r>
              <a:rPr lang="en-US" sz="6400" dirty="0" err="1" smtClean="0"/>
              <a:t>leagă</a:t>
            </a:r>
            <a:r>
              <a:rPr lang="en-US" sz="6400" dirty="0" smtClean="0"/>
              <a:t> la COM </a:t>
            </a:r>
            <a:r>
              <a:rPr lang="en-US" sz="6400" dirty="0" err="1" smtClean="0"/>
              <a:t>şi</a:t>
            </a:r>
            <a:r>
              <a:rPr lang="en-US" sz="6400" dirty="0" smtClean="0"/>
              <a:t> “+”.</a:t>
            </a:r>
          </a:p>
          <a:p>
            <a:pPr algn="just">
              <a:buNone/>
            </a:pPr>
            <a:r>
              <a:rPr lang="en-US" sz="6400" dirty="0" smtClean="0"/>
              <a:t> </a:t>
            </a:r>
          </a:p>
          <a:p>
            <a:endParaRPr lang="en-US" sz="6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74638"/>
            <a:ext cx="7924800" cy="868362"/>
          </a:xfrm>
        </p:spPr>
        <p:txBody>
          <a:bodyPr>
            <a:normAutofit/>
          </a:bodyPr>
          <a:lstStyle/>
          <a:p>
            <a:r>
              <a:rPr lang="en-US" sz="2400" b="1" dirty="0" err="1" smtClean="0">
                <a:solidFill>
                  <a:schemeClr val="accent2">
                    <a:lumMod val="60000"/>
                    <a:lumOff val="40000"/>
                  </a:schemeClr>
                </a:solidFill>
              </a:rPr>
              <a:t>Algoritmul</a:t>
            </a:r>
            <a:r>
              <a:rPr lang="en-US" sz="2400" b="1" dirty="0" smtClean="0">
                <a:solidFill>
                  <a:schemeClr val="accent2">
                    <a:lumMod val="60000"/>
                    <a:lumOff val="40000"/>
                  </a:schemeClr>
                </a:solidFill>
              </a:rPr>
              <a:t> de  </a:t>
            </a:r>
            <a:r>
              <a:rPr lang="en-US" sz="2400" b="1" dirty="0" err="1" smtClean="0">
                <a:solidFill>
                  <a:schemeClr val="accent2">
                    <a:lumMod val="60000"/>
                    <a:lumOff val="40000"/>
                  </a:schemeClr>
                </a:solidFill>
              </a:rPr>
              <a:t>măsurare</a:t>
            </a:r>
            <a:r>
              <a:rPr lang="en-US" sz="2400" b="1" dirty="0" smtClean="0">
                <a:solidFill>
                  <a:schemeClr val="accent2">
                    <a:lumMod val="60000"/>
                    <a:lumOff val="40000"/>
                  </a:schemeClr>
                </a:solidFill>
              </a:rPr>
              <a:t> cu </a:t>
            </a:r>
            <a:r>
              <a:rPr lang="en-US" sz="2400" b="1" dirty="0" err="1" smtClean="0">
                <a:solidFill>
                  <a:schemeClr val="accent2">
                    <a:lumMod val="60000"/>
                    <a:lumOff val="40000"/>
                  </a:schemeClr>
                </a:solidFill>
              </a:rPr>
              <a:t>multimetrul</a:t>
            </a:r>
            <a:r>
              <a:rPr lang="en-US" sz="2400" b="1" dirty="0" smtClean="0">
                <a:solidFill>
                  <a:schemeClr val="accent2">
                    <a:lumMod val="60000"/>
                    <a:lumOff val="40000"/>
                  </a:schemeClr>
                </a:solidFill>
              </a:rPr>
              <a:t> </a:t>
            </a:r>
            <a:r>
              <a:rPr lang="en-US" sz="2400" b="1" dirty="0" err="1" smtClean="0">
                <a:solidFill>
                  <a:schemeClr val="accent2">
                    <a:lumMod val="60000"/>
                    <a:lumOff val="40000"/>
                  </a:schemeClr>
                </a:solidFill>
              </a:rPr>
              <a:t>analogic</a:t>
            </a:r>
            <a:r>
              <a:rPr lang="en-US" sz="2400" b="1" dirty="0" smtClean="0">
                <a:solidFill>
                  <a:schemeClr val="accent2">
                    <a:lumMod val="60000"/>
                    <a:lumOff val="40000"/>
                  </a:schemeClr>
                </a:solidFill>
              </a:rPr>
              <a:t> - 5</a:t>
            </a:r>
            <a:endParaRPr lang="en-US" sz="2400"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3352801" y="3352800"/>
            <a:ext cx="4897708" cy="3124200"/>
          </a:xfrm>
          <a:prstGeom prst="rect">
            <a:avLst/>
          </a:prstGeom>
          <a:noFill/>
        </p:spPr>
      </p:pic>
      <p:sp>
        <p:nvSpPr>
          <p:cNvPr id="5" name="TextBox 4"/>
          <p:cNvSpPr txBox="1"/>
          <p:nvPr/>
        </p:nvSpPr>
        <p:spPr>
          <a:xfrm>
            <a:off x="762000" y="1295401"/>
            <a:ext cx="7315200" cy="2092881"/>
          </a:xfrm>
          <a:prstGeom prst="rect">
            <a:avLst/>
          </a:prstGeom>
          <a:noFill/>
        </p:spPr>
        <p:txBody>
          <a:bodyPr wrap="square" rtlCol="0">
            <a:spAutoFit/>
          </a:bodyPr>
          <a:lstStyle/>
          <a:p>
            <a:pPr lvl="0" fontAlgn="base">
              <a:spcAft>
                <a:spcPts val="1200"/>
              </a:spcAft>
            </a:pPr>
            <a:r>
              <a:rPr lang="en-US" sz="2000" b="1" dirty="0" err="1" smtClean="0"/>
              <a:t>Citirea</a:t>
            </a:r>
            <a:r>
              <a:rPr lang="en-US" sz="2000" b="1" dirty="0" smtClean="0"/>
              <a:t> </a:t>
            </a:r>
            <a:r>
              <a:rPr lang="en-US" sz="2000" b="1" dirty="0" err="1" smtClean="0"/>
              <a:t>indicaţiilor</a:t>
            </a:r>
            <a:r>
              <a:rPr lang="en-US" sz="2000" b="1" dirty="0" smtClean="0"/>
              <a:t> la m</a:t>
            </a:r>
            <a:r>
              <a:rPr lang="ro-RO" sz="2000" b="1" dirty="0" smtClean="0"/>
              <a:t>ăsurarea intensităţii curentului şi a tensiunii</a:t>
            </a:r>
            <a:endParaRPr lang="en-US" sz="2000" dirty="0" smtClean="0"/>
          </a:p>
          <a:p>
            <a:pPr fontAlgn="base">
              <a:buFont typeface="Wingdings" pitchFamily="2" charset="2"/>
              <a:buChar char="§"/>
            </a:pPr>
            <a:r>
              <a:rPr lang="en-US" sz="2000" b="1" dirty="0" smtClean="0"/>
              <a:t>Se </a:t>
            </a:r>
            <a:r>
              <a:rPr lang="en-US" sz="2000" b="1" dirty="0" err="1" smtClean="0"/>
              <a:t>utilizează</a:t>
            </a:r>
            <a:r>
              <a:rPr lang="en-US" sz="2000" b="1" dirty="0" smtClean="0"/>
              <a:t> </a:t>
            </a:r>
            <a:r>
              <a:rPr lang="en-US" sz="2000" b="1" dirty="0" err="1" smtClean="0"/>
              <a:t>trei</a:t>
            </a:r>
            <a:r>
              <a:rPr lang="en-US" sz="2000" b="1" dirty="0" smtClean="0"/>
              <a:t> </a:t>
            </a:r>
            <a:r>
              <a:rPr lang="en-US" sz="2000" b="1" dirty="0" err="1" smtClean="0"/>
              <a:t>scări</a:t>
            </a:r>
            <a:r>
              <a:rPr lang="en-US" sz="2000" b="1" dirty="0" smtClean="0"/>
              <a:t> de </a:t>
            </a:r>
            <a:r>
              <a:rPr lang="en-US" sz="2000" b="1" dirty="0" err="1" smtClean="0"/>
              <a:t>măsurare</a:t>
            </a:r>
            <a:r>
              <a:rPr lang="en-US" sz="2000" b="1" dirty="0" smtClean="0"/>
              <a:t> </a:t>
            </a:r>
            <a:r>
              <a:rPr lang="en-US" sz="2000" b="1" dirty="0" err="1" smtClean="0"/>
              <a:t>în</a:t>
            </a:r>
            <a:r>
              <a:rPr lang="en-US" sz="2000" b="1" dirty="0" smtClean="0"/>
              <a:t> </a:t>
            </a:r>
            <a:r>
              <a:rPr lang="en-US" sz="2000" b="1" dirty="0" err="1" smtClean="0"/>
              <a:t>cazul</a:t>
            </a:r>
            <a:r>
              <a:rPr lang="en-US" sz="2000" b="1" dirty="0" smtClean="0"/>
              <a:t> </a:t>
            </a:r>
            <a:r>
              <a:rPr lang="en-US" sz="2000" b="1" dirty="0" err="1" smtClean="0"/>
              <a:t>tensiunilor</a:t>
            </a:r>
            <a:r>
              <a:rPr lang="en-US" sz="2000" b="1" dirty="0" smtClean="0"/>
              <a:t> </a:t>
            </a:r>
            <a:r>
              <a:rPr lang="en-US" sz="2000" b="1" dirty="0" err="1" smtClean="0"/>
              <a:t>şi</a:t>
            </a:r>
            <a:r>
              <a:rPr lang="en-US" sz="2000" b="1" dirty="0" smtClean="0"/>
              <a:t> </a:t>
            </a:r>
            <a:r>
              <a:rPr lang="en-US" sz="2000" b="1" dirty="0" err="1" smtClean="0"/>
              <a:t>curenţilor</a:t>
            </a:r>
            <a:r>
              <a:rPr lang="en-US" sz="2000" b="1" dirty="0" smtClean="0"/>
              <a:t> 50, 10 </a:t>
            </a:r>
            <a:r>
              <a:rPr lang="en-US" sz="2000" b="1" dirty="0" err="1" smtClean="0"/>
              <a:t>respectiv</a:t>
            </a:r>
            <a:r>
              <a:rPr lang="en-US" sz="2000" b="1" dirty="0" smtClean="0"/>
              <a:t> 25 A/ V </a:t>
            </a:r>
            <a:r>
              <a:rPr lang="en-US" sz="2000" b="1" dirty="0" err="1" smtClean="0"/>
              <a:t>şi</a:t>
            </a:r>
            <a:r>
              <a:rPr lang="en-US" sz="2000" b="1" dirty="0" smtClean="0"/>
              <a:t> se </a:t>
            </a:r>
            <a:r>
              <a:rPr lang="en-US" sz="2000" b="1" dirty="0" err="1" smtClean="0"/>
              <a:t>alege</a:t>
            </a:r>
            <a:r>
              <a:rPr lang="en-US" sz="2000" b="1" dirty="0" smtClean="0"/>
              <a:t> </a:t>
            </a:r>
            <a:r>
              <a:rPr lang="en-US" sz="2000" b="1" dirty="0" err="1" smtClean="0"/>
              <a:t>scara</a:t>
            </a:r>
            <a:r>
              <a:rPr lang="en-US" sz="2000" b="1" dirty="0" smtClean="0"/>
              <a:t> </a:t>
            </a:r>
            <a:r>
              <a:rPr lang="en-US" sz="2000" b="1" dirty="0" err="1" smtClean="0"/>
              <a:t>astfel</a:t>
            </a:r>
            <a:r>
              <a:rPr lang="en-US" sz="2000" b="1" dirty="0" smtClean="0"/>
              <a:t> </a:t>
            </a:r>
            <a:r>
              <a:rPr lang="en-US" sz="2000" b="1" dirty="0" err="1" smtClean="0"/>
              <a:t>încât</a:t>
            </a:r>
            <a:r>
              <a:rPr lang="en-US" sz="2000" b="1" dirty="0" smtClean="0"/>
              <a:t> </a:t>
            </a:r>
            <a:r>
              <a:rPr lang="en-US" sz="2000" b="1" dirty="0" err="1" smtClean="0"/>
              <a:t>să</a:t>
            </a:r>
            <a:r>
              <a:rPr lang="en-US" sz="2000" b="1" dirty="0" smtClean="0"/>
              <a:t> se </a:t>
            </a:r>
            <a:r>
              <a:rPr lang="en-US" sz="2000" b="1" dirty="0" err="1" smtClean="0"/>
              <a:t>calculeze</a:t>
            </a:r>
            <a:r>
              <a:rPr lang="en-US" sz="2000" b="1" dirty="0" smtClean="0"/>
              <a:t> </a:t>
            </a:r>
            <a:r>
              <a:rPr lang="en-US" sz="2000" b="1" dirty="0" err="1" smtClean="0"/>
              <a:t>cât</a:t>
            </a:r>
            <a:r>
              <a:rPr lang="en-US" sz="2000" b="1" dirty="0" smtClean="0"/>
              <a:t> </a:t>
            </a:r>
            <a:r>
              <a:rPr lang="en-US" sz="2000" b="1" dirty="0" err="1" smtClean="0"/>
              <a:t>mai</a:t>
            </a:r>
            <a:r>
              <a:rPr lang="en-US" sz="2000" b="1" dirty="0" smtClean="0"/>
              <a:t> </a:t>
            </a:r>
            <a:r>
              <a:rPr lang="en-US" sz="2000" b="1" dirty="0" err="1" smtClean="0"/>
              <a:t>uşor</a:t>
            </a:r>
            <a:r>
              <a:rPr lang="en-US" sz="2000" b="1" dirty="0" smtClean="0"/>
              <a:t> </a:t>
            </a:r>
            <a:r>
              <a:rPr lang="en-US" sz="2000" b="1" dirty="0" err="1" smtClean="0"/>
              <a:t>constanta</a:t>
            </a:r>
            <a:r>
              <a:rPr lang="en-US" sz="2000" b="1" dirty="0" smtClean="0"/>
              <a:t> </a:t>
            </a:r>
            <a:r>
              <a:rPr lang="en-US" sz="2000" b="1" dirty="0" err="1" smtClean="0"/>
              <a:t>aparatului</a:t>
            </a:r>
            <a:r>
              <a:rPr lang="en-US" sz="2000" b="1" dirty="0" smtClean="0"/>
              <a:t> </a:t>
            </a:r>
            <a:r>
              <a:rPr lang="en-US" sz="2000" b="1" dirty="0" err="1" smtClean="0"/>
              <a:t>pentru</a:t>
            </a:r>
            <a:r>
              <a:rPr lang="en-US" sz="2000" b="1" dirty="0" smtClean="0"/>
              <a:t> </a:t>
            </a:r>
            <a:r>
              <a:rPr lang="en-US" sz="2000" b="1" dirty="0" err="1" smtClean="0"/>
              <a:t>domeniul</a:t>
            </a:r>
            <a:r>
              <a:rPr lang="en-US" sz="2000" b="1" dirty="0" smtClean="0"/>
              <a:t> ales.</a:t>
            </a:r>
            <a:endParaRPr lang="en-US" sz="2000" dirty="0" smtClean="0"/>
          </a:p>
          <a:p>
            <a:pPr fontAlgn="base">
              <a:buFont typeface="Wingdings" pitchFamily="2" charset="2"/>
              <a:buChar char="§"/>
            </a:pPr>
            <a:r>
              <a:rPr lang="en-US" sz="2000" b="1" dirty="0" err="1" smtClean="0"/>
              <a:t>Multimetrul</a:t>
            </a:r>
            <a:r>
              <a:rPr lang="en-US" sz="2000" b="1" dirty="0" smtClean="0"/>
              <a:t> are tot </a:t>
            </a:r>
            <a:r>
              <a:rPr lang="en-US" sz="2000" b="1" dirty="0" err="1" smtClean="0"/>
              <a:t>atâtea</a:t>
            </a:r>
            <a:r>
              <a:rPr lang="en-US" sz="2000" b="1" dirty="0" smtClean="0"/>
              <a:t> </a:t>
            </a:r>
            <a:r>
              <a:rPr lang="en-US" sz="2000" b="1" dirty="0" err="1" smtClean="0"/>
              <a:t>constante</a:t>
            </a:r>
            <a:r>
              <a:rPr lang="en-US" sz="2000" b="1" dirty="0" smtClean="0"/>
              <a:t>, </a:t>
            </a:r>
            <a:r>
              <a:rPr lang="en-US" sz="2000" b="1" dirty="0" err="1" smtClean="0"/>
              <a:t>câte</a:t>
            </a:r>
            <a:r>
              <a:rPr lang="en-US" sz="2000" b="1" dirty="0" smtClean="0"/>
              <a:t> </a:t>
            </a:r>
            <a:r>
              <a:rPr lang="en-US" sz="2000" b="1" dirty="0" err="1" smtClean="0"/>
              <a:t>domenii</a:t>
            </a:r>
            <a:r>
              <a:rPr lang="en-US" sz="2000" b="1" dirty="0" smtClean="0"/>
              <a:t>.</a:t>
            </a:r>
            <a:endParaRPr lang="en-US" sz="2000" dirty="0" smtClean="0"/>
          </a:p>
          <a:p>
            <a:endParaRPr lang="en-US" sz="2000" dirty="0"/>
          </a:p>
        </p:txBody>
      </p:sp>
      <p:sp>
        <p:nvSpPr>
          <p:cNvPr id="6" name="TextBox 5"/>
          <p:cNvSpPr txBox="1"/>
          <p:nvPr/>
        </p:nvSpPr>
        <p:spPr>
          <a:xfrm>
            <a:off x="838200" y="3733801"/>
            <a:ext cx="2590800" cy="1908215"/>
          </a:xfrm>
          <a:prstGeom prst="rect">
            <a:avLst/>
          </a:prstGeom>
          <a:noFill/>
        </p:spPr>
        <p:txBody>
          <a:bodyPr wrap="square" rtlCol="0">
            <a:spAutoFit/>
          </a:bodyPr>
          <a:lstStyle/>
          <a:p>
            <a:pPr algn="ctr"/>
            <a:r>
              <a:rPr lang="ro-RO" dirty="0" smtClean="0"/>
              <a:t> </a:t>
            </a:r>
            <a:r>
              <a:rPr lang="ro-RO" sz="2000" dirty="0" smtClean="0">
                <a:solidFill>
                  <a:schemeClr val="accent5">
                    <a:lumMod val="75000"/>
                  </a:schemeClr>
                </a:solidFill>
              </a:rPr>
              <a:t>În cazul măsurării în curent alternativ, valoarea indicată este cea EFECTIVĂ.</a:t>
            </a:r>
            <a:endParaRPr lang="en-US" sz="2000" dirty="0" smtClean="0">
              <a:solidFill>
                <a:schemeClr val="accent5">
                  <a:lumMod val="75000"/>
                </a:schemeClr>
              </a:solidFill>
            </a:endParaRPr>
          </a:p>
          <a:p>
            <a:pPr algn="ctr"/>
            <a:r>
              <a:rPr lang="ro-RO" sz="2000" dirty="0" smtClean="0">
                <a:solidFill>
                  <a:schemeClr val="accent5">
                    <a:lumMod val="75000"/>
                  </a:schemeClr>
                </a:solidFill>
              </a:rPr>
              <a:t> </a:t>
            </a:r>
            <a:endParaRPr lang="en-US" sz="2000" dirty="0" smtClean="0">
              <a:solidFill>
                <a:schemeClr val="accent5">
                  <a:lumMod val="75000"/>
                </a:schemeClr>
              </a:solidFill>
            </a:endParaRP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92162"/>
          </a:xfrm>
        </p:spPr>
        <p:txBody>
          <a:bodyPr>
            <a:normAutofit/>
          </a:bodyPr>
          <a:lstStyle/>
          <a:p>
            <a:r>
              <a:rPr lang="en-US" sz="2400" b="1" dirty="0" err="1" smtClean="0">
                <a:solidFill>
                  <a:schemeClr val="accent2">
                    <a:lumMod val="60000"/>
                    <a:lumOff val="40000"/>
                  </a:schemeClr>
                </a:solidFill>
              </a:rPr>
              <a:t>Algoritmul</a:t>
            </a:r>
            <a:r>
              <a:rPr lang="en-US" sz="2400" b="1" dirty="0" smtClean="0">
                <a:solidFill>
                  <a:schemeClr val="accent2">
                    <a:lumMod val="60000"/>
                    <a:lumOff val="40000"/>
                  </a:schemeClr>
                </a:solidFill>
              </a:rPr>
              <a:t> de  </a:t>
            </a:r>
            <a:r>
              <a:rPr lang="en-US" sz="2400" b="1" dirty="0" err="1" smtClean="0">
                <a:solidFill>
                  <a:schemeClr val="accent2">
                    <a:lumMod val="60000"/>
                    <a:lumOff val="40000"/>
                  </a:schemeClr>
                </a:solidFill>
              </a:rPr>
              <a:t>măsurare</a:t>
            </a:r>
            <a:r>
              <a:rPr lang="en-US" sz="2400" b="1" dirty="0" smtClean="0">
                <a:solidFill>
                  <a:schemeClr val="accent2">
                    <a:lumMod val="60000"/>
                    <a:lumOff val="40000"/>
                  </a:schemeClr>
                </a:solidFill>
              </a:rPr>
              <a:t> cu </a:t>
            </a:r>
            <a:r>
              <a:rPr lang="en-US" sz="2400" b="1" dirty="0" err="1" smtClean="0">
                <a:solidFill>
                  <a:schemeClr val="accent2">
                    <a:lumMod val="60000"/>
                    <a:lumOff val="40000"/>
                  </a:schemeClr>
                </a:solidFill>
              </a:rPr>
              <a:t>multimetrul</a:t>
            </a:r>
            <a:r>
              <a:rPr lang="en-US" sz="2400" b="1" dirty="0" smtClean="0">
                <a:solidFill>
                  <a:schemeClr val="accent2">
                    <a:lumMod val="60000"/>
                    <a:lumOff val="40000"/>
                  </a:schemeClr>
                </a:solidFill>
              </a:rPr>
              <a:t> </a:t>
            </a:r>
            <a:r>
              <a:rPr lang="en-US" sz="2400" b="1" dirty="0" err="1" smtClean="0">
                <a:solidFill>
                  <a:schemeClr val="accent2">
                    <a:lumMod val="60000"/>
                    <a:lumOff val="40000"/>
                  </a:schemeClr>
                </a:solidFill>
              </a:rPr>
              <a:t>analogic</a:t>
            </a:r>
            <a:r>
              <a:rPr lang="en-US" sz="2400" b="1" dirty="0" smtClean="0">
                <a:solidFill>
                  <a:schemeClr val="accent2">
                    <a:lumMod val="60000"/>
                    <a:lumOff val="40000"/>
                  </a:schemeClr>
                </a:solidFill>
              </a:rPr>
              <a:t> - 5</a:t>
            </a:r>
            <a:endParaRPr lang="en-US" sz="2400" dirty="0"/>
          </a:p>
        </p:txBody>
      </p:sp>
      <p:sp>
        <p:nvSpPr>
          <p:cNvPr id="3" name="Content Placeholder 2"/>
          <p:cNvSpPr>
            <a:spLocks noGrp="1"/>
          </p:cNvSpPr>
          <p:nvPr>
            <p:ph idx="1"/>
          </p:nvPr>
        </p:nvSpPr>
        <p:spPr>
          <a:xfrm>
            <a:off x="914400" y="1066800"/>
            <a:ext cx="7848600" cy="1828800"/>
          </a:xfrm>
        </p:spPr>
        <p:txBody>
          <a:bodyPr>
            <a:normAutofit fontScale="62500" lnSpcReduction="20000"/>
          </a:bodyPr>
          <a:lstStyle/>
          <a:p>
            <a:pPr>
              <a:buNone/>
            </a:pPr>
            <a:r>
              <a:rPr lang="ro-RO" dirty="0" smtClean="0"/>
              <a:t>În cazul măsurării rezistenţelor:</a:t>
            </a:r>
            <a:endParaRPr lang="en-US" dirty="0" smtClean="0"/>
          </a:p>
          <a:p>
            <a:pPr algn="just"/>
            <a:r>
              <a:rPr lang="ro-RO" dirty="0" smtClean="0"/>
              <a:t>	La ohmmetre serie (rezistenţe mari) se citeşte indicaţia pe scara Ω şi se multiplică valoarea obţinută cu factorul aflat pe poziţia comutatorului de funcţii</a:t>
            </a:r>
            <a:endParaRPr lang="en-US" dirty="0" smtClean="0"/>
          </a:p>
          <a:p>
            <a:pPr algn="just"/>
            <a:r>
              <a:rPr lang="ro-RO" dirty="0" smtClean="0"/>
              <a:t>	La ohmmetre derivaţie citirea se face pe scara DΩ.</a:t>
            </a:r>
            <a:endParaRPr lang="en-US" dirty="0" smtClean="0"/>
          </a:p>
          <a:p>
            <a:pPr algn="just">
              <a:buNone/>
            </a:pPr>
            <a:r>
              <a:rPr lang="ro-RO" dirty="0" smtClean="0"/>
              <a:t> </a:t>
            </a:r>
            <a:endParaRPr lang="en-US" dirty="0" smtClean="0"/>
          </a:p>
          <a:p>
            <a:endParaRPr lang="en-US" dirty="0"/>
          </a:p>
        </p:txBody>
      </p:sp>
      <p:pic>
        <p:nvPicPr>
          <p:cNvPr id="2051" name="Picture 3"/>
          <p:cNvPicPr>
            <a:picLocks noChangeAspect="1" noChangeArrowheads="1"/>
          </p:cNvPicPr>
          <p:nvPr/>
        </p:nvPicPr>
        <p:blipFill>
          <a:blip r:embed="rId2" cstate="print"/>
          <a:srcRect/>
          <a:stretch>
            <a:fillRect/>
          </a:stretch>
        </p:blipFill>
        <p:spPr bwMode="auto">
          <a:xfrm>
            <a:off x="1524001" y="3048001"/>
            <a:ext cx="5294313" cy="33194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1"/>
            <a:ext cx="4419600" cy="869950"/>
          </a:xfrm>
        </p:spPr>
        <p:txBody>
          <a:bodyPr/>
          <a:lstStyle/>
          <a:p>
            <a:pPr algn="ctr"/>
            <a:r>
              <a:rPr lang="en-US" sz="2400" dirty="0" err="1" smtClean="0">
                <a:solidFill>
                  <a:schemeClr val="accent2">
                    <a:lumMod val="60000"/>
                    <a:lumOff val="40000"/>
                  </a:schemeClr>
                </a:solidFill>
              </a:rPr>
              <a:t>Multimetrele</a:t>
            </a:r>
            <a:r>
              <a:rPr lang="en-US" sz="2400" dirty="0" smtClean="0">
                <a:solidFill>
                  <a:schemeClr val="accent2">
                    <a:lumMod val="60000"/>
                    <a:lumOff val="40000"/>
                  </a:schemeClr>
                </a:solidFill>
              </a:rPr>
              <a:t> </a:t>
            </a:r>
            <a:r>
              <a:rPr lang="en-US" sz="2400" dirty="0" err="1" smtClean="0">
                <a:solidFill>
                  <a:schemeClr val="accent2">
                    <a:lumMod val="60000"/>
                    <a:lumOff val="40000"/>
                  </a:schemeClr>
                </a:solidFill>
              </a:rPr>
              <a:t>digitale</a:t>
            </a:r>
            <a:r>
              <a:rPr lang="en-US" dirty="0" smtClean="0"/>
              <a:t/>
            </a:r>
            <a:br>
              <a:rPr lang="en-US" dirty="0" smtClean="0"/>
            </a:br>
            <a:endParaRPr lang="en-US" dirty="0"/>
          </a:p>
        </p:txBody>
      </p:sp>
      <p:sp>
        <p:nvSpPr>
          <p:cNvPr id="4" name="Text Placeholder 3"/>
          <p:cNvSpPr>
            <a:spLocks noGrp="1"/>
          </p:cNvSpPr>
          <p:nvPr>
            <p:ph type="body" sz="half" idx="2"/>
          </p:nvPr>
        </p:nvSpPr>
        <p:spPr>
          <a:xfrm>
            <a:off x="457200" y="1066800"/>
            <a:ext cx="5105400" cy="5257800"/>
          </a:xfrm>
        </p:spPr>
        <p:txBody>
          <a:bodyPr>
            <a:noAutofit/>
          </a:bodyPr>
          <a:lstStyle/>
          <a:p>
            <a:pPr lvl="0" algn="just">
              <a:buFont typeface="Wingdings" pitchFamily="2" charset="2"/>
              <a:buChar char="§"/>
            </a:pPr>
            <a:r>
              <a:rPr lang="ro-RO" sz="1800" b="1" dirty="0" smtClean="0"/>
              <a:t>Dispozitivul de indicare </a:t>
            </a:r>
            <a:r>
              <a:rPr lang="ro-RO" sz="1800" dirty="0" smtClean="0"/>
              <a:t>este un LCD - Afișaj cu cristale lichide </a:t>
            </a:r>
            <a:endParaRPr lang="en-US" sz="1800" dirty="0" smtClean="0"/>
          </a:p>
          <a:p>
            <a:pPr lvl="0" algn="just">
              <a:buFont typeface="Wingdings" pitchFamily="2" charset="2"/>
              <a:buChar char="§"/>
            </a:pPr>
            <a:r>
              <a:rPr lang="ro-RO" sz="1800" b="1" dirty="0" smtClean="0"/>
              <a:t>Comutator de funcţii </a:t>
            </a:r>
            <a:r>
              <a:rPr lang="ro-RO" sz="1800" dirty="0" smtClean="0"/>
              <a:t>– dacă domeniul ales este mai mic decât valoarea măsurată, operatorul este atenţionat prin afişarea unei combinaţii  de semne şi cifre, fie prin stingerea intermitentă a afişării. Unele aparate schimbă AUTOMAT domeniul de măsurare.</a:t>
            </a:r>
            <a:endParaRPr lang="en-US" sz="1800" dirty="0" smtClean="0"/>
          </a:p>
          <a:p>
            <a:pPr lvl="0" algn="just">
              <a:buFont typeface="Wingdings" pitchFamily="2" charset="2"/>
              <a:buChar char="§"/>
            </a:pPr>
            <a:r>
              <a:rPr lang="ro-RO" sz="1800" b="1" dirty="0" smtClean="0"/>
              <a:t>Bornele</a:t>
            </a:r>
            <a:r>
              <a:rPr lang="ro-RO" sz="1800" dirty="0" smtClean="0"/>
              <a:t> nu sunt însemnate cu </a:t>
            </a:r>
            <a:r>
              <a:rPr lang="en-US" sz="1800" dirty="0" smtClean="0"/>
              <a:t>“</a:t>
            </a:r>
            <a:r>
              <a:rPr lang="ro-RO" sz="1800" dirty="0" smtClean="0"/>
              <a:t>+</a:t>
            </a:r>
            <a:r>
              <a:rPr lang="en-US" sz="1800" dirty="0" smtClean="0"/>
              <a:t>”</a:t>
            </a:r>
            <a:r>
              <a:rPr lang="ro-RO" sz="1800" dirty="0" smtClean="0"/>
              <a:t> şi </a:t>
            </a:r>
            <a:r>
              <a:rPr lang="en-US" sz="1800" dirty="0" smtClean="0"/>
              <a:t>“</a:t>
            </a:r>
            <a:r>
              <a:rPr lang="ro-RO" sz="1800" dirty="0" smtClean="0"/>
              <a:t>-</a:t>
            </a:r>
            <a:r>
              <a:rPr lang="en-US" sz="1800" dirty="0" smtClean="0"/>
              <a:t>”</a:t>
            </a:r>
            <a:r>
              <a:rPr lang="ro-RO" sz="1800" dirty="0" smtClean="0"/>
              <a:t>. Există o bornă COM  sau este desenat simbolul de „masă”. În curent continuu, borna COM poate fi conectată la oricare din punctele de măsurare, semnul mărimii se afişează automat.</a:t>
            </a:r>
            <a:endParaRPr lang="en-US" sz="1800" dirty="0" smtClean="0"/>
          </a:p>
          <a:p>
            <a:pPr algn="just">
              <a:buFont typeface="Wingdings" pitchFamily="2" charset="2"/>
              <a:buChar char="§"/>
            </a:pPr>
            <a:r>
              <a:rPr lang="ro-RO" sz="1800" dirty="0" smtClean="0"/>
              <a:t>Cablurile de măsurare se conectează la mufa COM respectiv la mufa       V / </a:t>
            </a:r>
            <a:r>
              <a:rPr lang="en-US" sz="1800" dirty="0" smtClean="0"/>
              <a:t>Ω/ </a:t>
            </a:r>
            <a:r>
              <a:rPr lang="en-US" sz="1800" dirty="0" err="1" smtClean="0"/>
              <a:t>mA</a:t>
            </a:r>
            <a:r>
              <a:rPr lang="en-US" sz="1800" dirty="0" smtClean="0"/>
              <a:t> </a:t>
            </a:r>
            <a:r>
              <a:rPr lang="en-US" sz="1800" dirty="0" err="1" smtClean="0"/>
              <a:t>sau</a:t>
            </a:r>
            <a:r>
              <a:rPr lang="en-US" sz="1800" dirty="0" smtClean="0"/>
              <a:t> </a:t>
            </a:r>
            <a:r>
              <a:rPr lang="en-US" sz="1800" dirty="0" err="1" smtClean="0"/>
              <a:t>mufa</a:t>
            </a:r>
            <a:r>
              <a:rPr lang="en-US" sz="1800" dirty="0" smtClean="0"/>
              <a:t> </a:t>
            </a:r>
            <a:r>
              <a:rPr lang="en-US" sz="1800" dirty="0" err="1" smtClean="0"/>
              <a:t>intrare</a:t>
            </a:r>
            <a:r>
              <a:rPr lang="en-US" sz="1800" dirty="0" smtClean="0"/>
              <a:t>  10A DC. </a:t>
            </a:r>
          </a:p>
          <a:p>
            <a:pPr algn="just">
              <a:buFont typeface="Wingdings" pitchFamily="2" charset="2"/>
              <a:buChar char="§"/>
            </a:pPr>
            <a:endParaRPr lang="en-US" sz="1800" dirty="0" smtClean="0"/>
          </a:p>
          <a:p>
            <a:pPr>
              <a:buFont typeface="Wingdings" pitchFamily="2" charset="2"/>
              <a:buChar char="§"/>
            </a:pPr>
            <a:endParaRPr lang="en-US" sz="1800" dirty="0"/>
          </a:p>
        </p:txBody>
      </p:sp>
      <p:pic>
        <p:nvPicPr>
          <p:cNvPr id="1027" name="Picture 3"/>
          <p:cNvPicPr>
            <a:picLocks noChangeAspect="1" noChangeArrowheads="1"/>
          </p:cNvPicPr>
          <p:nvPr/>
        </p:nvPicPr>
        <p:blipFill>
          <a:blip r:embed="rId2" cstate="print"/>
          <a:srcRect/>
          <a:stretch>
            <a:fillRect/>
          </a:stretch>
        </p:blipFill>
        <p:spPr bwMode="auto">
          <a:xfrm>
            <a:off x="5715001" y="3200400"/>
            <a:ext cx="3197225" cy="2514600"/>
          </a:xfrm>
          <a:prstGeom prst="rect">
            <a:avLst/>
          </a:prstGeom>
          <a:noFill/>
          <a:ln w="9525">
            <a:noFill/>
            <a:miter lim="800000"/>
            <a:headEnd/>
            <a:tailEnd/>
          </a:ln>
          <a:effectLst/>
        </p:spPr>
      </p:pic>
      <p:sp>
        <p:nvSpPr>
          <p:cNvPr id="7" name="Content Placeholder 6"/>
          <p:cNvSpPr>
            <a:spLocks noGrp="1"/>
          </p:cNvSpPr>
          <p:nvPr>
            <p:ph idx="1"/>
          </p:nvPr>
        </p:nvSpPr>
        <p:spPr>
          <a:xfrm>
            <a:off x="5715000" y="1219200"/>
            <a:ext cx="2971800" cy="1534860"/>
          </a:xfrm>
        </p:spPr>
        <p:txBody>
          <a:bodyPr lIns="0" rIns="0" anchor="ctr">
            <a:normAutofit/>
          </a:bodyPr>
          <a:lstStyle/>
          <a:p>
            <a:pPr algn="just">
              <a:buNone/>
            </a:pPr>
            <a:r>
              <a:rPr lang="en-US" sz="1800" dirty="0" smtClean="0"/>
              <a:t>	</a:t>
            </a:r>
            <a:r>
              <a:rPr lang="en-US" sz="1800" dirty="0" err="1" smtClean="0">
                <a:solidFill>
                  <a:schemeClr val="accent1">
                    <a:lumMod val="75000"/>
                  </a:schemeClr>
                </a:solidFill>
              </a:rPr>
              <a:t>Multimetrul</a:t>
            </a:r>
            <a:r>
              <a:rPr lang="en-US" sz="1800" dirty="0" smtClean="0">
                <a:solidFill>
                  <a:schemeClr val="accent1">
                    <a:lumMod val="75000"/>
                  </a:schemeClr>
                </a:solidFill>
              </a:rPr>
              <a:t> digital </a:t>
            </a:r>
            <a:r>
              <a:rPr lang="en-US" sz="1800" dirty="0" err="1" smtClean="0">
                <a:solidFill>
                  <a:schemeClr val="accent1">
                    <a:lumMod val="75000"/>
                  </a:schemeClr>
                </a:solidFill>
              </a:rPr>
              <a:t>este</a:t>
            </a:r>
            <a:r>
              <a:rPr lang="en-US" sz="1800" dirty="0" smtClean="0">
                <a:solidFill>
                  <a:schemeClr val="accent1">
                    <a:lumMod val="75000"/>
                  </a:schemeClr>
                </a:solidFill>
              </a:rPr>
              <a:t> </a:t>
            </a:r>
            <a:r>
              <a:rPr lang="en-US" sz="1800" dirty="0" err="1" smtClean="0">
                <a:solidFill>
                  <a:schemeClr val="accent1">
                    <a:lumMod val="75000"/>
                  </a:schemeClr>
                </a:solidFill>
              </a:rPr>
              <a:t>alimentat</a:t>
            </a:r>
            <a:r>
              <a:rPr lang="en-US" sz="1800" dirty="0" smtClean="0">
                <a:solidFill>
                  <a:schemeClr val="accent1">
                    <a:lumMod val="75000"/>
                  </a:schemeClr>
                </a:solidFill>
              </a:rPr>
              <a:t> de la o </a:t>
            </a:r>
            <a:r>
              <a:rPr lang="en-US" sz="1800" dirty="0" err="1" smtClean="0">
                <a:solidFill>
                  <a:schemeClr val="accent1">
                    <a:lumMod val="75000"/>
                  </a:schemeClr>
                </a:solidFill>
              </a:rPr>
              <a:t>baterie</a:t>
            </a:r>
            <a:r>
              <a:rPr lang="en-US" sz="1800" dirty="0" smtClean="0">
                <a:solidFill>
                  <a:schemeClr val="accent1">
                    <a:lumMod val="75000"/>
                  </a:schemeClr>
                </a:solidFill>
              </a:rPr>
              <a:t> </a:t>
            </a:r>
            <a:r>
              <a:rPr lang="en-US" sz="1800" dirty="0" err="1" smtClean="0">
                <a:solidFill>
                  <a:schemeClr val="accent1">
                    <a:lumMod val="75000"/>
                  </a:schemeClr>
                </a:solidFill>
              </a:rPr>
              <a:t>încorporată</a:t>
            </a:r>
            <a:r>
              <a:rPr lang="en-US" sz="1800" dirty="0" smtClean="0">
                <a:solidFill>
                  <a:schemeClr val="accent1">
                    <a:lumMod val="75000"/>
                  </a:schemeClr>
                </a:solidFill>
              </a:rPr>
              <a:t> </a:t>
            </a:r>
            <a:r>
              <a:rPr lang="en-US" sz="1800" dirty="0" err="1" smtClean="0">
                <a:solidFill>
                  <a:schemeClr val="accent1">
                    <a:lumMod val="75000"/>
                  </a:schemeClr>
                </a:solidFill>
              </a:rPr>
              <a:t>pentru</a:t>
            </a:r>
            <a:r>
              <a:rPr lang="en-US" sz="1800" dirty="0" smtClean="0">
                <a:solidFill>
                  <a:schemeClr val="accent1">
                    <a:lumMod val="75000"/>
                  </a:schemeClr>
                </a:solidFill>
              </a:rPr>
              <a:t> </a:t>
            </a:r>
            <a:r>
              <a:rPr lang="en-US" sz="1800" dirty="0" err="1" smtClean="0">
                <a:solidFill>
                  <a:schemeClr val="accent1">
                    <a:lumMod val="75000"/>
                  </a:schemeClr>
                </a:solidFill>
              </a:rPr>
              <a:t>toate</a:t>
            </a:r>
            <a:r>
              <a:rPr lang="en-US" sz="1800" dirty="0" smtClean="0">
                <a:solidFill>
                  <a:schemeClr val="accent1">
                    <a:lumMod val="75000"/>
                  </a:schemeClr>
                </a:solidFill>
              </a:rPr>
              <a:t> </a:t>
            </a:r>
            <a:r>
              <a:rPr lang="en-US" sz="1800" dirty="0" err="1" smtClean="0">
                <a:solidFill>
                  <a:schemeClr val="accent1">
                    <a:lumMod val="75000"/>
                  </a:schemeClr>
                </a:solidFill>
              </a:rPr>
              <a:t>modurile</a:t>
            </a:r>
            <a:r>
              <a:rPr lang="en-US" sz="1800" dirty="0" smtClean="0">
                <a:solidFill>
                  <a:schemeClr val="accent1">
                    <a:lumMod val="75000"/>
                  </a:schemeClr>
                </a:solidFill>
              </a:rPr>
              <a:t> de </a:t>
            </a:r>
            <a:r>
              <a:rPr lang="en-US" sz="1800" dirty="0" err="1" smtClean="0">
                <a:solidFill>
                  <a:schemeClr val="accent1">
                    <a:lumMod val="75000"/>
                  </a:schemeClr>
                </a:solidFill>
              </a:rPr>
              <a:t>funcţionare</a:t>
            </a:r>
            <a:r>
              <a:rPr lang="en-US" sz="1800" dirty="0" smtClean="0">
                <a:solidFill>
                  <a:schemeClr val="accent1">
                    <a:lumMod val="75000"/>
                  </a:schemeClr>
                </a:solidFill>
              </a:rPr>
              <a:t>.</a:t>
            </a:r>
          </a:p>
          <a:p>
            <a:pPr>
              <a:buNone/>
            </a:pP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848600" cy="838200"/>
          </a:xfrm>
        </p:spPr>
        <p:txBody>
          <a:bodyPr>
            <a:noAutofit/>
          </a:bodyPr>
          <a:lstStyle/>
          <a:p>
            <a:pPr algn="ctr"/>
            <a:r>
              <a:rPr lang="en-US" sz="2400" dirty="0" err="1" smtClean="0">
                <a:solidFill>
                  <a:schemeClr val="accent2">
                    <a:lumMod val="75000"/>
                  </a:schemeClr>
                </a:solidFill>
              </a:rPr>
              <a:t>Algoritmul</a:t>
            </a:r>
            <a:r>
              <a:rPr lang="en-US" sz="2400" dirty="0" smtClean="0">
                <a:solidFill>
                  <a:schemeClr val="accent2">
                    <a:lumMod val="75000"/>
                  </a:schemeClr>
                </a:solidFill>
              </a:rPr>
              <a:t> de  </a:t>
            </a:r>
            <a:r>
              <a:rPr lang="en-US" sz="2400" dirty="0" err="1" smtClean="0">
                <a:solidFill>
                  <a:schemeClr val="accent2">
                    <a:lumMod val="75000"/>
                  </a:schemeClr>
                </a:solidFill>
              </a:rPr>
              <a:t>măsurare</a:t>
            </a:r>
            <a:r>
              <a:rPr lang="en-US" sz="2400" dirty="0" smtClean="0">
                <a:solidFill>
                  <a:schemeClr val="accent2">
                    <a:lumMod val="75000"/>
                  </a:schemeClr>
                </a:solidFill>
              </a:rPr>
              <a:t> cu </a:t>
            </a:r>
            <a:r>
              <a:rPr lang="en-US" sz="2400" dirty="0" err="1" smtClean="0">
                <a:solidFill>
                  <a:schemeClr val="accent2">
                    <a:lumMod val="75000"/>
                  </a:schemeClr>
                </a:solidFill>
              </a:rPr>
              <a:t>multimetrul</a:t>
            </a:r>
            <a:r>
              <a:rPr lang="en-US" sz="2400" dirty="0" smtClean="0">
                <a:solidFill>
                  <a:schemeClr val="accent2">
                    <a:lumMod val="75000"/>
                  </a:schemeClr>
                </a:solidFill>
              </a:rPr>
              <a:t> digital</a:t>
            </a:r>
            <a:br>
              <a:rPr lang="en-US" sz="2400" dirty="0" smtClean="0">
                <a:solidFill>
                  <a:schemeClr val="accent2">
                    <a:lumMod val="75000"/>
                  </a:schemeClr>
                </a:solidFill>
              </a:rPr>
            </a:br>
            <a:endParaRPr lang="en-US" sz="2400" dirty="0">
              <a:solidFill>
                <a:schemeClr val="accent2">
                  <a:lumMod val="75000"/>
                </a:schemeClr>
              </a:solidFill>
            </a:endParaRPr>
          </a:p>
        </p:txBody>
      </p:sp>
      <p:sp>
        <p:nvSpPr>
          <p:cNvPr id="4" name="Text Placeholder 3"/>
          <p:cNvSpPr>
            <a:spLocks noGrp="1"/>
          </p:cNvSpPr>
          <p:nvPr>
            <p:ph type="body" sz="half" idx="2"/>
          </p:nvPr>
        </p:nvSpPr>
        <p:spPr>
          <a:xfrm>
            <a:off x="457200" y="990602"/>
            <a:ext cx="7696200" cy="1981199"/>
          </a:xfrm>
        </p:spPr>
        <p:txBody>
          <a:bodyPr>
            <a:noAutofit/>
          </a:bodyPr>
          <a:lstStyle/>
          <a:p>
            <a:pPr algn="just" fontAlgn="base">
              <a:buFont typeface="Wingdings" pitchFamily="2" charset="2"/>
              <a:buChar char="§"/>
            </a:pPr>
            <a:r>
              <a:rPr lang="en-US" sz="1600" dirty="0" err="1" smtClean="0"/>
              <a:t>Utilizarea</a:t>
            </a:r>
            <a:r>
              <a:rPr lang="en-US" sz="1600" dirty="0" smtClean="0"/>
              <a:t> </a:t>
            </a:r>
            <a:r>
              <a:rPr lang="en-US" sz="1600" dirty="0" err="1" smtClean="0"/>
              <a:t>cataloagelor</a:t>
            </a:r>
            <a:r>
              <a:rPr lang="en-US" sz="1600" dirty="0" smtClean="0"/>
              <a:t> </a:t>
            </a:r>
            <a:r>
              <a:rPr lang="en-US" sz="1600" dirty="0" err="1" smtClean="0"/>
              <a:t>în</a:t>
            </a:r>
            <a:r>
              <a:rPr lang="en-US" sz="1600" dirty="0" smtClean="0"/>
              <a:t> </a:t>
            </a:r>
            <a:r>
              <a:rPr lang="en-US" sz="1600" dirty="0" err="1" smtClean="0"/>
              <a:t>vederea</a:t>
            </a:r>
            <a:r>
              <a:rPr lang="en-US" sz="1600" dirty="0" smtClean="0"/>
              <a:t> </a:t>
            </a:r>
            <a:r>
              <a:rPr lang="en-US" sz="1600" dirty="0" err="1" smtClean="0"/>
              <a:t>identificării</a:t>
            </a:r>
            <a:r>
              <a:rPr lang="en-US" sz="1600" dirty="0" smtClean="0"/>
              <a:t> </a:t>
            </a:r>
            <a:r>
              <a:rPr lang="en-US" sz="1600" dirty="0" err="1" smtClean="0"/>
              <a:t>caracteristicilor</a:t>
            </a:r>
            <a:r>
              <a:rPr lang="en-US" sz="1600" dirty="0" smtClean="0"/>
              <a:t> </a:t>
            </a:r>
            <a:r>
              <a:rPr lang="en-US" sz="1600" dirty="0" err="1" smtClean="0"/>
              <a:t>aparatului</a:t>
            </a:r>
            <a:r>
              <a:rPr lang="en-US" sz="1600" dirty="0" smtClean="0"/>
              <a:t> electric de </a:t>
            </a:r>
            <a:r>
              <a:rPr lang="en-US" sz="1600" dirty="0" err="1" smtClean="0"/>
              <a:t>măsurat</a:t>
            </a:r>
            <a:r>
              <a:rPr lang="en-US" sz="1600" dirty="0" smtClean="0"/>
              <a:t> digital </a:t>
            </a:r>
            <a:r>
              <a:rPr lang="en-US" sz="1600" dirty="0" err="1" smtClean="0"/>
              <a:t>şi</a:t>
            </a:r>
            <a:r>
              <a:rPr lang="en-US" sz="1600" dirty="0" smtClean="0"/>
              <a:t> </a:t>
            </a:r>
            <a:r>
              <a:rPr lang="en-US" sz="1600" dirty="0" err="1" smtClean="0"/>
              <a:t>precizarea</a:t>
            </a:r>
            <a:r>
              <a:rPr lang="en-US" sz="1600" dirty="0" smtClean="0"/>
              <a:t> </a:t>
            </a:r>
            <a:r>
              <a:rPr lang="en-US" sz="1600" dirty="0" err="1" smtClean="0"/>
              <a:t>caracteristicilor</a:t>
            </a:r>
            <a:r>
              <a:rPr lang="en-US" sz="1600" dirty="0" smtClean="0"/>
              <a:t> </a:t>
            </a:r>
            <a:r>
              <a:rPr lang="en-US" sz="1600" dirty="0" err="1" smtClean="0"/>
              <a:t>înscrise</a:t>
            </a:r>
            <a:r>
              <a:rPr lang="en-US" sz="1600" dirty="0" smtClean="0"/>
              <a:t> </a:t>
            </a:r>
            <a:r>
              <a:rPr lang="en-US" sz="1600" dirty="0" err="1" smtClean="0"/>
              <a:t>pe</a:t>
            </a:r>
            <a:r>
              <a:rPr lang="en-US" sz="1600" dirty="0" smtClean="0"/>
              <a:t> </a:t>
            </a:r>
            <a:r>
              <a:rPr lang="en-US" sz="1600" dirty="0" err="1" smtClean="0"/>
              <a:t>aparat</a:t>
            </a:r>
            <a:endParaRPr lang="en-US" sz="1600" dirty="0" smtClean="0"/>
          </a:p>
          <a:p>
            <a:pPr algn="just" fontAlgn="base">
              <a:buFont typeface="Wingdings" pitchFamily="2" charset="2"/>
              <a:buChar char="§"/>
            </a:pPr>
            <a:r>
              <a:rPr lang="en-US" sz="1600" dirty="0" err="1" smtClean="0"/>
              <a:t>Verificarea</a:t>
            </a:r>
            <a:r>
              <a:rPr lang="en-US" sz="1600" dirty="0" smtClean="0"/>
              <a:t> </a:t>
            </a:r>
            <a:r>
              <a:rPr lang="en-US" sz="1600" dirty="0" err="1" smtClean="0"/>
              <a:t>stării</a:t>
            </a:r>
            <a:r>
              <a:rPr lang="en-US" sz="1600" dirty="0" smtClean="0"/>
              <a:t> de </a:t>
            </a:r>
            <a:r>
              <a:rPr lang="en-US" sz="1600" dirty="0" err="1" smtClean="0"/>
              <a:t>funcţionare</a:t>
            </a:r>
            <a:r>
              <a:rPr lang="en-US" sz="1600" dirty="0" smtClean="0"/>
              <a:t>: se </a:t>
            </a:r>
            <a:r>
              <a:rPr lang="en-US" sz="1600" dirty="0" err="1" smtClean="0"/>
              <a:t>aplică</a:t>
            </a:r>
            <a:r>
              <a:rPr lang="en-US" sz="1600" dirty="0" smtClean="0"/>
              <a:t> </a:t>
            </a:r>
            <a:r>
              <a:rPr lang="en-US" sz="1600" dirty="0" err="1" smtClean="0"/>
              <a:t>succesiv</a:t>
            </a:r>
            <a:r>
              <a:rPr lang="en-US" sz="1600" dirty="0" smtClean="0"/>
              <a:t> la </a:t>
            </a:r>
            <a:r>
              <a:rPr lang="en-US" sz="1600" dirty="0" err="1" smtClean="0"/>
              <a:t>intrarea</a:t>
            </a:r>
            <a:r>
              <a:rPr lang="en-US" sz="1600" dirty="0" smtClean="0"/>
              <a:t> </a:t>
            </a:r>
            <a:r>
              <a:rPr lang="en-US" sz="1600" dirty="0" err="1" smtClean="0"/>
              <a:t>multimetrului</a:t>
            </a:r>
            <a:r>
              <a:rPr lang="en-US" sz="1600" dirty="0" smtClean="0"/>
              <a:t> digital </a:t>
            </a:r>
            <a:r>
              <a:rPr lang="en-US" sz="1600" dirty="0" err="1" smtClean="0"/>
              <a:t>tensiuni</a:t>
            </a:r>
            <a:r>
              <a:rPr lang="en-US" sz="1600" dirty="0" smtClean="0"/>
              <a:t> continue care se </a:t>
            </a:r>
            <a:r>
              <a:rPr lang="en-US" sz="1600" dirty="0" err="1" smtClean="0"/>
              <a:t>reglează</a:t>
            </a:r>
            <a:r>
              <a:rPr lang="en-US" sz="1600" dirty="0" smtClean="0"/>
              <a:t> lent </a:t>
            </a:r>
            <a:r>
              <a:rPr lang="en-US" sz="1600" dirty="0" err="1" smtClean="0"/>
              <a:t>astfel</a:t>
            </a:r>
            <a:r>
              <a:rPr lang="en-US" sz="1600" dirty="0" smtClean="0"/>
              <a:t> </a:t>
            </a:r>
            <a:r>
              <a:rPr lang="en-US" sz="1600" dirty="0" err="1" smtClean="0"/>
              <a:t>încât</a:t>
            </a:r>
            <a:r>
              <a:rPr lang="en-US" sz="1600" dirty="0" smtClean="0"/>
              <a:t> </a:t>
            </a:r>
            <a:r>
              <a:rPr lang="en-US" sz="1600" dirty="0" err="1" smtClean="0"/>
              <a:t>aparatul</a:t>
            </a:r>
            <a:r>
              <a:rPr lang="en-US" sz="1600" dirty="0" smtClean="0"/>
              <a:t> </a:t>
            </a:r>
            <a:r>
              <a:rPr lang="en-US" sz="1600" dirty="0" err="1" smtClean="0"/>
              <a:t>să</a:t>
            </a:r>
            <a:r>
              <a:rPr lang="en-US" sz="1600" dirty="0" smtClean="0"/>
              <a:t> </a:t>
            </a:r>
            <a:r>
              <a:rPr lang="en-US" sz="1600" dirty="0" err="1" smtClean="0"/>
              <a:t>afişeze</a:t>
            </a:r>
            <a:r>
              <a:rPr lang="en-US" sz="1600" dirty="0" smtClean="0"/>
              <a:t> </a:t>
            </a:r>
            <a:r>
              <a:rPr lang="en-US" sz="1600" dirty="0" err="1" smtClean="0"/>
              <a:t>succesiv</a:t>
            </a:r>
            <a:r>
              <a:rPr lang="en-US" sz="1600" dirty="0" smtClean="0"/>
              <a:t> </a:t>
            </a:r>
            <a:r>
              <a:rPr lang="en-US" sz="1600" dirty="0" err="1" smtClean="0"/>
              <a:t>toate</a:t>
            </a:r>
            <a:r>
              <a:rPr lang="en-US" sz="1600" dirty="0" smtClean="0"/>
              <a:t> </a:t>
            </a:r>
            <a:r>
              <a:rPr lang="en-US" sz="1600" dirty="0" err="1" smtClean="0"/>
              <a:t>cifrele</a:t>
            </a:r>
            <a:r>
              <a:rPr lang="en-US" sz="1600" dirty="0" smtClean="0"/>
              <a:t>.</a:t>
            </a:r>
          </a:p>
          <a:p>
            <a:pPr algn="just" fontAlgn="base">
              <a:buFont typeface="Wingdings" pitchFamily="2" charset="2"/>
              <a:buChar char="§"/>
            </a:pPr>
            <a:r>
              <a:rPr lang="en-US" sz="1600" dirty="0" err="1" smtClean="0"/>
              <a:t>Selectarea</a:t>
            </a:r>
            <a:r>
              <a:rPr lang="en-US" sz="1600" dirty="0" smtClean="0"/>
              <a:t> </a:t>
            </a:r>
            <a:r>
              <a:rPr lang="en-US" sz="1600" dirty="0" err="1" smtClean="0"/>
              <a:t>mărimii</a:t>
            </a:r>
            <a:r>
              <a:rPr lang="en-US" sz="1600" dirty="0" smtClean="0"/>
              <a:t>, </a:t>
            </a:r>
            <a:r>
              <a:rPr lang="en-US" sz="1600" dirty="0" err="1" smtClean="0"/>
              <a:t>tipului</a:t>
            </a:r>
            <a:r>
              <a:rPr lang="en-US" sz="1600" dirty="0" smtClean="0"/>
              <a:t>  </a:t>
            </a:r>
            <a:r>
              <a:rPr lang="en-US" sz="1600" dirty="0" err="1" smtClean="0"/>
              <a:t>mărimii</a:t>
            </a:r>
            <a:r>
              <a:rPr lang="en-US" sz="1600" dirty="0" smtClean="0"/>
              <a:t> </a:t>
            </a:r>
            <a:r>
              <a:rPr lang="en-US" sz="1600" dirty="0" err="1" smtClean="0"/>
              <a:t>şi</a:t>
            </a:r>
            <a:r>
              <a:rPr lang="en-US" sz="1600" dirty="0" smtClean="0"/>
              <a:t> </a:t>
            </a:r>
            <a:r>
              <a:rPr lang="en-US" sz="1600" dirty="0" err="1" smtClean="0"/>
              <a:t>domeniului</a:t>
            </a:r>
            <a:r>
              <a:rPr lang="en-US" sz="1600" dirty="0" smtClean="0"/>
              <a:t> de </a:t>
            </a:r>
            <a:r>
              <a:rPr lang="en-US" sz="1600" dirty="0" err="1" smtClean="0"/>
              <a:t>măsurare</a:t>
            </a:r>
            <a:r>
              <a:rPr lang="en-US" sz="1600" dirty="0" smtClean="0"/>
              <a:t>  cu </a:t>
            </a:r>
            <a:r>
              <a:rPr lang="en-US" sz="1600" dirty="0" err="1" smtClean="0"/>
              <a:t>ajutorul</a:t>
            </a:r>
            <a:r>
              <a:rPr lang="en-US" sz="1600" dirty="0" smtClean="0"/>
              <a:t> </a:t>
            </a:r>
            <a:r>
              <a:rPr lang="en-US" sz="1600" dirty="0" err="1" smtClean="0"/>
              <a:t>comutatorului</a:t>
            </a:r>
            <a:r>
              <a:rPr lang="en-US" sz="1600" dirty="0" smtClean="0"/>
              <a:t> de </a:t>
            </a:r>
            <a:r>
              <a:rPr lang="en-US" sz="1600" dirty="0" err="1" smtClean="0"/>
              <a:t>funcţii</a:t>
            </a:r>
            <a:endParaRPr lang="en-US" sz="1600" dirty="0" smtClean="0"/>
          </a:p>
          <a:p>
            <a:pPr algn="just" fontAlgn="base">
              <a:buFont typeface="Wingdings" pitchFamily="2" charset="2"/>
              <a:buChar char="§"/>
            </a:pPr>
            <a:r>
              <a:rPr lang="en-US" sz="1600" dirty="0" smtClean="0"/>
              <a:t>Se </a:t>
            </a:r>
            <a:r>
              <a:rPr lang="en-US" sz="1600" dirty="0" err="1" smtClean="0"/>
              <a:t>conectează</a:t>
            </a:r>
            <a:r>
              <a:rPr lang="en-US" sz="1600" dirty="0" smtClean="0"/>
              <a:t> </a:t>
            </a:r>
            <a:r>
              <a:rPr lang="en-US" sz="1600" dirty="0" err="1" smtClean="0"/>
              <a:t>cablurile</a:t>
            </a:r>
            <a:r>
              <a:rPr lang="en-US" sz="1600" dirty="0" smtClean="0"/>
              <a:t> de </a:t>
            </a:r>
            <a:r>
              <a:rPr lang="en-US" sz="1600" dirty="0" err="1" smtClean="0"/>
              <a:t>măsurare</a:t>
            </a:r>
            <a:r>
              <a:rPr lang="en-US" sz="1600" dirty="0" smtClean="0"/>
              <a:t>  la </a:t>
            </a:r>
            <a:r>
              <a:rPr lang="en-US" sz="1600" dirty="0" err="1" smtClean="0"/>
              <a:t>bornele</a:t>
            </a:r>
            <a:r>
              <a:rPr lang="en-US" sz="1600" dirty="0" smtClean="0"/>
              <a:t> </a:t>
            </a:r>
            <a:r>
              <a:rPr lang="en-US" sz="1600" dirty="0" err="1" smtClean="0"/>
              <a:t>corespunzătoare</a:t>
            </a:r>
            <a:r>
              <a:rPr lang="en-US" sz="1600" dirty="0" smtClean="0"/>
              <a:t> </a:t>
            </a:r>
            <a:r>
              <a:rPr lang="en-US" sz="1600" dirty="0" err="1" smtClean="0"/>
              <a:t>mărimii</a:t>
            </a:r>
            <a:r>
              <a:rPr lang="en-US" sz="1600" dirty="0" smtClean="0"/>
              <a:t> </a:t>
            </a:r>
            <a:r>
              <a:rPr lang="en-US" sz="1600" dirty="0" err="1" smtClean="0"/>
              <a:t>măsurate</a:t>
            </a:r>
            <a:endParaRPr lang="en-US" sz="1600" dirty="0" smtClean="0"/>
          </a:p>
          <a:p>
            <a:endParaRPr lang="en-US" sz="1600" dirty="0"/>
          </a:p>
        </p:txBody>
      </p:sp>
      <p:pic>
        <p:nvPicPr>
          <p:cNvPr id="6" name="Picture 2"/>
          <p:cNvPicPr>
            <a:picLocks noGrp="1" noChangeAspect="1" noChangeArrowheads="1"/>
          </p:cNvPicPr>
          <p:nvPr>
            <p:ph idx="1"/>
          </p:nvPr>
        </p:nvPicPr>
        <p:blipFill>
          <a:blip r:embed="rId2" cstate="print"/>
          <a:srcRect/>
          <a:stretch>
            <a:fillRect/>
          </a:stretch>
        </p:blipFill>
        <p:spPr bwMode="auto">
          <a:xfrm>
            <a:off x="4328123" y="2971801"/>
            <a:ext cx="4511077" cy="3276600"/>
          </a:xfrm>
          <a:prstGeom prst="rect">
            <a:avLst/>
          </a:prstGeom>
          <a:noFill/>
          <a:ln w="9525">
            <a:noFill/>
            <a:miter lim="800000"/>
            <a:headEnd/>
            <a:tailEnd/>
          </a:ln>
          <a:effectLst/>
        </p:spPr>
      </p:pic>
      <p:sp>
        <p:nvSpPr>
          <p:cNvPr id="7" name="TextBox 6"/>
          <p:cNvSpPr txBox="1"/>
          <p:nvPr/>
        </p:nvSpPr>
        <p:spPr>
          <a:xfrm>
            <a:off x="533400" y="3276601"/>
            <a:ext cx="3886200" cy="2339102"/>
          </a:xfrm>
          <a:prstGeom prst="rect">
            <a:avLst/>
          </a:prstGeom>
          <a:noFill/>
        </p:spPr>
        <p:txBody>
          <a:bodyPr wrap="square" rtlCol="0">
            <a:spAutoFit/>
          </a:bodyPr>
          <a:lstStyle/>
          <a:p>
            <a:pPr algn="just" fontAlgn="base">
              <a:buFont typeface="Wingdings" pitchFamily="2" charset="2"/>
              <a:buChar char="§"/>
            </a:pPr>
            <a:r>
              <a:rPr lang="en-US" sz="1600" dirty="0" smtClean="0"/>
              <a:t>Se </a:t>
            </a:r>
            <a:r>
              <a:rPr lang="en-US" sz="1600" dirty="0" err="1" smtClean="0"/>
              <a:t>pune</a:t>
            </a:r>
            <a:r>
              <a:rPr lang="en-US" sz="1600" dirty="0" smtClean="0"/>
              <a:t> </a:t>
            </a:r>
            <a:r>
              <a:rPr lang="en-US" sz="1600" dirty="0" err="1" smtClean="0"/>
              <a:t>în</a:t>
            </a:r>
            <a:r>
              <a:rPr lang="en-US" sz="1600" dirty="0" smtClean="0"/>
              <a:t> </a:t>
            </a:r>
            <a:r>
              <a:rPr lang="en-US" sz="1600" dirty="0" err="1" smtClean="0"/>
              <a:t>funcţiune</a:t>
            </a:r>
            <a:r>
              <a:rPr lang="en-US" sz="1600" dirty="0" smtClean="0"/>
              <a:t> </a:t>
            </a:r>
            <a:r>
              <a:rPr lang="en-US" sz="1600" dirty="0" err="1" smtClean="0"/>
              <a:t>aparatul</a:t>
            </a:r>
            <a:r>
              <a:rPr lang="en-US" sz="1600" dirty="0" smtClean="0"/>
              <a:t> </a:t>
            </a:r>
            <a:r>
              <a:rPr lang="en-US" sz="1600" dirty="0" err="1" smtClean="0"/>
              <a:t>prin</a:t>
            </a:r>
            <a:r>
              <a:rPr lang="en-US" sz="1600" dirty="0" smtClean="0"/>
              <a:t> </a:t>
            </a:r>
            <a:r>
              <a:rPr lang="en-US" sz="1600" dirty="0" err="1" smtClean="0"/>
              <a:t>apăsarea</a:t>
            </a:r>
            <a:r>
              <a:rPr lang="en-US" sz="1600" dirty="0" smtClean="0"/>
              <a:t> </a:t>
            </a:r>
            <a:r>
              <a:rPr lang="en-US" sz="1600" dirty="0" err="1" smtClean="0"/>
              <a:t>butonului</a:t>
            </a:r>
            <a:r>
              <a:rPr lang="en-US" sz="1600" dirty="0" smtClean="0"/>
              <a:t> Auto POWER</a:t>
            </a:r>
          </a:p>
          <a:p>
            <a:pPr algn="just" fontAlgn="base">
              <a:buFont typeface="Wingdings" pitchFamily="2" charset="2"/>
              <a:buChar char="§"/>
            </a:pPr>
            <a:r>
              <a:rPr lang="en-US" sz="1600" dirty="0" smtClean="0"/>
              <a:t>Se </a:t>
            </a:r>
            <a:r>
              <a:rPr lang="en-US" sz="1600" dirty="0" err="1" smtClean="0"/>
              <a:t>citesc</a:t>
            </a:r>
            <a:r>
              <a:rPr lang="en-US" sz="1600" dirty="0" smtClean="0"/>
              <a:t> </a:t>
            </a:r>
            <a:r>
              <a:rPr lang="en-US" sz="1600" dirty="0" err="1" smtClean="0"/>
              <a:t>valorile</a:t>
            </a:r>
            <a:r>
              <a:rPr lang="en-US" sz="1600" dirty="0" smtClean="0"/>
              <a:t> </a:t>
            </a:r>
            <a:r>
              <a:rPr lang="en-US" sz="1600" dirty="0" err="1" smtClean="0"/>
              <a:t>măsurate</a:t>
            </a:r>
            <a:r>
              <a:rPr lang="en-US" sz="1600" dirty="0" smtClean="0"/>
              <a:t>, </a:t>
            </a:r>
            <a:r>
              <a:rPr lang="en-US" sz="1600" dirty="0" err="1" smtClean="0"/>
              <a:t>vizualizate</a:t>
            </a:r>
            <a:r>
              <a:rPr lang="en-US" sz="1600" dirty="0" smtClean="0"/>
              <a:t> la </a:t>
            </a:r>
            <a:r>
              <a:rPr lang="en-US" sz="1600" dirty="0" err="1" smtClean="0"/>
              <a:t>afişajul</a:t>
            </a:r>
            <a:r>
              <a:rPr lang="en-US" sz="1600" dirty="0" smtClean="0"/>
              <a:t> LCD</a:t>
            </a:r>
          </a:p>
          <a:p>
            <a:pPr algn="just">
              <a:buFont typeface="Wingdings" pitchFamily="2" charset="2"/>
              <a:buChar char="§"/>
            </a:pPr>
            <a:r>
              <a:rPr lang="en-US" sz="1600" dirty="0" err="1" smtClean="0"/>
              <a:t>În</a:t>
            </a:r>
            <a:r>
              <a:rPr lang="en-US" sz="1600" dirty="0" smtClean="0"/>
              <a:t> </a:t>
            </a:r>
            <a:r>
              <a:rPr lang="en-US" sz="1600" dirty="0" err="1" smtClean="0"/>
              <a:t>cazul</a:t>
            </a:r>
            <a:r>
              <a:rPr lang="en-US" sz="1600" dirty="0" smtClean="0"/>
              <a:t> </a:t>
            </a:r>
            <a:r>
              <a:rPr lang="en-US" sz="1600" dirty="0" err="1" smtClean="0"/>
              <a:t>măsurării</a:t>
            </a:r>
            <a:r>
              <a:rPr lang="en-US" sz="1600" dirty="0" smtClean="0"/>
              <a:t> </a:t>
            </a:r>
            <a:r>
              <a:rPr lang="en-US" sz="1600" dirty="0" err="1" smtClean="0"/>
              <a:t>în</a:t>
            </a:r>
            <a:r>
              <a:rPr lang="en-US" sz="1600" dirty="0" smtClean="0"/>
              <a:t> </a:t>
            </a:r>
            <a:r>
              <a:rPr lang="en-US" sz="1600" dirty="0" err="1" smtClean="0"/>
              <a:t>curent</a:t>
            </a:r>
            <a:r>
              <a:rPr lang="en-US" sz="1600" dirty="0" smtClean="0"/>
              <a:t> </a:t>
            </a:r>
            <a:r>
              <a:rPr lang="en-US" sz="1600" dirty="0" err="1" smtClean="0"/>
              <a:t>alternativ</a:t>
            </a:r>
            <a:r>
              <a:rPr lang="en-US" sz="1600" dirty="0" smtClean="0"/>
              <a:t>, </a:t>
            </a:r>
            <a:r>
              <a:rPr lang="en-US" sz="1600" dirty="0" err="1" smtClean="0"/>
              <a:t>valoarea</a:t>
            </a:r>
            <a:r>
              <a:rPr lang="en-US" sz="1600" dirty="0" smtClean="0"/>
              <a:t> </a:t>
            </a:r>
            <a:r>
              <a:rPr lang="en-US" sz="1600" dirty="0" err="1" smtClean="0"/>
              <a:t>afişată</a:t>
            </a:r>
            <a:r>
              <a:rPr lang="en-US" sz="1600" dirty="0" smtClean="0"/>
              <a:t> </a:t>
            </a:r>
            <a:r>
              <a:rPr lang="en-US" sz="1600" dirty="0" err="1" smtClean="0"/>
              <a:t>este</a:t>
            </a:r>
            <a:r>
              <a:rPr lang="en-US" sz="1600" dirty="0" smtClean="0"/>
              <a:t> </a:t>
            </a:r>
            <a:r>
              <a:rPr lang="en-US" sz="1600" dirty="0" err="1" smtClean="0"/>
              <a:t>cea</a:t>
            </a:r>
            <a:r>
              <a:rPr lang="en-US" sz="1600" dirty="0" smtClean="0"/>
              <a:t> EFECTIVĂ</a:t>
            </a:r>
          </a:p>
          <a:p>
            <a:pPr algn="just" fontAlgn="base">
              <a:buFont typeface="Wingdings" pitchFamily="2" charset="2"/>
              <a:buChar char="§"/>
            </a:pPr>
            <a:r>
              <a:rPr lang="en-US" sz="1600" dirty="0" smtClean="0"/>
              <a:t>Se </a:t>
            </a:r>
            <a:r>
              <a:rPr lang="en-US" sz="1600" dirty="0" err="1" smtClean="0"/>
              <a:t>deconectează</a:t>
            </a:r>
            <a:r>
              <a:rPr lang="en-US" sz="1600" dirty="0" smtClean="0"/>
              <a:t> </a:t>
            </a:r>
            <a:r>
              <a:rPr lang="en-US" sz="1600" dirty="0" err="1" smtClean="0"/>
              <a:t>cablurile</a:t>
            </a:r>
            <a:r>
              <a:rPr lang="en-US" sz="1600" dirty="0" smtClean="0"/>
              <a:t> de </a:t>
            </a:r>
            <a:r>
              <a:rPr lang="en-US" sz="1600" dirty="0" err="1" smtClean="0"/>
              <a:t>măsurat</a:t>
            </a:r>
            <a:endParaRPr lang="en-US" sz="1600" dirty="0" smtClean="0"/>
          </a:p>
          <a:p>
            <a:pPr algn="just" fontAlgn="base">
              <a:buFont typeface="Wingdings" pitchFamily="2" charset="2"/>
              <a:buChar char="§"/>
            </a:pPr>
            <a:r>
              <a:rPr lang="en-US" sz="1600" dirty="0" smtClean="0"/>
              <a:t>Se </a:t>
            </a:r>
            <a:r>
              <a:rPr lang="en-US" sz="1600" dirty="0" err="1" smtClean="0"/>
              <a:t>întrerupe</a:t>
            </a:r>
            <a:r>
              <a:rPr lang="en-US" sz="1600" dirty="0" smtClean="0"/>
              <a:t> </a:t>
            </a:r>
            <a:r>
              <a:rPr lang="en-US" sz="1600" dirty="0" err="1" smtClean="0"/>
              <a:t>alimentarea</a:t>
            </a:r>
            <a:r>
              <a:rPr lang="en-US" sz="1600" dirty="0" smtClean="0"/>
              <a:t> </a:t>
            </a:r>
            <a:r>
              <a:rPr lang="en-US" sz="1600" dirty="0" err="1" smtClean="0"/>
              <a:t>multimetrului</a:t>
            </a:r>
            <a:endParaRPr lang="en-US" sz="1600" dirty="0" smtClean="0"/>
          </a:p>
          <a:p>
            <a:pPr algn="just"/>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334000" cy="762000"/>
          </a:xfrm>
        </p:spPr>
        <p:txBody>
          <a:bodyPr>
            <a:normAutofit/>
          </a:bodyPr>
          <a:lstStyle/>
          <a:p>
            <a:r>
              <a:rPr lang="en-US" sz="2000" dirty="0" err="1" smtClean="0"/>
              <a:t>Tabel</a:t>
            </a:r>
            <a:r>
              <a:rPr lang="en-US" sz="2000" dirty="0" smtClean="0"/>
              <a:t> </a:t>
            </a:r>
            <a:r>
              <a:rPr lang="en-US" sz="2000" dirty="0" err="1" smtClean="0"/>
              <a:t>comparativ</a:t>
            </a:r>
            <a:r>
              <a:rPr lang="en-US" sz="2000" dirty="0" smtClean="0"/>
              <a:t> </a:t>
            </a:r>
            <a:r>
              <a:rPr lang="en-US" sz="2000" dirty="0" err="1" smtClean="0"/>
              <a:t>multimetre</a:t>
            </a:r>
            <a:r>
              <a:rPr lang="en-US" sz="2000" dirty="0" smtClean="0"/>
              <a:t> </a:t>
            </a:r>
            <a:r>
              <a:rPr lang="en-US" sz="2000" dirty="0" err="1" smtClean="0"/>
              <a:t>analogice</a:t>
            </a:r>
            <a:r>
              <a:rPr lang="en-US" sz="2000" dirty="0" smtClean="0"/>
              <a:t> </a:t>
            </a:r>
            <a:r>
              <a:rPr lang="en-US" sz="2000" dirty="0" err="1" smtClean="0"/>
              <a:t>şi</a:t>
            </a:r>
            <a:r>
              <a:rPr lang="en-US" sz="2000" dirty="0" smtClean="0"/>
              <a:t> </a:t>
            </a:r>
            <a:r>
              <a:rPr lang="en-US" sz="2000" dirty="0" err="1" smtClean="0"/>
              <a:t>digitale</a:t>
            </a:r>
            <a:endParaRPr lang="en-US" sz="2000" dirty="0"/>
          </a:p>
        </p:txBody>
      </p:sp>
      <p:graphicFrame>
        <p:nvGraphicFramePr>
          <p:cNvPr id="10" name="Content Placeholder 9"/>
          <p:cNvGraphicFramePr>
            <a:graphicFrameLocks noGrp="1"/>
          </p:cNvGraphicFramePr>
          <p:nvPr>
            <p:ph idx="1"/>
          </p:nvPr>
        </p:nvGraphicFramePr>
        <p:xfrm>
          <a:off x="381000" y="1371601"/>
          <a:ext cx="8229600" cy="6488026"/>
        </p:xfrm>
        <a:graphic>
          <a:graphicData uri="http://schemas.openxmlformats.org/drawingml/2006/table">
            <a:tbl>
              <a:tblPr firstRow="1" bandRow="1">
                <a:tableStyleId>{5C22544A-7EE6-4342-B048-85BDC9FD1C3A}</a:tableStyleId>
              </a:tblPr>
              <a:tblGrid>
                <a:gridCol w="2743200"/>
                <a:gridCol w="2743200"/>
                <a:gridCol w="2743200"/>
              </a:tblGrid>
              <a:tr h="199285">
                <a:tc>
                  <a:txBody>
                    <a:bodyPr/>
                    <a:lstStyle/>
                    <a:p>
                      <a:pPr marL="0" marR="0">
                        <a:lnSpc>
                          <a:spcPct val="115000"/>
                        </a:lnSpc>
                        <a:spcBef>
                          <a:spcPts val="0"/>
                        </a:spcBef>
                        <a:spcAft>
                          <a:spcPts val="0"/>
                        </a:spcAft>
                      </a:pPr>
                      <a:r>
                        <a:rPr lang="en-US" sz="1200" dirty="0" err="1">
                          <a:latin typeface="Calibri"/>
                          <a:ea typeface="Calibri"/>
                          <a:cs typeface="Times New Roman"/>
                        </a:rPr>
                        <a:t>Criterii</a:t>
                      </a:r>
                      <a:r>
                        <a:rPr lang="en-US" sz="1200" dirty="0">
                          <a:latin typeface="Calibri"/>
                          <a:ea typeface="Calibri"/>
                          <a:cs typeface="Times New Roman"/>
                        </a:rPr>
                        <a:t> de </a:t>
                      </a:r>
                      <a:r>
                        <a:rPr lang="en-US" sz="1200" dirty="0" err="1">
                          <a:latin typeface="Calibri"/>
                          <a:ea typeface="Calibri"/>
                          <a:cs typeface="Times New Roman"/>
                        </a:rPr>
                        <a:t>comparaţie</a:t>
                      </a:r>
                      <a:endParaRPr lang="en-US" sz="1200" dirty="0">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a:latin typeface="Calibri"/>
                          <a:ea typeface="Calibri"/>
                          <a:cs typeface="Times New Roman"/>
                        </a:rPr>
                        <a:t>Multimetre analogice</a:t>
                      </a:r>
                    </a:p>
                  </a:txBody>
                  <a:tcPr marL="68580" marR="68580" marT="0" marB="0"/>
                </a:tc>
                <a:tc>
                  <a:txBody>
                    <a:bodyPr/>
                    <a:lstStyle/>
                    <a:p>
                      <a:pPr marL="0" marR="0">
                        <a:lnSpc>
                          <a:spcPct val="115000"/>
                        </a:lnSpc>
                        <a:spcBef>
                          <a:spcPts val="0"/>
                        </a:spcBef>
                        <a:spcAft>
                          <a:spcPts val="0"/>
                        </a:spcAft>
                      </a:pPr>
                      <a:r>
                        <a:rPr lang="en-US" sz="1200">
                          <a:latin typeface="Calibri"/>
                          <a:ea typeface="Calibri"/>
                          <a:cs typeface="Times New Roman"/>
                        </a:rPr>
                        <a:t>Multimetre digitale</a:t>
                      </a:r>
                    </a:p>
                  </a:txBody>
                  <a:tcPr marL="68580" marR="68580" marT="0" marB="0"/>
                </a:tc>
              </a:tr>
              <a:tr h="1107832">
                <a:tc>
                  <a:txBody>
                    <a:bodyPr/>
                    <a:lstStyle/>
                    <a:p>
                      <a:pPr marL="0" marR="0">
                        <a:lnSpc>
                          <a:spcPct val="115000"/>
                        </a:lnSpc>
                        <a:spcBef>
                          <a:spcPts val="0"/>
                        </a:spcBef>
                        <a:spcAft>
                          <a:spcPts val="0"/>
                        </a:spcAft>
                      </a:pPr>
                      <a:r>
                        <a:rPr lang="en-US" sz="1200" dirty="0" err="1">
                          <a:latin typeface="Calibri"/>
                          <a:ea typeface="Calibri"/>
                          <a:cs typeface="Times New Roman"/>
                        </a:rPr>
                        <a:t>Inscripţionarea</a:t>
                      </a:r>
                      <a:r>
                        <a:rPr lang="en-US" sz="1200" dirty="0">
                          <a:latin typeface="Calibri"/>
                          <a:ea typeface="Calibri"/>
                          <a:cs typeface="Times New Roman"/>
                        </a:rPr>
                        <a:t> </a:t>
                      </a:r>
                      <a:r>
                        <a:rPr lang="en-US" sz="1200" dirty="0" err="1">
                          <a:latin typeface="Calibri"/>
                          <a:ea typeface="Calibri"/>
                          <a:cs typeface="Times New Roman"/>
                        </a:rPr>
                        <a:t>bornelor</a:t>
                      </a:r>
                      <a:r>
                        <a:rPr lang="en-US" sz="1200" dirty="0">
                          <a:latin typeface="Calibri"/>
                          <a:ea typeface="Calibri"/>
                          <a:cs typeface="Times New Roman"/>
                        </a:rPr>
                        <a:t> </a:t>
                      </a:r>
                      <a:r>
                        <a:rPr lang="en-US" sz="1200" dirty="0" err="1">
                          <a:latin typeface="Calibri"/>
                          <a:ea typeface="Calibri"/>
                          <a:cs typeface="Times New Roman"/>
                        </a:rPr>
                        <a:t>şi</a:t>
                      </a:r>
                      <a:r>
                        <a:rPr lang="en-US" sz="1200" dirty="0">
                          <a:latin typeface="Calibri"/>
                          <a:ea typeface="Calibri"/>
                          <a:cs typeface="Times New Roman"/>
                        </a:rPr>
                        <a:t> </a:t>
                      </a:r>
                      <a:r>
                        <a:rPr lang="en-US" sz="1200" dirty="0" err="1">
                          <a:latin typeface="Calibri"/>
                          <a:ea typeface="Calibri"/>
                          <a:cs typeface="Times New Roman"/>
                        </a:rPr>
                        <a:t>modul</a:t>
                      </a:r>
                      <a:r>
                        <a:rPr lang="en-US" sz="1200" dirty="0">
                          <a:latin typeface="Calibri"/>
                          <a:ea typeface="Calibri"/>
                          <a:cs typeface="Times New Roman"/>
                        </a:rPr>
                        <a:t> de </a:t>
                      </a:r>
                      <a:r>
                        <a:rPr lang="en-US" sz="1200" dirty="0" err="1">
                          <a:latin typeface="Calibri"/>
                          <a:ea typeface="Calibri"/>
                          <a:cs typeface="Times New Roman"/>
                        </a:rPr>
                        <a:t>conectare</a:t>
                      </a:r>
                      <a:r>
                        <a:rPr lang="en-US" sz="1200" dirty="0">
                          <a:latin typeface="Calibri"/>
                          <a:ea typeface="Calibri"/>
                          <a:cs typeface="Times New Roman"/>
                        </a:rPr>
                        <a:t> </a:t>
                      </a:r>
                      <a:r>
                        <a:rPr lang="en-US" sz="1200" dirty="0" err="1">
                          <a:latin typeface="Calibri"/>
                          <a:ea typeface="Calibri"/>
                          <a:cs typeface="Times New Roman"/>
                        </a:rPr>
                        <a:t>în</a:t>
                      </a:r>
                      <a:r>
                        <a:rPr lang="en-US" sz="1200" dirty="0">
                          <a:latin typeface="Calibri"/>
                          <a:ea typeface="Calibri"/>
                          <a:cs typeface="Times New Roman"/>
                        </a:rPr>
                        <a:t> </a:t>
                      </a:r>
                      <a:r>
                        <a:rPr lang="en-US" sz="1200" dirty="0" err="1" smtClean="0">
                          <a:latin typeface="Calibri"/>
                          <a:ea typeface="Calibri"/>
                          <a:cs typeface="Times New Roman"/>
                        </a:rPr>
                        <a:t>curent</a:t>
                      </a:r>
                      <a:r>
                        <a:rPr lang="en-US" sz="1200" dirty="0" smtClean="0">
                          <a:latin typeface="Calibri"/>
                          <a:ea typeface="Calibri"/>
                          <a:cs typeface="Times New Roman"/>
                        </a:rPr>
                        <a:t> </a:t>
                      </a:r>
                      <a:r>
                        <a:rPr lang="en-US" sz="1200" dirty="0" err="1">
                          <a:latin typeface="Calibri"/>
                          <a:ea typeface="Calibri"/>
                          <a:cs typeface="Times New Roman"/>
                        </a:rPr>
                        <a:t>continuu</a:t>
                      </a:r>
                      <a:endParaRPr lang="en-US" sz="1200" dirty="0">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dirty="0">
                          <a:latin typeface="Calibri"/>
                          <a:ea typeface="Calibri"/>
                          <a:cs typeface="Times New Roman"/>
                        </a:rPr>
                        <a:t>Borne </a:t>
                      </a:r>
                      <a:r>
                        <a:rPr lang="en-US" sz="1200" dirty="0" err="1">
                          <a:latin typeface="Calibri"/>
                          <a:ea typeface="Calibri"/>
                          <a:cs typeface="Times New Roman"/>
                        </a:rPr>
                        <a:t>inscripţionate</a:t>
                      </a:r>
                      <a:r>
                        <a:rPr lang="en-US" sz="1200" dirty="0">
                          <a:latin typeface="Calibri"/>
                          <a:ea typeface="Calibri"/>
                          <a:cs typeface="Times New Roman"/>
                        </a:rPr>
                        <a:t> cu + </a:t>
                      </a:r>
                      <a:r>
                        <a:rPr lang="en-US" sz="1200" dirty="0" err="1">
                          <a:latin typeface="Calibri"/>
                          <a:ea typeface="Calibri"/>
                          <a:cs typeface="Times New Roman"/>
                        </a:rPr>
                        <a:t>şi</a:t>
                      </a:r>
                      <a:r>
                        <a:rPr lang="en-US" sz="1200" dirty="0">
                          <a:latin typeface="Calibri"/>
                          <a:ea typeface="Calibri"/>
                          <a:cs typeface="Times New Roman"/>
                        </a:rPr>
                        <a:t> -, </a:t>
                      </a:r>
                      <a:r>
                        <a:rPr lang="ro-RO" sz="1200" dirty="0" smtClean="0">
                          <a:latin typeface="Calibri"/>
                          <a:ea typeface="Calibri"/>
                          <a:cs typeface="Times New Roman"/>
                        </a:rPr>
                        <a:t>la </a:t>
                      </a:r>
                      <a:r>
                        <a:rPr lang="en-US" sz="1200" dirty="0" err="1" smtClean="0">
                          <a:latin typeface="Calibri"/>
                          <a:ea typeface="Calibri"/>
                          <a:cs typeface="Times New Roman"/>
                        </a:rPr>
                        <a:t>nerespectarea</a:t>
                      </a:r>
                      <a:r>
                        <a:rPr lang="en-US" sz="1200" dirty="0" smtClean="0">
                          <a:latin typeface="Calibri"/>
                          <a:ea typeface="Calibri"/>
                          <a:cs typeface="Times New Roman"/>
                        </a:rPr>
                        <a:t> </a:t>
                      </a:r>
                      <a:r>
                        <a:rPr lang="en-US" sz="1200" dirty="0" err="1">
                          <a:latin typeface="Calibri"/>
                          <a:ea typeface="Calibri"/>
                          <a:cs typeface="Times New Roman"/>
                        </a:rPr>
                        <a:t>indicaţiei</a:t>
                      </a:r>
                      <a:r>
                        <a:rPr lang="en-US" sz="1200" dirty="0">
                          <a:latin typeface="Calibri"/>
                          <a:ea typeface="Calibri"/>
                          <a:cs typeface="Times New Roman"/>
                        </a:rPr>
                        <a:t> </a:t>
                      </a:r>
                      <a:r>
                        <a:rPr lang="en-US" sz="1200" dirty="0" err="1">
                          <a:latin typeface="Calibri"/>
                          <a:ea typeface="Calibri"/>
                          <a:cs typeface="Times New Roman"/>
                        </a:rPr>
                        <a:t>în</a:t>
                      </a:r>
                      <a:r>
                        <a:rPr lang="en-US" sz="1200" dirty="0">
                          <a:latin typeface="Calibri"/>
                          <a:ea typeface="Calibri"/>
                          <a:cs typeface="Times New Roman"/>
                        </a:rPr>
                        <a:t> cc </a:t>
                      </a:r>
                      <a:r>
                        <a:rPr lang="en-US" sz="1200" dirty="0" err="1">
                          <a:latin typeface="Calibri"/>
                          <a:ea typeface="Calibri"/>
                          <a:cs typeface="Times New Roman"/>
                        </a:rPr>
                        <a:t>acul</a:t>
                      </a:r>
                      <a:r>
                        <a:rPr lang="en-US" sz="1200" dirty="0">
                          <a:latin typeface="Calibri"/>
                          <a:ea typeface="Calibri"/>
                          <a:cs typeface="Times New Roman"/>
                        </a:rPr>
                        <a:t> </a:t>
                      </a:r>
                      <a:r>
                        <a:rPr lang="en-US" sz="1200" dirty="0" err="1">
                          <a:latin typeface="Calibri"/>
                          <a:ea typeface="Calibri"/>
                          <a:cs typeface="Times New Roman"/>
                        </a:rPr>
                        <a:t>deviază</a:t>
                      </a:r>
                      <a:r>
                        <a:rPr lang="en-US" sz="1200" dirty="0">
                          <a:latin typeface="Calibri"/>
                          <a:ea typeface="Calibri"/>
                          <a:cs typeface="Times New Roman"/>
                        </a:rPr>
                        <a:t> sub </a:t>
                      </a:r>
                      <a:r>
                        <a:rPr lang="en-US" sz="1200" dirty="0" err="1">
                          <a:latin typeface="Calibri"/>
                          <a:ea typeface="Calibri"/>
                          <a:cs typeface="Times New Roman"/>
                        </a:rPr>
                        <a:t>zeroul</a:t>
                      </a:r>
                      <a:r>
                        <a:rPr lang="en-US" sz="1200" dirty="0">
                          <a:latin typeface="Calibri"/>
                          <a:ea typeface="Calibri"/>
                          <a:cs typeface="Times New Roman"/>
                        </a:rPr>
                        <a:t> </a:t>
                      </a:r>
                      <a:r>
                        <a:rPr lang="en-US" sz="1200" dirty="0" err="1">
                          <a:latin typeface="Calibri"/>
                          <a:ea typeface="Calibri"/>
                          <a:cs typeface="Times New Roman"/>
                        </a:rPr>
                        <a:t>scării</a:t>
                      </a:r>
                      <a:r>
                        <a:rPr lang="en-US" sz="1200" dirty="0">
                          <a:latin typeface="Calibri"/>
                          <a:ea typeface="Calibri"/>
                          <a:cs typeface="Times New Roman"/>
                        </a:rPr>
                        <a:t> gradate – </a:t>
                      </a:r>
                      <a:r>
                        <a:rPr lang="en-US" sz="1200" dirty="0" err="1">
                          <a:latin typeface="Calibri"/>
                          <a:ea typeface="Calibri"/>
                          <a:cs typeface="Times New Roman"/>
                        </a:rPr>
                        <a:t>distrugerea</a:t>
                      </a:r>
                      <a:r>
                        <a:rPr lang="en-US" sz="1200" dirty="0">
                          <a:latin typeface="Calibri"/>
                          <a:ea typeface="Calibri"/>
                          <a:cs typeface="Times New Roman"/>
                        </a:rPr>
                        <a:t> ap.</a:t>
                      </a:r>
                    </a:p>
                  </a:txBody>
                  <a:tcPr marL="68580" marR="68580" marT="0" marB="0"/>
                </a:tc>
                <a:tc>
                  <a:txBody>
                    <a:bodyPr/>
                    <a:lstStyle/>
                    <a:p>
                      <a:pPr marL="0" marR="0">
                        <a:lnSpc>
                          <a:spcPct val="115000"/>
                        </a:lnSpc>
                        <a:spcBef>
                          <a:spcPts val="0"/>
                        </a:spcBef>
                        <a:spcAft>
                          <a:spcPts val="0"/>
                        </a:spcAft>
                      </a:pPr>
                      <a:r>
                        <a:rPr lang="en-US" sz="1200" dirty="0" err="1">
                          <a:latin typeface="Calibri"/>
                          <a:ea typeface="Calibri"/>
                          <a:cs typeface="Times New Roman"/>
                        </a:rPr>
                        <a:t>Există</a:t>
                      </a:r>
                      <a:r>
                        <a:rPr lang="en-US" sz="1200" dirty="0">
                          <a:latin typeface="Calibri"/>
                          <a:ea typeface="Calibri"/>
                          <a:cs typeface="Times New Roman"/>
                        </a:rPr>
                        <a:t> </a:t>
                      </a:r>
                      <a:r>
                        <a:rPr lang="en-US" sz="1200" dirty="0" err="1">
                          <a:latin typeface="Calibri"/>
                          <a:ea typeface="Calibri"/>
                          <a:cs typeface="Times New Roman"/>
                        </a:rPr>
                        <a:t>bornă</a:t>
                      </a:r>
                      <a:r>
                        <a:rPr lang="en-US" sz="1200" dirty="0">
                          <a:latin typeface="Calibri"/>
                          <a:ea typeface="Calibri"/>
                          <a:cs typeface="Times New Roman"/>
                        </a:rPr>
                        <a:t> COM </a:t>
                      </a:r>
                      <a:r>
                        <a:rPr lang="en-US" sz="1200" dirty="0" err="1">
                          <a:latin typeface="Calibri"/>
                          <a:ea typeface="Calibri"/>
                          <a:cs typeface="Times New Roman"/>
                        </a:rPr>
                        <a:t>sau</a:t>
                      </a:r>
                      <a:r>
                        <a:rPr lang="en-US" sz="1200" dirty="0">
                          <a:latin typeface="Calibri"/>
                          <a:ea typeface="Calibri"/>
                          <a:cs typeface="Times New Roman"/>
                        </a:rPr>
                        <a:t> </a:t>
                      </a:r>
                      <a:r>
                        <a:rPr lang="en-US" sz="1200" dirty="0" err="1">
                          <a:latin typeface="Calibri"/>
                          <a:ea typeface="Calibri"/>
                          <a:cs typeface="Times New Roman"/>
                        </a:rPr>
                        <a:t>masă</a:t>
                      </a:r>
                      <a:r>
                        <a:rPr lang="en-US" sz="1200" dirty="0">
                          <a:latin typeface="Calibri"/>
                          <a:ea typeface="Calibri"/>
                          <a:cs typeface="Times New Roman"/>
                        </a:rPr>
                        <a:t>. </a:t>
                      </a:r>
                      <a:r>
                        <a:rPr lang="en-US" sz="1200" dirty="0" err="1">
                          <a:latin typeface="Calibri"/>
                          <a:ea typeface="Calibri"/>
                          <a:cs typeface="Times New Roman"/>
                        </a:rPr>
                        <a:t>În</a:t>
                      </a:r>
                      <a:r>
                        <a:rPr lang="en-US" sz="1200" dirty="0">
                          <a:latin typeface="Calibri"/>
                          <a:ea typeface="Calibri"/>
                          <a:cs typeface="Times New Roman"/>
                        </a:rPr>
                        <a:t> cc. </a:t>
                      </a:r>
                      <a:r>
                        <a:rPr lang="en-US" sz="1200" dirty="0" err="1">
                          <a:latin typeface="Calibri"/>
                          <a:ea typeface="Calibri"/>
                          <a:cs typeface="Times New Roman"/>
                        </a:rPr>
                        <a:t>borna</a:t>
                      </a:r>
                      <a:r>
                        <a:rPr lang="en-US" sz="1200" dirty="0">
                          <a:latin typeface="Calibri"/>
                          <a:ea typeface="Calibri"/>
                          <a:cs typeface="Times New Roman"/>
                        </a:rPr>
                        <a:t> COM </a:t>
                      </a:r>
                      <a:r>
                        <a:rPr lang="en-US" sz="1200" dirty="0" err="1">
                          <a:latin typeface="Calibri"/>
                          <a:ea typeface="Calibri"/>
                          <a:cs typeface="Times New Roman"/>
                        </a:rPr>
                        <a:t>poate</a:t>
                      </a:r>
                      <a:r>
                        <a:rPr lang="en-US" sz="1200" dirty="0">
                          <a:latin typeface="Calibri"/>
                          <a:ea typeface="Calibri"/>
                          <a:cs typeface="Times New Roman"/>
                        </a:rPr>
                        <a:t> </a:t>
                      </a:r>
                      <a:r>
                        <a:rPr lang="en-US" sz="1200" dirty="0" err="1">
                          <a:latin typeface="Calibri"/>
                          <a:ea typeface="Calibri"/>
                          <a:cs typeface="Times New Roman"/>
                        </a:rPr>
                        <a:t>fi</a:t>
                      </a:r>
                      <a:r>
                        <a:rPr lang="en-US" sz="1200" dirty="0">
                          <a:latin typeface="Calibri"/>
                          <a:ea typeface="Calibri"/>
                          <a:cs typeface="Times New Roman"/>
                        </a:rPr>
                        <a:t> </a:t>
                      </a:r>
                      <a:r>
                        <a:rPr lang="en-US" sz="1200" dirty="0" err="1">
                          <a:latin typeface="Calibri"/>
                          <a:ea typeface="Calibri"/>
                          <a:cs typeface="Times New Roman"/>
                        </a:rPr>
                        <a:t>conectată</a:t>
                      </a:r>
                      <a:r>
                        <a:rPr lang="en-US" sz="1200" dirty="0">
                          <a:latin typeface="Calibri"/>
                          <a:ea typeface="Calibri"/>
                          <a:cs typeface="Times New Roman"/>
                        </a:rPr>
                        <a:t> la </a:t>
                      </a:r>
                      <a:r>
                        <a:rPr lang="en-US" sz="1200" dirty="0" err="1">
                          <a:latin typeface="Calibri"/>
                          <a:ea typeface="Calibri"/>
                          <a:cs typeface="Times New Roman"/>
                        </a:rPr>
                        <a:t>oricare</a:t>
                      </a:r>
                      <a:r>
                        <a:rPr lang="en-US" sz="1200" dirty="0">
                          <a:latin typeface="Calibri"/>
                          <a:ea typeface="Calibri"/>
                          <a:cs typeface="Times New Roman"/>
                        </a:rPr>
                        <a:t> </a:t>
                      </a:r>
                      <a:r>
                        <a:rPr lang="en-US" sz="1200" dirty="0" err="1">
                          <a:latin typeface="Calibri"/>
                          <a:ea typeface="Calibri"/>
                          <a:cs typeface="Times New Roman"/>
                        </a:rPr>
                        <a:t>dintre</a:t>
                      </a:r>
                      <a:r>
                        <a:rPr lang="en-US" sz="1200" dirty="0">
                          <a:latin typeface="Calibri"/>
                          <a:ea typeface="Calibri"/>
                          <a:cs typeface="Times New Roman"/>
                        </a:rPr>
                        <a:t> </a:t>
                      </a:r>
                      <a:r>
                        <a:rPr lang="en-US" sz="1200" dirty="0" err="1">
                          <a:latin typeface="Calibri"/>
                          <a:ea typeface="Calibri"/>
                          <a:cs typeface="Times New Roman"/>
                        </a:rPr>
                        <a:t>punctele</a:t>
                      </a:r>
                      <a:r>
                        <a:rPr lang="en-US" sz="1200" dirty="0">
                          <a:latin typeface="Calibri"/>
                          <a:ea typeface="Calibri"/>
                          <a:cs typeface="Times New Roman"/>
                        </a:rPr>
                        <a:t> de </a:t>
                      </a:r>
                      <a:r>
                        <a:rPr lang="en-US" sz="1200" dirty="0" err="1">
                          <a:latin typeface="Calibri"/>
                          <a:ea typeface="Calibri"/>
                          <a:cs typeface="Times New Roman"/>
                        </a:rPr>
                        <a:t>măsurare</a:t>
                      </a:r>
                      <a:r>
                        <a:rPr lang="en-US" sz="1200" dirty="0">
                          <a:latin typeface="Calibri"/>
                          <a:ea typeface="Calibri"/>
                          <a:cs typeface="Times New Roman"/>
                        </a:rPr>
                        <a:t>. </a:t>
                      </a:r>
                      <a:r>
                        <a:rPr lang="en-US" sz="1200" dirty="0" err="1">
                          <a:latin typeface="Calibri"/>
                          <a:ea typeface="Calibri"/>
                          <a:cs typeface="Times New Roman"/>
                        </a:rPr>
                        <a:t>Semnul</a:t>
                      </a:r>
                      <a:r>
                        <a:rPr lang="en-US" sz="1200" dirty="0">
                          <a:latin typeface="Calibri"/>
                          <a:ea typeface="Calibri"/>
                          <a:cs typeface="Times New Roman"/>
                        </a:rPr>
                        <a:t> se </a:t>
                      </a:r>
                      <a:r>
                        <a:rPr lang="en-US" sz="1200" dirty="0" err="1">
                          <a:latin typeface="Calibri"/>
                          <a:ea typeface="Calibri"/>
                          <a:cs typeface="Times New Roman"/>
                        </a:rPr>
                        <a:t>afişează</a:t>
                      </a:r>
                      <a:r>
                        <a:rPr lang="en-US" sz="1200" dirty="0">
                          <a:latin typeface="Calibri"/>
                          <a:ea typeface="Calibri"/>
                          <a:cs typeface="Times New Roman"/>
                        </a:rPr>
                        <a:t> automat.</a:t>
                      </a:r>
                    </a:p>
                  </a:txBody>
                  <a:tcPr marL="68580" marR="68580" marT="0" marB="0"/>
                </a:tc>
              </a:tr>
              <a:tr h="1661748">
                <a:tc>
                  <a:txBody>
                    <a:bodyPr/>
                    <a:lstStyle/>
                    <a:p>
                      <a:pPr marL="0" marR="0">
                        <a:lnSpc>
                          <a:spcPct val="115000"/>
                        </a:lnSpc>
                        <a:spcBef>
                          <a:spcPts val="0"/>
                        </a:spcBef>
                        <a:spcAft>
                          <a:spcPts val="0"/>
                        </a:spcAft>
                      </a:pPr>
                      <a:r>
                        <a:rPr lang="en-US" sz="1200" dirty="0" err="1">
                          <a:latin typeface="Calibri"/>
                          <a:ea typeface="Calibri"/>
                          <a:cs typeface="Times New Roman"/>
                        </a:rPr>
                        <a:t>Comportarea</a:t>
                      </a:r>
                      <a:r>
                        <a:rPr lang="en-US" sz="1200" dirty="0">
                          <a:latin typeface="Calibri"/>
                          <a:ea typeface="Calibri"/>
                          <a:cs typeface="Times New Roman"/>
                        </a:rPr>
                        <a:t> </a:t>
                      </a:r>
                      <a:r>
                        <a:rPr lang="en-US" sz="1200" dirty="0" err="1">
                          <a:latin typeface="Calibri"/>
                          <a:ea typeface="Calibri"/>
                          <a:cs typeface="Times New Roman"/>
                        </a:rPr>
                        <a:t>aparatului</a:t>
                      </a:r>
                      <a:r>
                        <a:rPr lang="en-US" sz="1200" dirty="0">
                          <a:latin typeface="Calibri"/>
                          <a:ea typeface="Calibri"/>
                          <a:cs typeface="Times New Roman"/>
                        </a:rPr>
                        <a:t> la </a:t>
                      </a:r>
                      <a:r>
                        <a:rPr lang="en-US" sz="1200" dirty="0" err="1">
                          <a:latin typeface="Calibri"/>
                          <a:ea typeface="Calibri"/>
                          <a:cs typeface="Times New Roman"/>
                        </a:rPr>
                        <a:t>depăşirea</a:t>
                      </a:r>
                      <a:r>
                        <a:rPr lang="en-US" sz="1200" dirty="0">
                          <a:latin typeface="Calibri"/>
                          <a:ea typeface="Calibri"/>
                          <a:cs typeface="Times New Roman"/>
                        </a:rPr>
                        <a:t> </a:t>
                      </a:r>
                      <a:r>
                        <a:rPr lang="en-US" sz="1200" dirty="0" err="1">
                          <a:latin typeface="Calibri"/>
                          <a:ea typeface="Calibri"/>
                          <a:cs typeface="Times New Roman"/>
                        </a:rPr>
                        <a:t>domeniului</a:t>
                      </a:r>
                      <a:r>
                        <a:rPr lang="en-US" sz="1200" dirty="0">
                          <a:latin typeface="Calibri"/>
                          <a:ea typeface="Calibri"/>
                          <a:cs typeface="Times New Roman"/>
                        </a:rPr>
                        <a:t> de </a:t>
                      </a:r>
                      <a:r>
                        <a:rPr lang="en-US" sz="1200" dirty="0" err="1">
                          <a:latin typeface="Calibri"/>
                          <a:ea typeface="Calibri"/>
                          <a:cs typeface="Times New Roman"/>
                        </a:rPr>
                        <a:t>măsurare</a:t>
                      </a:r>
                      <a:r>
                        <a:rPr lang="en-US" sz="1200" dirty="0">
                          <a:latin typeface="Calibri"/>
                          <a:ea typeface="Calibri"/>
                          <a:cs typeface="Times New Roman"/>
                        </a:rPr>
                        <a:t>.</a:t>
                      </a:r>
                    </a:p>
                  </a:txBody>
                  <a:tcPr marL="68580" marR="68580" marT="0" marB="0"/>
                </a:tc>
                <a:tc>
                  <a:txBody>
                    <a:bodyPr/>
                    <a:lstStyle/>
                    <a:p>
                      <a:pPr marL="0" marR="0">
                        <a:lnSpc>
                          <a:spcPct val="115000"/>
                        </a:lnSpc>
                        <a:spcBef>
                          <a:spcPts val="0"/>
                        </a:spcBef>
                        <a:spcAft>
                          <a:spcPts val="0"/>
                        </a:spcAft>
                      </a:pPr>
                      <a:r>
                        <a:rPr lang="en-US" sz="1200" dirty="0" err="1">
                          <a:latin typeface="Calibri"/>
                          <a:ea typeface="Calibri"/>
                          <a:cs typeface="Times New Roman"/>
                        </a:rPr>
                        <a:t>Indicatorul</a:t>
                      </a:r>
                      <a:r>
                        <a:rPr lang="en-US" sz="1200" dirty="0">
                          <a:latin typeface="Calibri"/>
                          <a:ea typeface="Calibri"/>
                          <a:cs typeface="Times New Roman"/>
                        </a:rPr>
                        <a:t> </a:t>
                      </a:r>
                      <a:r>
                        <a:rPr lang="en-US" sz="1200" dirty="0" err="1">
                          <a:latin typeface="Calibri"/>
                          <a:ea typeface="Calibri"/>
                          <a:cs typeface="Times New Roman"/>
                        </a:rPr>
                        <a:t>depăşeşte</a:t>
                      </a:r>
                      <a:r>
                        <a:rPr lang="en-US" sz="1200" dirty="0">
                          <a:latin typeface="Calibri"/>
                          <a:ea typeface="Calibri"/>
                          <a:cs typeface="Times New Roman"/>
                        </a:rPr>
                        <a:t> </a:t>
                      </a:r>
                      <a:r>
                        <a:rPr lang="en-US" sz="1200" dirty="0" err="1">
                          <a:latin typeface="Calibri"/>
                          <a:ea typeface="Calibri"/>
                          <a:cs typeface="Times New Roman"/>
                        </a:rPr>
                        <a:t>limita</a:t>
                      </a:r>
                      <a:r>
                        <a:rPr lang="en-US" sz="1200" dirty="0">
                          <a:latin typeface="Calibri"/>
                          <a:ea typeface="Calibri"/>
                          <a:cs typeface="Times New Roman"/>
                        </a:rPr>
                        <a:t> </a:t>
                      </a:r>
                      <a:r>
                        <a:rPr lang="en-US" sz="1200" dirty="0" err="1">
                          <a:latin typeface="Calibri"/>
                          <a:ea typeface="Calibri"/>
                          <a:cs typeface="Times New Roman"/>
                        </a:rPr>
                        <a:t>superioară</a:t>
                      </a:r>
                      <a:r>
                        <a:rPr lang="en-US" sz="1200" dirty="0">
                          <a:latin typeface="Calibri"/>
                          <a:ea typeface="Calibri"/>
                          <a:cs typeface="Times New Roman"/>
                        </a:rPr>
                        <a:t> a </a:t>
                      </a:r>
                      <a:r>
                        <a:rPr lang="en-US" sz="1200" dirty="0" err="1">
                          <a:latin typeface="Calibri"/>
                          <a:ea typeface="Calibri"/>
                          <a:cs typeface="Times New Roman"/>
                        </a:rPr>
                        <a:t>scării</a:t>
                      </a:r>
                      <a:r>
                        <a:rPr lang="en-US" sz="1200" dirty="0">
                          <a:latin typeface="Calibri"/>
                          <a:ea typeface="Calibri"/>
                          <a:cs typeface="Times New Roman"/>
                        </a:rPr>
                        <a:t> gradate, </a:t>
                      </a:r>
                      <a:r>
                        <a:rPr lang="en-US" sz="1200" dirty="0" err="1">
                          <a:latin typeface="Calibri"/>
                          <a:ea typeface="Calibri"/>
                          <a:cs typeface="Times New Roman"/>
                        </a:rPr>
                        <a:t>iar</a:t>
                      </a:r>
                      <a:r>
                        <a:rPr lang="en-US" sz="1200" dirty="0">
                          <a:latin typeface="Calibri"/>
                          <a:ea typeface="Calibri"/>
                          <a:cs typeface="Times New Roman"/>
                        </a:rPr>
                        <a:t> </a:t>
                      </a:r>
                      <a:r>
                        <a:rPr lang="en-US" sz="1200" dirty="0" err="1">
                          <a:latin typeface="Calibri"/>
                          <a:ea typeface="Calibri"/>
                          <a:cs typeface="Times New Roman"/>
                        </a:rPr>
                        <a:t>aparatul</a:t>
                      </a:r>
                      <a:r>
                        <a:rPr lang="en-US" sz="1200" dirty="0">
                          <a:latin typeface="Calibri"/>
                          <a:ea typeface="Calibri"/>
                          <a:cs typeface="Times New Roman"/>
                        </a:rPr>
                        <a:t> se </a:t>
                      </a:r>
                      <a:r>
                        <a:rPr lang="en-US" sz="1200" dirty="0" err="1">
                          <a:latin typeface="Calibri"/>
                          <a:ea typeface="Calibri"/>
                          <a:cs typeface="Times New Roman"/>
                        </a:rPr>
                        <a:t>poate</a:t>
                      </a:r>
                      <a:r>
                        <a:rPr lang="en-US" sz="1200" dirty="0">
                          <a:latin typeface="Calibri"/>
                          <a:ea typeface="Calibri"/>
                          <a:cs typeface="Times New Roman"/>
                        </a:rPr>
                        <a:t> </a:t>
                      </a:r>
                      <a:r>
                        <a:rPr lang="en-US" sz="1200" dirty="0" err="1">
                          <a:latin typeface="Calibri"/>
                          <a:ea typeface="Calibri"/>
                          <a:cs typeface="Times New Roman"/>
                        </a:rPr>
                        <a:t>defecta</a:t>
                      </a:r>
                      <a:r>
                        <a:rPr lang="en-US" sz="1200" dirty="0">
                          <a:latin typeface="Calibri"/>
                          <a:ea typeface="Calibri"/>
                          <a:cs typeface="Times New Roman"/>
                        </a:rPr>
                        <a:t>.</a:t>
                      </a:r>
                    </a:p>
                  </a:txBody>
                  <a:tcPr marL="68580" marR="68580" marT="0" marB="0"/>
                </a:tc>
                <a:tc>
                  <a:txBody>
                    <a:bodyPr/>
                    <a:lstStyle/>
                    <a:p>
                      <a:pPr marL="0" marR="0">
                        <a:lnSpc>
                          <a:spcPct val="115000"/>
                        </a:lnSpc>
                        <a:spcBef>
                          <a:spcPts val="0"/>
                        </a:spcBef>
                        <a:spcAft>
                          <a:spcPts val="0"/>
                        </a:spcAft>
                      </a:pPr>
                      <a:r>
                        <a:rPr lang="en-US" sz="1200" dirty="0" err="1">
                          <a:latin typeface="Calibri"/>
                          <a:ea typeface="Calibri"/>
                          <a:cs typeface="Times New Roman"/>
                        </a:rPr>
                        <a:t>Depăşirea</a:t>
                      </a:r>
                      <a:r>
                        <a:rPr lang="en-US" sz="1200" dirty="0">
                          <a:latin typeface="Calibri"/>
                          <a:ea typeface="Calibri"/>
                          <a:cs typeface="Times New Roman"/>
                        </a:rPr>
                        <a:t> </a:t>
                      </a:r>
                      <a:r>
                        <a:rPr lang="en-US" sz="1200" dirty="0" err="1">
                          <a:latin typeface="Calibri"/>
                          <a:ea typeface="Calibri"/>
                          <a:cs typeface="Times New Roman"/>
                        </a:rPr>
                        <a:t>domeniului</a:t>
                      </a:r>
                      <a:r>
                        <a:rPr lang="en-US" sz="1200" dirty="0">
                          <a:latin typeface="Calibri"/>
                          <a:ea typeface="Calibri"/>
                          <a:cs typeface="Times New Roman"/>
                        </a:rPr>
                        <a:t> </a:t>
                      </a:r>
                      <a:r>
                        <a:rPr lang="en-US" sz="1200" dirty="0" err="1">
                          <a:latin typeface="Calibri"/>
                          <a:ea typeface="Calibri"/>
                          <a:cs typeface="Times New Roman"/>
                        </a:rPr>
                        <a:t>este</a:t>
                      </a:r>
                      <a:r>
                        <a:rPr lang="en-US" sz="1200" dirty="0">
                          <a:latin typeface="Calibri"/>
                          <a:ea typeface="Calibri"/>
                          <a:cs typeface="Times New Roman"/>
                        </a:rPr>
                        <a:t> </a:t>
                      </a:r>
                      <a:r>
                        <a:rPr lang="en-US" sz="1200" dirty="0" err="1">
                          <a:latin typeface="Calibri"/>
                          <a:ea typeface="Calibri"/>
                          <a:cs typeface="Times New Roman"/>
                        </a:rPr>
                        <a:t>semnalizat</a:t>
                      </a:r>
                      <a:r>
                        <a:rPr lang="en-US" sz="1200" dirty="0">
                          <a:latin typeface="Calibri"/>
                          <a:ea typeface="Calibri"/>
                          <a:cs typeface="Times New Roman"/>
                        </a:rPr>
                        <a:t> cu </a:t>
                      </a:r>
                      <a:r>
                        <a:rPr lang="en-US" sz="1200" dirty="0" err="1">
                          <a:latin typeface="Calibri"/>
                          <a:ea typeface="Calibri"/>
                          <a:cs typeface="Times New Roman"/>
                        </a:rPr>
                        <a:t>caractere</a:t>
                      </a:r>
                      <a:r>
                        <a:rPr lang="en-US" sz="1200" dirty="0">
                          <a:latin typeface="Calibri"/>
                          <a:ea typeface="Calibri"/>
                          <a:cs typeface="Times New Roman"/>
                        </a:rPr>
                        <a:t> special, </a:t>
                      </a:r>
                      <a:r>
                        <a:rPr lang="en-US" sz="1200" dirty="0" err="1">
                          <a:latin typeface="Calibri"/>
                          <a:ea typeface="Calibri"/>
                          <a:cs typeface="Times New Roman"/>
                        </a:rPr>
                        <a:t>dar</a:t>
                      </a:r>
                      <a:r>
                        <a:rPr lang="en-US" sz="1200" dirty="0">
                          <a:latin typeface="Calibri"/>
                          <a:ea typeface="Calibri"/>
                          <a:cs typeface="Times New Roman"/>
                        </a:rPr>
                        <a:t> </a:t>
                      </a:r>
                      <a:r>
                        <a:rPr lang="en-US" sz="1200" dirty="0" err="1">
                          <a:latin typeface="Calibri"/>
                          <a:ea typeface="Calibri"/>
                          <a:cs typeface="Times New Roman"/>
                        </a:rPr>
                        <a:t>aparatul</a:t>
                      </a:r>
                      <a:r>
                        <a:rPr lang="en-US" sz="1200" dirty="0">
                          <a:latin typeface="Calibri"/>
                          <a:ea typeface="Calibri"/>
                          <a:cs typeface="Times New Roman"/>
                        </a:rPr>
                        <a:t> nu se </a:t>
                      </a:r>
                      <a:r>
                        <a:rPr lang="en-US" sz="1200" dirty="0" err="1">
                          <a:latin typeface="Calibri"/>
                          <a:ea typeface="Calibri"/>
                          <a:cs typeface="Times New Roman"/>
                        </a:rPr>
                        <a:t>defectează</a:t>
                      </a:r>
                      <a:r>
                        <a:rPr lang="en-US" sz="1200" dirty="0">
                          <a:latin typeface="Calibri"/>
                          <a:ea typeface="Calibri"/>
                          <a:cs typeface="Times New Roman"/>
                        </a:rPr>
                        <a:t>. </a:t>
                      </a:r>
                      <a:r>
                        <a:rPr lang="en-US" sz="1200" dirty="0" err="1">
                          <a:latin typeface="Calibri"/>
                          <a:ea typeface="Calibri"/>
                          <a:cs typeface="Times New Roman"/>
                        </a:rPr>
                        <a:t>Dacă</a:t>
                      </a:r>
                      <a:r>
                        <a:rPr lang="en-US" sz="1200" dirty="0">
                          <a:latin typeface="Calibri"/>
                          <a:ea typeface="Calibri"/>
                          <a:cs typeface="Times New Roman"/>
                        </a:rPr>
                        <a:t> se </a:t>
                      </a:r>
                      <a:r>
                        <a:rPr lang="en-US" sz="1200" dirty="0" err="1">
                          <a:latin typeface="Calibri"/>
                          <a:ea typeface="Calibri"/>
                          <a:cs typeface="Times New Roman"/>
                        </a:rPr>
                        <a:t>depăşesc</a:t>
                      </a:r>
                      <a:r>
                        <a:rPr lang="en-US" sz="1200" dirty="0">
                          <a:latin typeface="Calibri"/>
                          <a:ea typeface="Calibri"/>
                          <a:cs typeface="Times New Roman"/>
                        </a:rPr>
                        <a:t> </a:t>
                      </a:r>
                      <a:r>
                        <a:rPr lang="en-US" sz="1200" dirty="0" err="1">
                          <a:latin typeface="Calibri"/>
                          <a:ea typeface="Calibri"/>
                          <a:cs typeface="Times New Roman"/>
                        </a:rPr>
                        <a:t>valorile</a:t>
                      </a:r>
                      <a:r>
                        <a:rPr lang="en-US" sz="1200" dirty="0">
                          <a:latin typeface="Calibri"/>
                          <a:ea typeface="Calibri"/>
                          <a:cs typeface="Times New Roman"/>
                        </a:rPr>
                        <a:t> </a:t>
                      </a:r>
                      <a:r>
                        <a:rPr lang="en-US" sz="1200" dirty="0" err="1">
                          <a:latin typeface="Calibri"/>
                          <a:ea typeface="Calibri"/>
                          <a:cs typeface="Times New Roman"/>
                        </a:rPr>
                        <a:t>maxime</a:t>
                      </a:r>
                      <a:r>
                        <a:rPr lang="en-US" sz="1200" dirty="0">
                          <a:latin typeface="Calibri"/>
                          <a:ea typeface="Calibri"/>
                          <a:cs typeface="Times New Roman"/>
                        </a:rPr>
                        <a:t> de </a:t>
                      </a:r>
                      <a:r>
                        <a:rPr lang="en-US" sz="1200" dirty="0" err="1" smtClean="0">
                          <a:latin typeface="Calibri"/>
                          <a:ea typeface="Calibri"/>
                          <a:cs typeface="Times New Roman"/>
                        </a:rPr>
                        <a:t>curent</a:t>
                      </a:r>
                      <a:r>
                        <a:rPr lang="en-US" sz="1200" dirty="0">
                          <a:latin typeface="Calibri"/>
                          <a:ea typeface="Calibri"/>
                          <a:cs typeface="Times New Roman"/>
                        </a:rPr>
                        <a:t>, se </a:t>
                      </a:r>
                      <a:r>
                        <a:rPr lang="en-US" sz="1200" dirty="0" err="1">
                          <a:latin typeface="Calibri"/>
                          <a:ea typeface="Calibri"/>
                          <a:cs typeface="Times New Roman"/>
                        </a:rPr>
                        <a:t>întrerupe</a:t>
                      </a:r>
                      <a:r>
                        <a:rPr lang="en-US" sz="1200" dirty="0">
                          <a:latin typeface="Calibri"/>
                          <a:ea typeface="Calibri"/>
                          <a:cs typeface="Times New Roman"/>
                        </a:rPr>
                        <a:t> </a:t>
                      </a:r>
                      <a:r>
                        <a:rPr lang="en-US" sz="1200" dirty="0" err="1">
                          <a:latin typeface="Calibri"/>
                          <a:ea typeface="Calibri"/>
                          <a:cs typeface="Times New Roman"/>
                        </a:rPr>
                        <a:t>siguranţa</a:t>
                      </a:r>
                      <a:r>
                        <a:rPr lang="en-US" sz="1200" dirty="0">
                          <a:latin typeface="Calibri"/>
                          <a:ea typeface="Calibri"/>
                          <a:cs typeface="Times New Roman"/>
                        </a:rPr>
                        <a:t> </a:t>
                      </a:r>
                      <a:r>
                        <a:rPr lang="en-US" sz="1200" dirty="0" err="1">
                          <a:latin typeface="Calibri"/>
                          <a:ea typeface="Calibri"/>
                          <a:cs typeface="Times New Roman"/>
                        </a:rPr>
                        <a:t>rapidă</a:t>
                      </a:r>
                      <a:r>
                        <a:rPr lang="en-US" sz="1200" dirty="0">
                          <a:latin typeface="Calibri"/>
                          <a:ea typeface="Calibri"/>
                          <a:cs typeface="Times New Roman"/>
                        </a:rPr>
                        <a:t>.</a:t>
                      </a:r>
                    </a:p>
                  </a:txBody>
                  <a:tcPr marL="68580" marR="68580" marT="0" marB="0"/>
                </a:tc>
              </a:tr>
              <a:tr h="553916">
                <a:tc>
                  <a:txBody>
                    <a:bodyPr/>
                    <a:lstStyle/>
                    <a:p>
                      <a:pPr marL="0" marR="0">
                        <a:lnSpc>
                          <a:spcPct val="115000"/>
                        </a:lnSpc>
                        <a:spcBef>
                          <a:spcPts val="0"/>
                        </a:spcBef>
                        <a:spcAft>
                          <a:spcPts val="0"/>
                        </a:spcAft>
                      </a:pPr>
                      <a:r>
                        <a:rPr lang="en-US" sz="1200" dirty="0" err="1">
                          <a:latin typeface="Calibri"/>
                          <a:ea typeface="Calibri"/>
                          <a:cs typeface="Times New Roman"/>
                        </a:rPr>
                        <a:t>Citirea</a:t>
                      </a:r>
                      <a:r>
                        <a:rPr lang="en-US" sz="1200" dirty="0">
                          <a:latin typeface="Calibri"/>
                          <a:ea typeface="Calibri"/>
                          <a:cs typeface="Times New Roman"/>
                        </a:rPr>
                        <a:t> </a:t>
                      </a:r>
                      <a:r>
                        <a:rPr lang="en-US" sz="1200" dirty="0" err="1">
                          <a:latin typeface="Calibri"/>
                          <a:ea typeface="Calibri"/>
                          <a:cs typeface="Times New Roman"/>
                        </a:rPr>
                        <a:t>indicaţiei</a:t>
                      </a:r>
                      <a:endParaRPr lang="en-US" sz="1200" dirty="0">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dirty="0">
                          <a:latin typeface="Calibri"/>
                          <a:ea typeface="Calibri"/>
                          <a:cs typeface="Times New Roman"/>
                        </a:rPr>
                        <a:t>Se </a:t>
                      </a:r>
                      <a:r>
                        <a:rPr lang="en-US" sz="1200" dirty="0" err="1">
                          <a:latin typeface="Calibri"/>
                          <a:ea typeface="Calibri"/>
                          <a:cs typeface="Times New Roman"/>
                        </a:rPr>
                        <a:t>înmulţeşte</a:t>
                      </a:r>
                      <a:r>
                        <a:rPr lang="en-US" sz="1200" dirty="0">
                          <a:latin typeface="Calibri"/>
                          <a:ea typeface="Calibri"/>
                          <a:cs typeface="Times New Roman"/>
                        </a:rPr>
                        <a:t> nr. </a:t>
                      </a:r>
                      <a:r>
                        <a:rPr lang="ro-RO" sz="1200" dirty="0" smtClean="0">
                          <a:latin typeface="Calibri"/>
                          <a:ea typeface="Calibri"/>
                          <a:cs typeface="Times New Roman"/>
                        </a:rPr>
                        <a:t>d</a:t>
                      </a:r>
                      <a:r>
                        <a:rPr lang="en-US" sz="1200" dirty="0" smtClean="0">
                          <a:latin typeface="Calibri"/>
                          <a:ea typeface="Calibri"/>
                          <a:cs typeface="Times New Roman"/>
                        </a:rPr>
                        <a:t>e </a:t>
                      </a:r>
                      <a:r>
                        <a:rPr lang="en-US" sz="1200" dirty="0" err="1">
                          <a:latin typeface="Calibri"/>
                          <a:ea typeface="Calibri"/>
                          <a:cs typeface="Times New Roman"/>
                        </a:rPr>
                        <a:t>diviziuni</a:t>
                      </a:r>
                      <a:r>
                        <a:rPr lang="en-US" sz="1200" dirty="0">
                          <a:latin typeface="Calibri"/>
                          <a:ea typeface="Calibri"/>
                          <a:cs typeface="Times New Roman"/>
                        </a:rPr>
                        <a:t> cu </a:t>
                      </a:r>
                      <a:r>
                        <a:rPr lang="en-US" sz="1200" dirty="0" err="1">
                          <a:latin typeface="Calibri"/>
                          <a:ea typeface="Calibri"/>
                          <a:cs typeface="Times New Roman"/>
                        </a:rPr>
                        <a:t>constanta</a:t>
                      </a:r>
                      <a:r>
                        <a:rPr lang="en-US" sz="1200" dirty="0">
                          <a:latin typeface="Calibri"/>
                          <a:ea typeface="Calibri"/>
                          <a:cs typeface="Times New Roman"/>
                        </a:rPr>
                        <a:t> </a:t>
                      </a:r>
                      <a:r>
                        <a:rPr lang="en-US" sz="1200" dirty="0" err="1">
                          <a:latin typeface="Calibri"/>
                          <a:ea typeface="Calibri"/>
                          <a:cs typeface="Times New Roman"/>
                        </a:rPr>
                        <a:t>aparatului</a:t>
                      </a:r>
                      <a:r>
                        <a:rPr lang="en-US" sz="1200" dirty="0">
                          <a:latin typeface="Calibri"/>
                          <a:ea typeface="Calibri"/>
                          <a:cs typeface="Times New Roman"/>
                        </a:rPr>
                        <a:t>.</a:t>
                      </a:r>
                    </a:p>
                  </a:txBody>
                  <a:tcPr marL="68580" marR="68580" marT="0" marB="0"/>
                </a:tc>
                <a:tc>
                  <a:txBody>
                    <a:bodyPr/>
                    <a:lstStyle/>
                    <a:p>
                      <a:pPr marL="0" marR="0">
                        <a:lnSpc>
                          <a:spcPct val="115000"/>
                        </a:lnSpc>
                        <a:spcBef>
                          <a:spcPts val="0"/>
                        </a:spcBef>
                        <a:spcAft>
                          <a:spcPts val="0"/>
                        </a:spcAft>
                      </a:pPr>
                      <a:r>
                        <a:rPr lang="en-US" sz="1200">
                          <a:latin typeface="Calibri"/>
                          <a:ea typeface="Calibri"/>
                          <a:cs typeface="Times New Roman"/>
                        </a:rPr>
                        <a:t>Este direct, fără a exista riscul de a greşi.</a:t>
                      </a:r>
                    </a:p>
                  </a:txBody>
                  <a:tcPr marL="68580" marR="68580" marT="0" marB="0"/>
                </a:tc>
              </a:tr>
              <a:tr h="923193">
                <a:tc>
                  <a:txBody>
                    <a:bodyPr/>
                    <a:lstStyle/>
                    <a:p>
                      <a:pPr marL="0" marR="0">
                        <a:lnSpc>
                          <a:spcPct val="115000"/>
                        </a:lnSpc>
                        <a:spcBef>
                          <a:spcPts val="0"/>
                        </a:spcBef>
                        <a:spcAft>
                          <a:spcPts val="0"/>
                        </a:spcAft>
                      </a:pPr>
                      <a:r>
                        <a:rPr lang="en-US" sz="1200">
                          <a:latin typeface="Calibri"/>
                          <a:ea typeface="Calibri"/>
                          <a:cs typeface="Times New Roman"/>
                        </a:rPr>
                        <a:t>Avantaje</a:t>
                      </a:r>
                    </a:p>
                  </a:txBody>
                  <a:tcPr marL="68580" marR="68580" marT="0" marB="0"/>
                </a:tc>
                <a:tc>
                  <a:txBody>
                    <a:bodyPr/>
                    <a:lstStyle/>
                    <a:p>
                      <a:pPr marL="0" marR="0">
                        <a:lnSpc>
                          <a:spcPct val="115000"/>
                        </a:lnSpc>
                        <a:spcBef>
                          <a:spcPts val="0"/>
                        </a:spcBef>
                        <a:spcAft>
                          <a:spcPts val="0"/>
                        </a:spcAft>
                      </a:pPr>
                      <a:r>
                        <a:rPr lang="en-US" sz="1200">
                          <a:latin typeface="Calibri"/>
                          <a:ea typeface="Calibri"/>
                          <a:cs typeface="Times New Roman"/>
                        </a:rPr>
                        <a:t>Se poate urmări mai uşor sensul variaţiei tensiunii sau intensităţii curentului.</a:t>
                      </a:r>
                    </a:p>
                  </a:txBody>
                  <a:tcPr marL="68580" marR="68580" marT="0" marB="0"/>
                </a:tc>
                <a:tc>
                  <a:txBody>
                    <a:bodyPr/>
                    <a:lstStyle/>
                    <a:p>
                      <a:pPr marL="0" marR="0">
                        <a:lnSpc>
                          <a:spcPct val="115000"/>
                        </a:lnSpc>
                        <a:spcBef>
                          <a:spcPts val="0"/>
                        </a:spcBef>
                        <a:spcAft>
                          <a:spcPts val="0"/>
                        </a:spcAft>
                      </a:pPr>
                      <a:r>
                        <a:rPr lang="en-US" sz="1200">
                          <a:latin typeface="Calibri"/>
                          <a:ea typeface="Calibri"/>
                          <a:cs typeface="Times New Roman"/>
                        </a:rPr>
                        <a:t>Unele aparate schimbă automat domeniul de măsurare, în fcţ. de valoarea mărimii măsurate.</a:t>
                      </a:r>
                    </a:p>
                  </a:txBody>
                  <a:tcPr marL="68580" marR="68580" marT="0" marB="0"/>
                </a:tc>
              </a:tr>
              <a:tr h="553916">
                <a:tc>
                  <a:txBody>
                    <a:bodyPr/>
                    <a:lstStyle/>
                    <a:p>
                      <a:pPr marL="0" marR="0">
                        <a:lnSpc>
                          <a:spcPct val="115000"/>
                        </a:lnSpc>
                        <a:spcBef>
                          <a:spcPts val="0"/>
                        </a:spcBef>
                        <a:spcAft>
                          <a:spcPts val="0"/>
                        </a:spcAft>
                      </a:pPr>
                      <a:r>
                        <a:rPr lang="en-US" sz="1200">
                          <a:latin typeface="Calibri"/>
                          <a:ea typeface="Calibri"/>
                          <a:cs typeface="Times New Roman"/>
                        </a:rPr>
                        <a:t>Rezistenţa proprie a aparatului utilizat ca voltmetru</a:t>
                      </a:r>
                    </a:p>
                  </a:txBody>
                  <a:tcPr marL="68580" marR="68580" marT="0" marB="0"/>
                </a:tc>
                <a:tc>
                  <a:txBody>
                    <a:bodyPr/>
                    <a:lstStyle/>
                    <a:p>
                      <a:pPr marL="0" marR="0">
                        <a:lnSpc>
                          <a:spcPct val="115000"/>
                        </a:lnSpc>
                        <a:spcBef>
                          <a:spcPts val="0"/>
                        </a:spcBef>
                        <a:spcAft>
                          <a:spcPts val="0"/>
                        </a:spcAft>
                      </a:pPr>
                      <a:r>
                        <a:rPr lang="en-US" sz="1200" dirty="0" err="1">
                          <a:latin typeface="Calibri"/>
                          <a:ea typeface="Calibri"/>
                          <a:cs typeface="Times New Roman"/>
                        </a:rPr>
                        <a:t>Câteva</a:t>
                      </a:r>
                      <a:r>
                        <a:rPr lang="en-US" sz="1200" dirty="0">
                          <a:latin typeface="Calibri"/>
                          <a:ea typeface="Calibri"/>
                          <a:cs typeface="Times New Roman"/>
                        </a:rPr>
                        <a:t> </a:t>
                      </a:r>
                      <a:r>
                        <a:rPr lang="en-US" sz="1200" dirty="0" smtClean="0">
                          <a:latin typeface="Calibri"/>
                          <a:ea typeface="Calibri"/>
                          <a:cs typeface="Times New Roman"/>
                        </a:rPr>
                        <a:t>z</a:t>
                      </a:r>
                      <a:r>
                        <a:rPr lang="ro-RO" sz="1200" dirty="0" smtClean="0">
                          <a:latin typeface="Calibri"/>
                          <a:ea typeface="Calibri"/>
                          <a:cs typeface="Times New Roman"/>
                        </a:rPr>
                        <a:t>e</a:t>
                      </a:r>
                      <a:r>
                        <a:rPr lang="en-US" sz="1200" dirty="0" err="1" smtClean="0">
                          <a:latin typeface="Calibri"/>
                          <a:ea typeface="Calibri"/>
                          <a:cs typeface="Times New Roman"/>
                        </a:rPr>
                        <a:t>ci</a:t>
                      </a:r>
                      <a:r>
                        <a:rPr lang="en-US" sz="1200" dirty="0" smtClean="0">
                          <a:latin typeface="Calibri"/>
                          <a:ea typeface="Calibri"/>
                          <a:cs typeface="Times New Roman"/>
                        </a:rPr>
                        <a:t> </a:t>
                      </a:r>
                      <a:r>
                        <a:rPr lang="en-US" sz="1200" dirty="0">
                          <a:latin typeface="Calibri"/>
                          <a:ea typeface="Calibri"/>
                          <a:cs typeface="Times New Roman"/>
                        </a:rPr>
                        <a:t>de </a:t>
                      </a:r>
                      <a:r>
                        <a:rPr lang="en-US" sz="1200" dirty="0" err="1">
                          <a:latin typeface="Calibri"/>
                          <a:ea typeface="Calibri"/>
                          <a:cs typeface="Times New Roman"/>
                        </a:rPr>
                        <a:t>k</a:t>
                      </a:r>
                      <a:r>
                        <a:rPr lang="en-US" sz="1200" dirty="0" err="1">
                          <a:latin typeface="Calibri"/>
                          <a:ea typeface="Calibri"/>
                          <a:cs typeface="Calibri"/>
                        </a:rPr>
                        <a:t>Ω</a:t>
                      </a:r>
                      <a:r>
                        <a:rPr lang="en-US" sz="1200" dirty="0">
                          <a:latin typeface="Calibri"/>
                          <a:ea typeface="Calibri"/>
                          <a:cs typeface="Times New Roman"/>
                        </a:rPr>
                        <a:t>.</a:t>
                      </a:r>
                    </a:p>
                  </a:txBody>
                  <a:tcPr marL="68580" marR="68580" marT="0" marB="0"/>
                </a:tc>
                <a:tc>
                  <a:txBody>
                    <a:bodyPr/>
                    <a:lstStyle/>
                    <a:p>
                      <a:pPr marL="0" marR="0">
                        <a:lnSpc>
                          <a:spcPct val="115000"/>
                        </a:lnSpc>
                        <a:spcBef>
                          <a:spcPts val="0"/>
                        </a:spcBef>
                        <a:spcAft>
                          <a:spcPts val="0"/>
                        </a:spcAft>
                      </a:pPr>
                      <a:r>
                        <a:rPr lang="en-US" sz="1200" dirty="0">
                          <a:latin typeface="Calibri"/>
                          <a:ea typeface="Calibri"/>
                          <a:cs typeface="Times New Roman"/>
                        </a:rPr>
                        <a:t>De </a:t>
                      </a:r>
                      <a:r>
                        <a:rPr lang="en-US" sz="1200" dirty="0" err="1" smtClean="0">
                          <a:latin typeface="Calibri"/>
                          <a:ea typeface="Calibri"/>
                          <a:cs typeface="Times New Roman"/>
                        </a:rPr>
                        <a:t>ordin</a:t>
                      </a:r>
                      <a:r>
                        <a:rPr lang="ro-RO" sz="1200" smtClean="0">
                          <a:latin typeface="Calibri"/>
                          <a:ea typeface="Calibri"/>
                          <a:cs typeface="Times New Roman"/>
                        </a:rPr>
                        <a:t>u</a:t>
                      </a:r>
                      <a:r>
                        <a:rPr lang="en-US" sz="1200" smtClean="0">
                          <a:latin typeface="Calibri"/>
                          <a:ea typeface="Calibri"/>
                          <a:cs typeface="Times New Roman"/>
                        </a:rPr>
                        <a:t>l </a:t>
                      </a:r>
                      <a:r>
                        <a:rPr lang="en-US" sz="1200" dirty="0">
                          <a:latin typeface="Calibri"/>
                          <a:ea typeface="Calibri"/>
                          <a:cs typeface="Times New Roman"/>
                        </a:rPr>
                        <a:t>M</a:t>
                      </a:r>
                      <a:r>
                        <a:rPr lang="en-US" sz="1200" dirty="0">
                          <a:latin typeface="Calibri"/>
                          <a:ea typeface="Calibri"/>
                          <a:cs typeface="Calibri"/>
                        </a:rPr>
                        <a:t>Ω</a:t>
                      </a:r>
                      <a:r>
                        <a:rPr lang="en-US" sz="1200" dirty="0">
                          <a:latin typeface="Calibri"/>
                          <a:ea typeface="Calibri"/>
                          <a:cs typeface="Times New Roman"/>
                        </a:rPr>
                        <a:t>.</a:t>
                      </a:r>
                    </a:p>
                  </a:txBody>
                  <a:tcPr marL="68580" marR="68580" marT="0" marB="0"/>
                </a:tc>
              </a:tr>
              <a:tr h="1477109">
                <a:tc>
                  <a:txBody>
                    <a:bodyPr/>
                    <a:lstStyle/>
                    <a:p>
                      <a:pPr marL="0" marR="0">
                        <a:lnSpc>
                          <a:spcPct val="115000"/>
                        </a:lnSpc>
                        <a:spcBef>
                          <a:spcPts val="0"/>
                        </a:spcBef>
                        <a:spcAft>
                          <a:spcPts val="0"/>
                        </a:spcAft>
                      </a:pPr>
                      <a:r>
                        <a:rPr lang="en-US" sz="1200">
                          <a:latin typeface="Calibri"/>
                          <a:ea typeface="Calibri"/>
                          <a:cs typeface="Times New Roman"/>
                        </a:rPr>
                        <a:t>Alimentarea aparatului</a:t>
                      </a:r>
                    </a:p>
                  </a:txBody>
                  <a:tcPr marL="68580" marR="68580" marT="0" marB="0"/>
                </a:tc>
                <a:tc>
                  <a:txBody>
                    <a:bodyPr/>
                    <a:lstStyle/>
                    <a:p>
                      <a:pPr marL="0" marR="0">
                        <a:lnSpc>
                          <a:spcPct val="115000"/>
                        </a:lnSpc>
                        <a:spcBef>
                          <a:spcPts val="0"/>
                        </a:spcBef>
                        <a:spcAft>
                          <a:spcPts val="0"/>
                        </a:spcAft>
                      </a:pPr>
                      <a:r>
                        <a:rPr lang="en-US" sz="1200" dirty="0">
                          <a:latin typeface="Calibri"/>
                          <a:ea typeface="Calibri"/>
                          <a:cs typeface="Times New Roman"/>
                        </a:rPr>
                        <a:t>Ca </a:t>
                      </a:r>
                      <a:r>
                        <a:rPr lang="en-US" sz="1200" dirty="0" err="1">
                          <a:latin typeface="Calibri"/>
                          <a:ea typeface="Calibri"/>
                          <a:cs typeface="Times New Roman"/>
                        </a:rPr>
                        <a:t>ampermetru</a:t>
                      </a:r>
                      <a:r>
                        <a:rPr lang="en-US" sz="1200" dirty="0">
                          <a:latin typeface="Calibri"/>
                          <a:ea typeface="Calibri"/>
                          <a:cs typeface="Times New Roman"/>
                        </a:rPr>
                        <a:t> </a:t>
                      </a:r>
                      <a:r>
                        <a:rPr lang="en-US" sz="1200" dirty="0" err="1">
                          <a:latin typeface="Calibri"/>
                          <a:ea typeface="Calibri"/>
                          <a:cs typeface="Times New Roman"/>
                        </a:rPr>
                        <a:t>şi</a:t>
                      </a:r>
                      <a:r>
                        <a:rPr lang="en-US" sz="1200" dirty="0">
                          <a:latin typeface="Calibri"/>
                          <a:ea typeface="Calibri"/>
                          <a:cs typeface="Times New Roman"/>
                        </a:rPr>
                        <a:t> </a:t>
                      </a:r>
                      <a:r>
                        <a:rPr lang="en-US" sz="1200" dirty="0" err="1">
                          <a:latin typeface="Calibri"/>
                          <a:ea typeface="Calibri"/>
                          <a:cs typeface="Times New Roman"/>
                        </a:rPr>
                        <a:t>voltmetru</a:t>
                      </a:r>
                      <a:r>
                        <a:rPr lang="en-US" sz="1200" dirty="0">
                          <a:latin typeface="Calibri"/>
                          <a:ea typeface="Calibri"/>
                          <a:cs typeface="Times New Roman"/>
                        </a:rPr>
                        <a:t>, nu are </a:t>
                      </a:r>
                      <a:r>
                        <a:rPr lang="en-US" sz="1200" dirty="0" err="1">
                          <a:latin typeface="Calibri"/>
                          <a:ea typeface="Calibri"/>
                          <a:cs typeface="Times New Roman"/>
                        </a:rPr>
                        <a:t>nevoie</a:t>
                      </a:r>
                      <a:r>
                        <a:rPr lang="en-US" sz="1200" dirty="0">
                          <a:latin typeface="Calibri"/>
                          <a:ea typeface="Calibri"/>
                          <a:cs typeface="Times New Roman"/>
                        </a:rPr>
                        <a:t> de </a:t>
                      </a:r>
                      <a:r>
                        <a:rPr lang="en-US" sz="1200" dirty="0" err="1">
                          <a:latin typeface="Calibri"/>
                          <a:ea typeface="Calibri"/>
                          <a:cs typeface="Times New Roman"/>
                        </a:rPr>
                        <a:t>alimentare</a:t>
                      </a:r>
                      <a:r>
                        <a:rPr lang="en-US" sz="1200" dirty="0">
                          <a:latin typeface="Calibri"/>
                          <a:ea typeface="Calibri"/>
                          <a:cs typeface="Times New Roman"/>
                        </a:rPr>
                        <a:t>. Ca </a:t>
                      </a:r>
                      <a:r>
                        <a:rPr lang="en-US" sz="1200" dirty="0" err="1">
                          <a:latin typeface="Calibri"/>
                          <a:ea typeface="Calibri"/>
                          <a:cs typeface="Times New Roman"/>
                        </a:rPr>
                        <a:t>ohmmetru</a:t>
                      </a:r>
                      <a:r>
                        <a:rPr lang="en-US" sz="1200" dirty="0">
                          <a:latin typeface="Calibri"/>
                          <a:ea typeface="Calibri"/>
                          <a:cs typeface="Times New Roman"/>
                        </a:rPr>
                        <a:t>, </a:t>
                      </a:r>
                      <a:r>
                        <a:rPr lang="en-US" sz="1200" dirty="0" err="1">
                          <a:latin typeface="Calibri"/>
                          <a:ea typeface="Calibri"/>
                          <a:cs typeface="Times New Roman"/>
                        </a:rPr>
                        <a:t>este</a:t>
                      </a:r>
                      <a:r>
                        <a:rPr lang="en-US" sz="1200" dirty="0">
                          <a:latin typeface="Calibri"/>
                          <a:ea typeface="Calibri"/>
                          <a:cs typeface="Times New Roman"/>
                        </a:rPr>
                        <a:t> </a:t>
                      </a:r>
                      <a:r>
                        <a:rPr lang="en-US" sz="1200" dirty="0" err="1">
                          <a:latin typeface="Calibri"/>
                          <a:ea typeface="Calibri"/>
                          <a:cs typeface="Times New Roman"/>
                        </a:rPr>
                        <a:t>alimentat</a:t>
                      </a:r>
                      <a:r>
                        <a:rPr lang="en-US" sz="1200" dirty="0">
                          <a:latin typeface="Calibri"/>
                          <a:ea typeface="Calibri"/>
                          <a:cs typeface="Times New Roman"/>
                        </a:rPr>
                        <a:t> de la o </a:t>
                      </a:r>
                      <a:r>
                        <a:rPr lang="en-US" sz="1200" dirty="0" err="1">
                          <a:latin typeface="Calibri"/>
                          <a:ea typeface="Calibri"/>
                          <a:cs typeface="Times New Roman"/>
                        </a:rPr>
                        <a:t>baterie</a:t>
                      </a:r>
                      <a:r>
                        <a:rPr lang="en-US" sz="1200" dirty="0">
                          <a:latin typeface="Calibri"/>
                          <a:ea typeface="Calibri"/>
                          <a:cs typeface="Times New Roman"/>
                        </a:rPr>
                        <a:t> </a:t>
                      </a:r>
                      <a:r>
                        <a:rPr lang="en-US" sz="1200" dirty="0" err="1">
                          <a:latin typeface="Calibri"/>
                          <a:ea typeface="Calibri"/>
                          <a:cs typeface="Times New Roman"/>
                        </a:rPr>
                        <a:t>încorporată</a:t>
                      </a:r>
                      <a:r>
                        <a:rPr lang="en-US" sz="1200" dirty="0">
                          <a:latin typeface="Calibri"/>
                          <a:ea typeface="Calibri"/>
                          <a:cs typeface="Times New Roman"/>
                        </a:rPr>
                        <a:t>.</a:t>
                      </a:r>
                    </a:p>
                  </a:txBody>
                  <a:tcPr marL="68580" marR="68580" marT="0" marB="0"/>
                </a:tc>
                <a:tc>
                  <a:txBody>
                    <a:bodyPr/>
                    <a:lstStyle/>
                    <a:p>
                      <a:pPr marL="0" marR="0">
                        <a:lnSpc>
                          <a:spcPct val="115000"/>
                        </a:lnSpc>
                        <a:spcBef>
                          <a:spcPts val="0"/>
                        </a:spcBef>
                        <a:spcAft>
                          <a:spcPts val="0"/>
                        </a:spcAft>
                      </a:pPr>
                      <a:r>
                        <a:rPr lang="en-US" sz="1200" dirty="0">
                          <a:latin typeface="Calibri"/>
                          <a:ea typeface="Calibri"/>
                          <a:cs typeface="Times New Roman"/>
                        </a:rPr>
                        <a:t>Este </a:t>
                      </a:r>
                      <a:r>
                        <a:rPr lang="en-US" sz="1200" dirty="0" err="1">
                          <a:latin typeface="Calibri"/>
                          <a:ea typeface="Calibri"/>
                          <a:cs typeface="Times New Roman"/>
                        </a:rPr>
                        <a:t>alimentat</a:t>
                      </a:r>
                      <a:r>
                        <a:rPr lang="en-US" sz="1200" dirty="0">
                          <a:latin typeface="Calibri"/>
                          <a:ea typeface="Calibri"/>
                          <a:cs typeface="Times New Roman"/>
                        </a:rPr>
                        <a:t> de la o </a:t>
                      </a:r>
                      <a:r>
                        <a:rPr lang="en-US" sz="1200" dirty="0" err="1">
                          <a:latin typeface="Calibri"/>
                          <a:ea typeface="Calibri"/>
                          <a:cs typeface="Times New Roman"/>
                        </a:rPr>
                        <a:t>baterie</a:t>
                      </a:r>
                      <a:r>
                        <a:rPr lang="en-US" sz="1200" dirty="0">
                          <a:latin typeface="Calibri"/>
                          <a:ea typeface="Calibri"/>
                          <a:cs typeface="Times New Roman"/>
                        </a:rPr>
                        <a:t> </a:t>
                      </a:r>
                      <a:r>
                        <a:rPr lang="en-US" sz="1200" dirty="0" err="1">
                          <a:latin typeface="Calibri"/>
                          <a:ea typeface="Calibri"/>
                          <a:cs typeface="Times New Roman"/>
                        </a:rPr>
                        <a:t>încorporată</a:t>
                      </a:r>
                      <a:r>
                        <a:rPr lang="en-US" sz="1200" dirty="0">
                          <a:latin typeface="Calibri"/>
                          <a:ea typeface="Calibri"/>
                          <a:cs typeface="Times New Roman"/>
                        </a:rPr>
                        <a:t>, </a:t>
                      </a:r>
                      <a:r>
                        <a:rPr lang="en-US" sz="1200" dirty="0" err="1">
                          <a:latin typeface="Calibri"/>
                          <a:ea typeface="Calibri"/>
                          <a:cs typeface="Times New Roman"/>
                        </a:rPr>
                        <a:t>pentru</a:t>
                      </a:r>
                      <a:r>
                        <a:rPr lang="en-US" sz="1200" dirty="0">
                          <a:latin typeface="Calibri"/>
                          <a:ea typeface="Calibri"/>
                          <a:cs typeface="Times New Roman"/>
                        </a:rPr>
                        <a:t> </a:t>
                      </a:r>
                      <a:r>
                        <a:rPr lang="en-US" sz="1200" dirty="0" err="1">
                          <a:latin typeface="Calibri"/>
                          <a:ea typeface="Calibri"/>
                          <a:cs typeface="Times New Roman"/>
                        </a:rPr>
                        <a:t>toate</a:t>
                      </a:r>
                      <a:r>
                        <a:rPr lang="en-US" sz="1200" dirty="0">
                          <a:latin typeface="Calibri"/>
                          <a:ea typeface="Calibri"/>
                          <a:cs typeface="Times New Roman"/>
                        </a:rPr>
                        <a:t> </a:t>
                      </a:r>
                      <a:r>
                        <a:rPr lang="en-US" sz="1200" dirty="0" err="1">
                          <a:latin typeface="Calibri"/>
                          <a:ea typeface="Calibri"/>
                          <a:cs typeface="Times New Roman"/>
                        </a:rPr>
                        <a:t>modurile</a:t>
                      </a:r>
                      <a:r>
                        <a:rPr lang="en-US" sz="1200" dirty="0">
                          <a:latin typeface="Calibri"/>
                          <a:ea typeface="Calibri"/>
                          <a:cs typeface="Times New Roman"/>
                        </a:rPr>
                        <a:t> de </a:t>
                      </a:r>
                      <a:r>
                        <a:rPr lang="en-US" sz="1200" dirty="0" err="1">
                          <a:latin typeface="Calibri"/>
                          <a:ea typeface="Calibri"/>
                          <a:cs typeface="Times New Roman"/>
                        </a:rPr>
                        <a:t>funcţionare</a:t>
                      </a:r>
                      <a:r>
                        <a:rPr lang="en-US" sz="1200" dirty="0">
                          <a:latin typeface="Calibri"/>
                          <a:ea typeface="Calibri"/>
                          <a:cs typeface="Times New Roman"/>
                        </a:rPr>
                        <a:t>. </a:t>
                      </a:r>
                      <a:r>
                        <a:rPr lang="en-US" sz="1200" dirty="0" err="1">
                          <a:latin typeface="Calibri"/>
                          <a:ea typeface="Calibri"/>
                          <a:cs typeface="Times New Roman"/>
                        </a:rPr>
                        <a:t>Unele</a:t>
                      </a:r>
                      <a:r>
                        <a:rPr lang="en-US" sz="1200" dirty="0">
                          <a:latin typeface="Calibri"/>
                          <a:ea typeface="Calibri"/>
                          <a:cs typeface="Times New Roman"/>
                        </a:rPr>
                        <a:t> </a:t>
                      </a:r>
                      <a:r>
                        <a:rPr lang="en-US" sz="1200" dirty="0" err="1">
                          <a:latin typeface="Calibri"/>
                          <a:ea typeface="Calibri"/>
                          <a:cs typeface="Times New Roman"/>
                        </a:rPr>
                        <a:t>aparate</a:t>
                      </a:r>
                      <a:r>
                        <a:rPr lang="en-US" sz="1200" dirty="0">
                          <a:latin typeface="Calibri"/>
                          <a:ea typeface="Calibri"/>
                          <a:cs typeface="Times New Roman"/>
                        </a:rPr>
                        <a:t> </a:t>
                      </a:r>
                      <a:r>
                        <a:rPr lang="en-US" sz="1200" dirty="0" err="1">
                          <a:latin typeface="Calibri"/>
                          <a:ea typeface="Calibri"/>
                          <a:cs typeface="Times New Roman"/>
                        </a:rPr>
                        <a:t>îşi</a:t>
                      </a:r>
                      <a:r>
                        <a:rPr lang="en-US" sz="1200" dirty="0">
                          <a:latin typeface="Calibri"/>
                          <a:ea typeface="Calibri"/>
                          <a:cs typeface="Times New Roman"/>
                        </a:rPr>
                        <a:t> </a:t>
                      </a:r>
                      <a:r>
                        <a:rPr lang="en-US" sz="1200" dirty="0" err="1">
                          <a:latin typeface="Calibri"/>
                          <a:ea typeface="Calibri"/>
                          <a:cs typeface="Times New Roman"/>
                        </a:rPr>
                        <a:t>întrerup</a:t>
                      </a:r>
                      <a:r>
                        <a:rPr lang="en-US" sz="1200" dirty="0">
                          <a:latin typeface="Calibri"/>
                          <a:ea typeface="Calibri"/>
                          <a:cs typeface="Times New Roman"/>
                        </a:rPr>
                        <a:t> automat </a:t>
                      </a:r>
                      <a:r>
                        <a:rPr lang="en-US" sz="1200" dirty="0" err="1">
                          <a:latin typeface="Calibri"/>
                          <a:ea typeface="Calibri"/>
                          <a:cs typeface="Times New Roman"/>
                        </a:rPr>
                        <a:t>alimentarea</a:t>
                      </a:r>
                      <a:r>
                        <a:rPr lang="en-US" sz="1200" dirty="0">
                          <a:latin typeface="Calibri"/>
                          <a:ea typeface="Calibri"/>
                          <a:cs typeface="Times New Roman"/>
                        </a:rPr>
                        <a:t>, </a:t>
                      </a:r>
                      <a:r>
                        <a:rPr lang="en-US" sz="1200" dirty="0" err="1">
                          <a:latin typeface="Calibri"/>
                          <a:ea typeface="Calibri"/>
                          <a:cs typeface="Times New Roman"/>
                        </a:rPr>
                        <a:t>dacă</a:t>
                      </a:r>
                      <a:r>
                        <a:rPr lang="en-US" sz="1200" dirty="0">
                          <a:latin typeface="Calibri"/>
                          <a:ea typeface="Calibri"/>
                          <a:cs typeface="Times New Roman"/>
                        </a:rPr>
                        <a:t> nu </a:t>
                      </a:r>
                      <a:r>
                        <a:rPr lang="en-US" sz="1200" dirty="0" err="1">
                          <a:latin typeface="Calibri"/>
                          <a:ea typeface="Calibri"/>
                          <a:cs typeface="Times New Roman"/>
                        </a:rPr>
                        <a:t>măsoară</a:t>
                      </a:r>
                      <a:r>
                        <a:rPr lang="en-US" sz="1200" dirty="0">
                          <a:latin typeface="Calibri"/>
                          <a:ea typeface="Calibri"/>
                          <a:cs typeface="Times New Roman"/>
                        </a:rPr>
                        <a:t> un </a:t>
                      </a:r>
                      <a:r>
                        <a:rPr lang="en-US" sz="1200" dirty="0" err="1">
                          <a:latin typeface="Calibri"/>
                          <a:ea typeface="Calibri"/>
                          <a:cs typeface="Times New Roman"/>
                        </a:rPr>
                        <a:t>timp</a:t>
                      </a:r>
                      <a:r>
                        <a:rPr lang="en-US" sz="1200" dirty="0">
                          <a:latin typeface="Calibri"/>
                          <a:ea typeface="Calibri"/>
                          <a:cs typeface="Times New Roman"/>
                        </a:rPr>
                        <a:t>.</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38200" y="533400"/>
            <a:ext cx="7543800" cy="369332"/>
          </a:xfrm>
          <a:prstGeom prst="rect">
            <a:avLst/>
          </a:prstGeom>
          <a:noFill/>
        </p:spPr>
        <p:txBody>
          <a:bodyPr wrap="square" rtlCol="0">
            <a:spAutoFit/>
          </a:bodyPr>
          <a:lstStyle/>
          <a:p>
            <a:endParaRPr lang="en-US" dirty="0"/>
          </a:p>
        </p:txBody>
      </p:sp>
      <p:sp>
        <p:nvSpPr>
          <p:cNvPr id="6" name="Title 5"/>
          <p:cNvSpPr>
            <a:spLocks noGrp="1"/>
          </p:cNvSpPr>
          <p:nvPr>
            <p:ph type="title"/>
          </p:nvPr>
        </p:nvSpPr>
        <p:spPr>
          <a:xfrm>
            <a:off x="990600" y="457200"/>
            <a:ext cx="7696200" cy="685800"/>
          </a:xfrm>
        </p:spPr>
        <p:txBody>
          <a:bodyPr>
            <a:noAutofit/>
          </a:bodyPr>
          <a:lstStyle/>
          <a:p>
            <a:r>
              <a:rPr lang="ro-RO" sz="2400" dirty="0" smtClean="0">
                <a:solidFill>
                  <a:schemeClr val="accent2">
                    <a:lumMod val="75000"/>
                  </a:schemeClr>
                </a:solidFill>
              </a:rPr>
              <a:t>Reguli de exploatare a multimetrului:</a:t>
            </a:r>
            <a:r>
              <a:rPr lang="en-US" sz="2400" dirty="0" smtClean="0">
                <a:solidFill>
                  <a:schemeClr val="accent2">
                    <a:lumMod val="75000"/>
                  </a:schemeClr>
                </a:solidFill>
              </a:rPr>
              <a:t/>
            </a:r>
            <a:br>
              <a:rPr lang="en-US" sz="2400" dirty="0" smtClean="0">
                <a:solidFill>
                  <a:schemeClr val="accent2">
                    <a:lumMod val="75000"/>
                  </a:schemeClr>
                </a:solidFill>
              </a:rPr>
            </a:br>
            <a:endParaRPr lang="en-US" sz="2400" dirty="0">
              <a:solidFill>
                <a:schemeClr val="accent2">
                  <a:lumMod val="75000"/>
                </a:schemeClr>
              </a:solidFill>
            </a:endParaRPr>
          </a:p>
        </p:txBody>
      </p:sp>
      <p:sp>
        <p:nvSpPr>
          <p:cNvPr id="7" name="Content Placeholder 6"/>
          <p:cNvSpPr>
            <a:spLocks noGrp="1"/>
          </p:cNvSpPr>
          <p:nvPr>
            <p:ph idx="1"/>
          </p:nvPr>
        </p:nvSpPr>
        <p:spPr/>
        <p:txBody>
          <a:bodyPr>
            <a:normAutofit fontScale="70000" lnSpcReduction="20000"/>
          </a:bodyPr>
          <a:lstStyle/>
          <a:p>
            <a:pPr lvl="0" algn="just"/>
            <a:r>
              <a:rPr lang="ro-RO" dirty="0" smtClean="0"/>
              <a:t>Vecinătatea locului de măsurare să fie lipsită de prezenţa câmpurilor magnetice puternice şi a materialelor feromagnetice.</a:t>
            </a:r>
            <a:endParaRPr lang="en-US" dirty="0" smtClean="0"/>
          </a:p>
          <a:p>
            <a:pPr lvl="0" algn="just"/>
            <a:r>
              <a:rPr lang="ro-RO" dirty="0" smtClean="0"/>
              <a:t>Temperatura ambiantă, poziţia de funcţionare, frecv</a:t>
            </a:r>
            <a:r>
              <a:rPr lang="en-US" dirty="0" smtClean="0"/>
              <a:t>en</a:t>
            </a:r>
            <a:r>
              <a:rPr lang="ro-RO" dirty="0" smtClean="0"/>
              <a:t>ţa de lucru să aibă valoarea specificată.</a:t>
            </a:r>
            <a:endParaRPr lang="en-US" dirty="0" smtClean="0"/>
          </a:p>
          <a:p>
            <a:pPr lvl="0" algn="just"/>
            <a:r>
              <a:rPr lang="ro-RO" dirty="0" smtClean="0"/>
              <a:t>Comutatorul nu trebuie manevrat în timpul măsurării tensiunilor înalte sau a curenţilor mari – pericol de arc electric.</a:t>
            </a:r>
            <a:endParaRPr lang="en-US" dirty="0" smtClean="0"/>
          </a:p>
          <a:p>
            <a:pPr lvl="0" algn="just"/>
            <a:r>
              <a:rPr lang="ro-RO" dirty="0" smtClean="0"/>
              <a:t>Nu se admite legarea directă a multimetrului la bornele unei surse de putere.</a:t>
            </a:r>
            <a:endParaRPr lang="en-US" dirty="0" smtClean="0"/>
          </a:p>
          <a:p>
            <a:pPr lvl="0" algn="just"/>
            <a:r>
              <a:rPr lang="ro-RO" dirty="0" smtClean="0"/>
              <a:t>La măsurarea rezistenţei capacităţile din circuit trebuie să fie descărcate înainte de măsurare.</a:t>
            </a:r>
            <a:endParaRPr lang="en-US" dirty="0" smtClean="0"/>
          </a:p>
          <a:p>
            <a:pPr lvl="0" algn="just"/>
            <a:r>
              <a:rPr lang="ro-RO" dirty="0" smtClean="0"/>
              <a:t>Multimetrul se păstrează în stare uscată, cu accesorii ferite de deteriorări.</a:t>
            </a:r>
            <a:endParaRPr lang="en-US" dirty="0" smtClean="0"/>
          </a:p>
          <a:p>
            <a:pPr algn="just">
              <a:buNone/>
            </a:pPr>
            <a:r>
              <a:rPr lang="ro-RO" dirty="0" smtClean="0"/>
              <a:t> </a:t>
            </a:r>
            <a:endParaRPr lang="en-US" dirty="0" smtClean="0"/>
          </a:p>
          <a:p>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660</TotalTime>
  <Words>1005</Words>
  <Application>Microsoft Office PowerPoint</Application>
  <PresentationFormat>On-screen Show (4:3)</PresentationFormat>
  <Paragraphs>150</Paragraphs>
  <Slides>16</Slides>
  <Notes>4</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Multimetre analogice și numerice</vt:lpstr>
      <vt:lpstr>PowerPoint Presentation</vt:lpstr>
      <vt:lpstr>PowerPoint Presentation</vt:lpstr>
      <vt:lpstr>În funcţie de indicaţia la ieşire, multimetrele pot fi: </vt:lpstr>
      <vt:lpstr>Multimetrele analogice  </vt:lpstr>
      <vt:lpstr> Selectarea mărimii şi domeniului de măsurare se face cu ajutorul unui comutator de funţii  Prin intermediul unor rezistenţe adiţionale şi unor şunturi (montate în serie, respectiv paralel), aparatul poate măsura mărimi electrice conform tabelului.  </vt:lpstr>
      <vt:lpstr>Comutatorul de funcţii</vt:lpstr>
      <vt:lpstr>Algoritmul de  măsurare cu multimetrul analogic </vt:lpstr>
      <vt:lpstr>Algoritmul de  măsurare cu multimetrul analogic - 3 </vt:lpstr>
      <vt:lpstr>Algoritmul de  măsurare cu multimetrul analogic - 4</vt:lpstr>
      <vt:lpstr>Algoritmul de  măsurare cu multimetrul analogic - 5</vt:lpstr>
      <vt:lpstr>Algoritmul de  măsurare cu multimetrul analogic - 5</vt:lpstr>
      <vt:lpstr>Multimetrele digitale </vt:lpstr>
      <vt:lpstr>Algoritmul de  măsurare cu multimetrul digital </vt:lpstr>
      <vt:lpstr>Tabel comparativ multimetre analogice şi digitale</vt:lpstr>
      <vt:lpstr>Reguli de exploatare a multimetrului: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Măsurarea mărimilor electrice cu ajutorul multimetrului</dc:title>
  <dc:creator>Marta</dc:creator>
  <cp:lastModifiedBy>Abc</cp:lastModifiedBy>
  <cp:revision>77</cp:revision>
  <dcterms:created xsi:type="dcterms:W3CDTF">2018-05-12T15:31:47Z</dcterms:created>
  <dcterms:modified xsi:type="dcterms:W3CDTF">2020-04-27T16:15:40Z</dcterms:modified>
</cp:coreProperties>
</file>